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sldIdLst>
    <p:sldId id="256" r:id="rId2"/>
    <p:sldId id="257" r:id="rId3"/>
    <p:sldId id="258" r:id="rId4"/>
    <p:sldId id="259" r:id="rId5"/>
    <p:sldId id="275" r:id="rId6"/>
    <p:sldId id="276" r:id="rId7"/>
    <p:sldId id="336" r:id="rId8"/>
    <p:sldId id="277" r:id="rId9"/>
    <p:sldId id="264" r:id="rId10"/>
    <p:sldId id="265" r:id="rId11"/>
    <p:sldId id="283" r:id="rId12"/>
    <p:sldId id="284" r:id="rId13"/>
    <p:sldId id="268" r:id="rId14"/>
    <p:sldId id="269" r:id="rId15"/>
    <p:sldId id="270" r:id="rId16"/>
    <p:sldId id="271" r:id="rId17"/>
    <p:sldId id="337" r:id="rId18"/>
    <p:sldId id="338" r:id="rId19"/>
    <p:sldId id="352" r:id="rId20"/>
  </p:sldIdLst>
  <p:sldSz cx="13825538" cy="10369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6" autoAdjust="0"/>
    <p:restoredTop sz="94660"/>
  </p:normalViewPr>
  <p:slideViewPr>
    <p:cSldViewPr snapToGrid="0">
      <p:cViewPr varScale="1">
        <p:scale>
          <a:sx n="85" d="100"/>
          <a:sy n="85" d="100"/>
        </p:scale>
        <p:origin x="1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6916" y="1697054"/>
            <a:ext cx="11751707" cy="3610140"/>
          </a:xfrm>
        </p:spPr>
        <p:txBody>
          <a:bodyPr anchor="b"/>
          <a:lstStyle>
            <a:lvl1pPr algn="ctr">
              <a:defRPr sz="90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8192" y="5446415"/>
            <a:ext cx="10369154" cy="2503573"/>
          </a:xfrm>
        </p:spPr>
        <p:txBody>
          <a:bodyPr/>
          <a:lstStyle>
            <a:lvl1pPr marL="0" indent="0" algn="ctr">
              <a:buNone/>
              <a:defRPr sz="3629"/>
            </a:lvl1pPr>
            <a:lvl2pPr marL="691286" indent="0" algn="ctr">
              <a:buNone/>
              <a:defRPr sz="3024"/>
            </a:lvl2pPr>
            <a:lvl3pPr marL="1382573" indent="0" algn="ctr">
              <a:buNone/>
              <a:defRPr sz="2722"/>
            </a:lvl3pPr>
            <a:lvl4pPr marL="2073859" indent="0" algn="ctr">
              <a:buNone/>
              <a:defRPr sz="2419"/>
            </a:lvl4pPr>
            <a:lvl5pPr marL="2765146" indent="0" algn="ctr">
              <a:buNone/>
              <a:defRPr sz="2419"/>
            </a:lvl5pPr>
            <a:lvl6pPr marL="3456432" indent="0" algn="ctr">
              <a:buNone/>
              <a:defRPr sz="2419"/>
            </a:lvl6pPr>
            <a:lvl7pPr marL="4147718" indent="0" algn="ctr">
              <a:buNone/>
              <a:defRPr sz="2419"/>
            </a:lvl7pPr>
            <a:lvl8pPr marL="4839005" indent="0" algn="ctr">
              <a:buNone/>
              <a:defRPr sz="2419"/>
            </a:lvl8pPr>
            <a:lvl9pPr marL="5530291" indent="0" algn="ctr">
              <a:buNone/>
              <a:defRPr sz="241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676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349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3305" y="2585189"/>
            <a:ext cx="11924527" cy="4313444"/>
          </a:xfrm>
        </p:spPr>
        <p:txBody>
          <a:bodyPr anchor="b"/>
          <a:lstStyle>
            <a:lvl1pPr>
              <a:defRPr sz="907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3305" y="6939440"/>
            <a:ext cx="11924527" cy="2268338"/>
          </a:xfrm>
        </p:spPr>
        <p:txBody>
          <a:bodyPr/>
          <a:lstStyle>
            <a:lvl1pPr marL="0" indent="0">
              <a:buNone/>
              <a:defRPr sz="3629">
                <a:solidFill>
                  <a:schemeClr val="tx1"/>
                </a:solidFill>
              </a:defRPr>
            </a:lvl1pPr>
            <a:lvl2pPr marL="691286" indent="0">
              <a:buNone/>
              <a:defRPr sz="3024">
                <a:solidFill>
                  <a:schemeClr val="tx1">
                    <a:tint val="75000"/>
                  </a:schemeClr>
                </a:solidFill>
              </a:defRPr>
            </a:lvl2pPr>
            <a:lvl3pPr marL="1382573" indent="0">
              <a:buNone/>
              <a:defRPr sz="2722">
                <a:solidFill>
                  <a:schemeClr val="tx1">
                    <a:tint val="75000"/>
                  </a:schemeClr>
                </a:solidFill>
              </a:defRPr>
            </a:lvl3pPr>
            <a:lvl4pPr marL="2073859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4pPr>
            <a:lvl5pPr marL="2765146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5pPr>
            <a:lvl6pPr marL="3456432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6pPr>
            <a:lvl7pPr marL="4147718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7pPr>
            <a:lvl8pPr marL="4839005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8pPr>
            <a:lvl9pPr marL="5530291" indent="0">
              <a:buNone/>
              <a:defRPr sz="241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164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0506" y="2760413"/>
            <a:ext cx="5875854" cy="65793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99178" y="2760413"/>
            <a:ext cx="5875854" cy="65793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040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306" y="552085"/>
            <a:ext cx="11924527" cy="20043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308" y="2541981"/>
            <a:ext cx="5848850" cy="1245785"/>
          </a:xfrm>
        </p:spPr>
        <p:txBody>
          <a:bodyPr anchor="b"/>
          <a:lstStyle>
            <a:lvl1pPr marL="0" indent="0">
              <a:buNone/>
              <a:defRPr sz="3629" b="1"/>
            </a:lvl1pPr>
            <a:lvl2pPr marL="691286" indent="0">
              <a:buNone/>
              <a:defRPr sz="3024" b="1"/>
            </a:lvl2pPr>
            <a:lvl3pPr marL="1382573" indent="0">
              <a:buNone/>
              <a:defRPr sz="2722" b="1"/>
            </a:lvl3pPr>
            <a:lvl4pPr marL="2073859" indent="0">
              <a:buNone/>
              <a:defRPr sz="2419" b="1"/>
            </a:lvl4pPr>
            <a:lvl5pPr marL="2765146" indent="0">
              <a:buNone/>
              <a:defRPr sz="2419" b="1"/>
            </a:lvl5pPr>
            <a:lvl6pPr marL="3456432" indent="0">
              <a:buNone/>
              <a:defRPr sz="2419" b="1"/>
            </a:lvl6pPr>
            <a:lvl7pPr marL="4147718" indent="0">
              <a:buNone/>
              <a:defRPr sz="2419" b="1"/>
            </a:lvl7pPr>
            <a:lvl8pPr marL="4839005" indent="0">
              <a:buNone/>
              <a:defRPr sz="2419" b="1"/>
            </a:lvl8pPr>
            <a:lvl9pPr marL="5530291" indent="0">
              <a:buNone/>
              <a:defRPr sz="241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2308" y="3787766"/>
            <a:ext cx="5848850" cy="5571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99180" y="2541981"/>
            <a:ext cx="5877654" cy="1245785"/>
          </a:xfrm>
        </p:spPr>
        <p:txBody>
          <a:bodyPr anchor="b"/>
          <a:lstStyle>
            <a:lvl1pPr marL="0" indent="0">
              <a:buNone/>
              <a:defRPr sz="3629" b="1"/>
            </a:lvl1pPr>
            <a:lvl2pPr marL="691286" indent="0">
              <a:buNone/>
              <a:defRPr sz="3024" b="1"/>
            </a:lvl2pPr>
            <a:lvl3pPr marL="1382573" indent="0">
              <a:buNone/>
              <a:defRPr sz="2722" b="1"/>
            </a:lvl3pPr>
            <a:lvl4pPr marL="2073859" indent="0">
              <a:buNone/>
              <a:defRPr sz="2419" b="1"/>
            </a:lvl4pPr>
            <a:lvl5pPr marL="2765146" indent="0">
              <a:buNone/>
              <a:defRPr sz="2419" b="1"/>
            </a:lvl5pPr>
            <a:lvl6pPr marL="3456432" indent="0">
              <a:buNone/>
              <a:defRPr sz="2419" b="1"/>
            </a:lvl6pPr>
            <a:lvl7pPr marL="4147718" indent="0">
              <a:buNone/>
              <a:defRPr sz="2419" b="1"/>
            </a:lvl7pPr>
            <a:lvl8pPr marL="4839005" indent="0">
              <a:buNone/>
              <a:defRPr sz="2419" b="1"/>
            </a:lvl8pPr>
            <a:lvl9pPr marL="5530291" indent="0">
              <a:buNone/>
              <a:defRPr sz="241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99180" y="3787766"/>
            <a:ext cx="5877654" cy="55712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280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245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434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306" y="691303"/>
            <a:ext cx="4459096" cy="2419562"/>
          </a:xfrm>
        </p:spPr>
        <p:txBody>
          <a:bodyPr anchor="b"/>
          <a:lstStyle>
            <a:lvl1pPr>
              <a:defRPr sz="48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77654" y="1493025"/>
            <a:ext cx="6999179" cy="7369102"/>
          </a:xfrm>
        </p:spPr>
        <p:txBody>
          <a:bodyPr/>
          <a:lstStyle>
            <a:lvl1pPr>
              <a:defRPr sz="4838"/>
            </a:lvl1pPr>
            <a:lvl2pPr>
              <a:defRPr sz="4234"/>
            </a:lvl2pPr>
            <a:lvl3pPr>
              <a:defRPr sz="3629"/>
            </a:lvl3pPr>
            <a:lvl4pPr>
              <a:defRPr sz="3024"/>
            </a:lvl4pPr>
            <a:lvl5pPr>
              <a:defRPr sz="3024"/>
            </a:lvl5pPr>
            <a:lvl6pPr>
              <a:defRPr sz="3024"/>
            </a:lvl6pPr>
            <a:lvl7pPr>
              <a:defRPr sz="3024"/>
            </a:lvl7pPr>
            <a:lvl8pPr>
              <a:defRPr sz="3024"/>
            </a:lvl8pPr>
            <a:lvl9pPr>
              <a:defRPr sz="30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306" y="3110865"/>
            <a:ext cx="4459096" cy="5763262"/>
          </a:xfrm>
        </p:spPr>
        <p:txBody>
          <a:bodyPr/>
          <a:lstStyle>
            <a:lvl1pPr marL="0" indent="0">
              <a:buNone/>
              <a:defRPr sz="2419"/>
            </a:lvl1pPr>
            <a:lvl2pPr marL="691286" indent="0">
              <a:buNone/>
              <a:defRPr sz="2117"/>
            </a:lvl2pPr>
            <a:lvl3pPr marL="1382573" indent="0">
              <a:buNone/>
              <a:defRPr sz="1814"/>
            </a:lvl3pPr>
            <a:lvl4pPr marL="2073859" indent="0">
              <a:buNone/>
              <a:defRPr sz="1512"/>
            </a:lvl4pPr>
            <a:lvl5pPr marL="2765146" indent="0">
              <a:buNone/>
              <a:defRPr sz="1512"/>
            </a:lvl5pPr>
            <a:lvl6pPr marL="3456432" indent="0">
              <a:buNone/>
              <a:defRPr sz="1512"/>
            </a:lvl6pPr>
            <a:lvl7pPr marL="4147718" indent="0">
              <a:buNone/>
              <a:defRPr sz="1512"/>
            </a:lvl7pPr>
            <a:lvl8pPr marL="4839005" indent="0">
              <a:buNone/>
              <a:defRPr sz="1512"/>
            </a:lvl8pPr>
            <a:lvl9pPr marL="5530291" indent="0">
              <a:buNone/>
              <a:defRPr sz="15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01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306" y="691303"/>
            <a:ext cx="4459096" cy="2419562"/>
          </a:xfrm>
        </p:spPr>
        <p:txBody>
          <a:bodyPr anchor="b"/>
          <a:lstStyle>
            <a:lvl1pPr>
              <a:defRPr sz="48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77654" y="1493025"/>
            <a:ext cx="6999179" cy="7369102"/>
          </a:xfrm>
        </p:spPr>
        <p:txBody>
          <a:bodyPr anchor="t"/>
          <a:lstStyle>
            <a:lvl1pPr marL="0" indent="0">
              <a:buNone/>
              <a:defRPr sz="4838"/>
            </a:lvl1pPr>
            <a:lvl2pPr marL="691286" indent="0">
              <a:buNone/>
              <a:defRPr sz="4234"/>
            </a:lvl2pPr>
            <a:lvl3pPr marL="1382573" indent="0">
              <a:buNone/>
              <a:defRPr sz="3629"/>
            </a:lvl3pPr>
            <a:lvl4pPr marL="2073859" indent="0">
              <a:buNone/>
              <a:defRPr sz="3024"/>
            </a:lvl4pPr>
            <a:lvl5pPr marL="2765146" indent="0">
              <a:buNone/>
              <a:defRPr sz="3024"/>
            </a:lvl5pPr>
            <a:lvl6pPr marL="3456432" indent="0">
              <a:buNone/>
              <a:defRPr sz="3024"/>
            </a:lvl6pPr>
            <a:lvl7pPr marL="4147718" indent="0">
              <a:buNone/>
              <a:defRPr sz="3024"/>
            </a:lvl7pPr>
            <a:lvl8pPr marL="4839005" indent="0">
              <a:buNone/>
              <a:defRPr sz="3024"/>
            </a:lvl8pPr>
            <a:lvl9pPr marL="5530291" indent="0">
              <a:buNone/>
              <a:defRPr sz="302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2306" y="3110865"/>
            <a:ext cx="4459096" cy="5763262"/>
          </a:xfrm>
        </p:spPr>
        <p:txBody>
          <a:bodyPr/>
          <a:lstStyle>
            <a:lvl1pPr marL="0" indent="0">
              <a:buNone/>
              <a:defRPr sz="2419"/>
            </a:lvl1pPr>
            <a:lvl2pPr marL="691286" indent="0">
              <a:buNone/>
              <a:defRPr sz="2117"/>
            </a:lvl2pPr>
            <a:lvl3pPr marL="1382573" indent="0">
              <a:buNone/>
              <a:defRPr sz="1814"/>
            </a:lvl3pPr>
            <a:lvl4pPr marL="2073859" indent="0">
              <a:buNone/>
              <a:defRPr sz="1512"/>
            </a:lvl4pPr>
            <a:lvl5pPr marL="2765146" indent="0">
              <a:buNone/>
              <a:defRPr sz="1512"/>
            </a:lvl5pPr>
            <a:lvl6pPr marL="3456432" indent="0">
              <a:buNone/>
              <a:defRPr sz="1512"/>
            </a:lvl6pPr>
            <a:lvl7pPr marL="4147718" indent="0">
              <a:buNone/>
              <a:defRPr sz="1512"/>
            </a:lvl7pPr>
            <a:lvl8pPr marL="4839005" indent="0">
              <a:buNone/>
              <a:defRPr sz="1512"/>
            </a:lvl8pPr>
            <a:lvl9pPr marL="5530291" indent="0">
              <a:buNone/>
              <a:defRPr sz="15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521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181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93901" y="552083"/>
            <a:ext cx="2981132" cy="87877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0506" y="552083"/>
            <a:ext cx="8770576" cy="87877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752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451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0506" y="552085"/>
            <a:ext cx="11924527" cy="20043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0506" y="2760413"/>
            <a:ext cx="11924527" cy="6579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0506" y="9611039"/>
            <a:ext cx="3110746" cy="552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9710" y="9611039"/>
            <a:ext cx="4666119" cy="552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64286" y="9611039"/>
            <a:ext cx="3110746" cy="552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99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1382573" rtl="0" eaLnBrk="1" latinLnBrk="0" hangingPunct="1">
        <a:lnSpc>
          <a:spcPct val="90000"/>
        </a:lnSpc>
        <a:spcBef>
          <a:spcPct val="0"/>
        </a:spcBef>
        <a:buNone/>
        <a:defRPr sz="66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5643" indent="-345643" algn="l" defTabSz="1382573" rtl="0" eaLnBrk="1" latinLnBrk="0" hangingPunct="1">
        <a:lnSpc>
          <a:spcPct val="90000"/>
        </a:lnSpc>
        <a:spcBef>
          <a:spcPts val="1512"/>
        </a:spcBef>
        <a:buFont typeface="Arial" panose="020B0604020202020204" pitchFamily="34" charset="0"/>
        <a:buChar char="•"/>
        <a:defRPr sz="4234" kern="1200">
          <a:solidFill>
            <a:schemeClr val="tx1"/>
          </a:solidFill>
          <a:latin typeface="+mn-lt"/>
          <a:ea typeface="+mn-ea"/>
          <a:cs typeface="+mn-cs"/>
        </a:defRPr>
      </a:lvl1pPr>
      <a:lvl2pPr marL="1036930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3629" kern="1200">
          <a:solidFill>
            <a:schemeClr val="tx1"/>
          </a:solidFill>
          <a:latin typeface="+mn-lt"/>
          <a:ea typeface="+mn-ea"/>
          <a:cs typeface="+mn-cs"/>
        </a:defRPr>
      </a:lvl2pPr>
      <a:lvl3pPr marL="1728216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3pPr>
      <a:lvl4pPr marL="2419502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4pPr>
      <a:lvl5pPr marL="3110789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5pPr>
      <a:lvl6pPr marL="3802075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6pPr>
      <a:lvl7pPr marL="4493362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7pPr>
      <a:lvl8pPr marL="5184648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8pPr>
      <a:lvl9pPr marL="5875934" indent="-345643" algn="l" defTabSz="1382573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7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1pPr>
      <a:lvl2pPr marL="691286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2pPr>
      <a:lvl3pPr marL="1382573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3pPr>
      <a:lvl4pPr marL="2073859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4pPr>
      <a:lvl5pPr marL="2765146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5pPr>
      <a:lvl6pPr marL="3456432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6pPr>
      <a:lvl7pPr marL="4147718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7pPr>
      <a:lvl8pPr marL="4839005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8pPr>
      <a:lvl9pPr marL="5530291" algn="l" defTabSz="1382573" rtl="0" eaLnBrk="1" latinLnBrk="0" hangingPunct="1">
        <a:defRPr sz="27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0.emf"/><Relationship Id="rId5" Type="http://schemas.openxmlformats.org/officeDocument/2006/relationships/image" Target="../media/image5.png"/><Relationship Id="rId10" Type="http://schemas.openxmlformats.org/officeDocument/2006/relationships/package" Target="../embeddings/Microsoft_Word_Document.docx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1.docx"/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16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3.png"/><Relationship Id="rId4" Type="http://schemas.openxmlformats.org/officeDocument/2006/relationships/image" Target="../media/image58.png"/><Relationship Id="rId9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emf"/><Relationship Id="rId3" Type="http://schemas.openxmlformats.org/officeDocument/2006/relationships/image" Target="../media/image65.png"/><Relationship Id="rId7" Type="http://schemas.openxmlformats.org/officeDocument/2006/relationships/package" Target="../embeddings/Microsoft_Word_Document2.docx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8.png"/><Relationship Id="rId11" Type="http://schemas.openxmlformats.org/officeDocument/2006/relationships/image" Target="../media/image71.emf"/><Relationship Id="rId5" Type="http://schemas.openxmlformats.org/officeDocument/2006/relationships/image" Target="../media/image67.png"/><Relationship Id="rId10" Type="http://schemas.openxmlformats.org/officeDocument/2006/relationships/package" Target="../embeddings/Microsoft_Word_Document3.docx"/><Relationship Id="rId4" Type="http://schemas.openxmlformats.org/officeDocument/2006/relationships/image" Target="../media/image66.png"/><Relationship Id="rId9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emf"/><Relationship Id="rId3" Type="http://schemas.openxmlformats.org/officeDocument/2006/relationships/image" Target="../media/image73.png"/><Relationship Id="rId7" Type="http://schemas.openxmlformats.org/officeDocument/2006/relationships/package" Target="../embeddings/Microsoft_Word_Document4.docx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1.emf"/><Relationship Id="rId5" Type="http://schemas.openxmlformats.org/officeDocument/2006/relationships/package" Target="../embeddings/Microsoft_Word_Document5.docx"/><Relationship Id="rId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0.emf"/><Relationship Id="rId4" Type="http://schemas.openxmlformats.org/officeDocument/2006/relationships/image" Target="../media/image9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2.png"/><Relationship Id="rId7" Type="http://schemas.openxmlformats.org/officeDocument/2006/relationships/image" Target="../media/image106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2.emf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0" Type="http://schemas.openxmlformats.org/officeDocument/2006/relationships/image" Target="../media/image121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263230" y="2459232"/>
            <a:ext cx="13449948" cy="1588083"/>
            <a:chOff x="0" y="0"/>
            <a:chExt cx="4483316" cy="529361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483316" cy="529361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287014" y="146679"/>
              <a:ext cx="3911487" cy="2095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732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8100" eaLnBrk="0">
                <a:lnSpc>
                  <a:spcPct val="93000"/>
                </a:lnSpc>
              </a:pPr>
              <a:r>
                <a:rPr sz="4200" kern="0" dirty="0">
                  <a:solidFill>
                    <a:srgbClr val="CC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rPr>
                <a:t>Completely Randomized Experiments and FRT</a:t>
              </a:r>
              <a:endParaRPr sz="4200" dirty="0">
                <a:latin typeface="Arial" panose="020B0604020202020204" pitchFamily="34" charset="0"/>
                <a:ea typeface="Arial"/>
                <a:cs typeface="Arial" panose="020B0604020202020204" pitchFamily="34" charset="0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 rot="21600000">
              <a:off x="4432566" y="31519"/>
              <a:ext cx="0" cy="415292"/>
              <a:chOff x="0" y="0"/>
              <a:chExt cx="0" cy="415292"/>
            </a:xfrm>
          </p:grpSpPr>
          <p:sp>
            <p:nvSpPr>
              <p:cNvPr id="6" name="path 6"/>
              <p:cNvSpPr/>
              <p:nvPr/>
            </p:nvSpPr>
            <p:spPr>
              <a:xfrm>
                <a:off x="0" y="57150"/>
                <a:ext cx="0" cy="358142"/>
              </a:xfrm>
              <a:custGeom>
                <a:avLst/>
                <a:gdLst/>
                <a:ahLst/>
                <a:cxnLst/>
                <a:rect l="0" t="0" r="0" b="0"/>
                <a:pathLst>
                  <a:path h="564">
                    <a:moveTo>
                      <a:pt x="0" y="564"/>
                    </a:moveTo>
                    <a:lnTo>
                      <a:pt x="0" y="0"/>
                    </a:lnTo>
                  </a:path>
                </a:pathLst>
              </a:custGeom>
              <a:noFill/>
              <a:ln w="0" cap="flat">
                <a:solidFill>
                  <a:srgbClr val="80808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 sz="16200"/>
              </a:p>
            </p:txBody>
          </p:sp>
          <p:sp>
            <p:nvSpPr>
              <p:cNvPr id="8" name="path 8"/>
              <p:cNvSpPr/>
              <p:nvPr/>
            </p:nvSpPr>
            <p:spPr>
              <a:xfrm>
                <a:off x="0" y="44450"/>
                <a:ext cx="0" cy="12700"/>
              </a:xfrm>
              <a:custGeom>
                <a:avLst/>
                <a:gdLst/>
                <a:ahLst/>
                <a:cxnLst/>
                <a:rect l="0" t="0" r="0" b="0"/>
                <a:pathLst>
                  <a:path h="20">
                    <a:moveTo>
                      <a:pt x="0" y="20"/>
                    </a:moveTo>
                    <a:lnTo>
                      <a:pt x="0" y="0"/>
                    </a:lnTo>
                  </a:path>
                </a:pathLst>
              </a:custGeom>
              <a:noFill/>
              <a:ln w="0" cap="flat">
                <a:solidFill>
                  <a:srgbClr val="B0B0B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 sz="16200"/>
              </a:p>
            </p:txBody>
          </p:sp>
          <p:sp>
            <p:nvSpPr>
              <p:cNvPr id="10" name="path 10"/>
              <p:cNvSpPr/>
              <p:nvPr/>
            </p:nvSpPr>
            <p:spPr>
              <a:xfrm>
                <a:off x="0" y="31750"/>
                <a:ext cx="0" cy="12700"/>
              </a:xfrm>
              <a:custGeom>
                <a:avLst/>
                <a:gdLst/>
                <a:ahLst/>
                <a:cxnLst/>
                <a:rect l="0" t="0" r="0" b="0"/>
                <a:pathLst>
                  <a:path h="20">
                    <a:moveTo>
                      <a:pt x="0" y="20"/>
                    </a:moveTo>
                    <a:lnTo>
                      <a:pt x="0" y="0"/>
                    </a:lnTo>
                  </a:path>
                </a:pathLst>
              </a:custGeom>
              <a:noFill/>
              <a:ln w="0" cap="flat">
                <a:solidFill>
                  <a:srgbClr val="CFCFCF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 sz="16200"/>
              </a:p>
            </p:txBody>
          </p:sp>
          <p:sp>
            <p:nvSpPr>
              <p:cNvPr id="12" name="path 12"/>
              <p:cNvSpPr/>
              <p:nvPr/>
            </p:nvSpPr>
            <p:spPr>
              <a:xfrm>
                <a:off x="0" y="19050"/>
                <a:ext cx="0" cy="12700"/>
              </a:xfrm>
              <a:custGeom>
                <a:avLst/>
                <a:gdLst/>
                <a:ahLst/>
                <a:cxnLst/>
                <a:rect l="0" t="0" r="0" b="0"/>
                <a:pathLst>
                  <a:path h="20">
                    <a:moveTo>
                      <a:pt x="0" y="20"/>
                    </a:moveTo>
                    <a:lnTo>
                      <a:pt x="0" y="0"/>
                    </a:lnTo>
                  </a:path>
                </a:pathLst>
              </a:custGeom>
              <a:noFill/>
              <a:ln w="0" cap="flat">
                <a:solidFill>
                  <a:srgbClr val="F0F0F0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 sz="16200"/>
              </a:p>
            </p:txBody>
          </p:sp>
          <p:sp>
            <p:nvSpPr>
              <p:cNvPr id="14" name="path 14"/>
              <p:cNvSpPr/>
              <p:nvPr/>
            </p:nvSpPr>
            <p:spPr>
              <a:xfrm>
                <a:off x="0" y="0"/>
                <a:ext cx="0" cy="19050"/>
              </a:xfrm>
              <a:custGeom>
                <a:avLst/>
                <a:gdLst/>
                <a:ahLst/>
                <a:cxnLst/>
                <a:rect l="0" t="0" r="0" b="0"/>
                <a:pathLst>
                  <a:path h="30">
                    <a:moveTo>
                      <a:pt x="0" y="30"/>
                    </a:moveTo>
                    <a:lnTo>
                      <a:pt x="0" y="0"/>
                    </a:lnTo>
                  </a:path>
                </a:pathLst>
              </a:custGeom>
              <a:noFill/>
              <a:ln w="0" cap="flat">
                <a:solidFill>
                  <a:srgbClr val="FFFFFF"/>
                </a:solidFill>
                <a:prstDash val="solid"/>
                <a:miter lim="1000000"/>
              </a:ln>
            </p:spPr>
            <p:txBody>
              <a:bodyPr rtlCol="0"/>
              <a:lstStyle/>
              <a:p>
                <a:pPr algn="ctr"/>
                <a:endParaRPr lang="zh-CN" altLang="en-US" sz="16200"/>
              </a:p>
            </p:txBody>
          </p:sp>
        </p:grpSp>
      </p:grpSp>
      <p:sp>
        <p:nvSpPr>
          <p:cNvPr id="16" name="textbox 16"/>
          <p:cNvSpPr/>
          <p:nvPr/>
        </p:nvSpPr>
        <p:spPr>
          <a:xfrm>
            <a:off x="4925149" y="4623196"/>
            <a:ext cx="3989070" cy="25107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ctr" defTabSz="2743200" eaLnBrk="0">
              <a:lnSpc>
                <a:spcPct val="88000"/>
              </a:lnSpc>
              <a:defRPr/>
            </a:pPr>
            <a:r>
              <a:rPr lang="en" altLang="zh-CN" sz="3300" kern="0" dirty="0" err="1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Zhichao</a:t>
            </a:r>
            <a:r>
              <a:rPr lang="en" altLang="zh-CN" sz="33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Jiang</a:t>
            </a:r>
            <a:endParaRPr lang="en" altLang="zh-CN" sz="3300" dirty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 defTabSz="2743200" eaLnBrk="0">
              <a:lnSpc>
                <a:spcPct val="104000"/>
              </a:lnSpc>
              <a:defRPr/>
            </a:pPr>
            <a:endParaRPr lang="en" altLang="zh-CN" sz="3000" dirty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0" algn="ctr" defTabSz="2743200" eaLnBrk="0">
              <a:lnSpc>
                <a:spcPct val="92000"/>
              </a:lnSpc>
              <a:spcBef>
                <a:spcPts val="915"/>
              </a:spcBef>
              <a:defRPr/>
            </a:pPr>
            <a:r>
              <a:rPr lang="en" altLang="zh-CN" sz="30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Sun Yat-sen University</a:t>
            </a:r>
            <a:endParaRPr lang="en" altLang="zh-CN" sz="3000" dirty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 defTabSz="2743200" eaLnBrk="0">
              <a:lnSpc>
                <a:spcPct val="111000"/>
              </a:lnSpc>
              <a:defRPr/>
            </a:pPr>
            <a:endParaRPr lang="en" altLang="zh-CN" sz="3000" dirty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 defTabSz="2743200" eaLnBrk="0">
              <a:lnSpc>
                <a:spcPct val="126000"/>
              </a:lnSpc>
              <a:defRPr/>
            </a:pPr>
            <a:r>
              <a:rPr lang="en" altLang="zh-CN" sz="3000" kern="0" dirty="0">
                <a:solidFill>
                  <a:srgbClr val="00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Spring 2026</a:t>
            </a:r>
          </a:p>
        </p:txBody>
      </p:sp>
      <p:sp>
        <p:nvSpPr>
          <p:cNvPr id="18" name="textbox 18"/>
          <p:cNvSpPr/>
          <p:nvPr/>
        </p:nvSpPr>
        <p:spPr>
          <a:xfrm>
            <a:off x="13000215" y="10024524"/>
            <a:ext cx="621027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19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20"/>
              <p:cNvSpPr/>
              <p:nvPr/>
            </p:nvSpPr>
            <p:spPr>
              <a:xfrm>
                <a:off x="805170" y="2130810"/>
                <a:ext cx="12163425" cy="672655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2007" rIns="0" bIns="0"/>
              <a:lstStyle/>
              <a:p>
                <a:pPr marL="232410" eaLnBrk="0">
                  <a:lnSpc>
                    <a:spcPct val="124000"/>
                  </a:lnSpc>
                  <a:spcBef>
                    <a:spcPts val="15"/>
                  </a:spcBef>
                  <a:tabLst>
                    <a:tab pos="459105" algn="l"/>
                    <a:tab pos="470535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	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(1),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(0),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are </a:t>
                </a:r>
                <a:r>
                  <a:rPr sz="30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i.i.d.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sampled from a super population     	Super population ACE: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(1)−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(0)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38000"/>
                  </a:lnSpc>
                  <a:tabLst/>
                </a:pP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912"/>
                  </a:spcBef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Intuitive estimation: difference in means</a:t>
                </a:r>
              </a:p>
              <a:p>
                <a:pPr marL="3640455" eaLnBrk="0">
                  <a:lnSpc>
                    <a:spcPts val="10491"/>
                  </a:lnSpc>
                  <a:spcBef>
                    <a:spcPts val="2340"/>
                  </a:spcBef>
                  <a:tabLst>
                    <a:tab pos="9406890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064895" eaLnBrk="0">
                  <a:lnSpc>
                    <a:spcPts val="3585"/>
                  </a:lnSpc>
                  <a:spcBef>
                    <a:spcPts val="981"/>
                  </a:spcBef>
                  <a:tabLst>
                    <a:tab pos="1303020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en" altLang="zh-CN" sz="2700" dirty="0">
                    <a:latin typeface="Arial" panose="020B0604020202020204" pitchFamily="34" charset="0"/>
                    <a:cs typeface="Arial" panose="020B0604020202020204" pitchFamily="34" charset="0"/>
                  </a:rPr>
                  <a:t>: number of units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zh-CN" altLang="zh-CN" sz="2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064895" eaLnBrk="0">
                  <a:lnSpc>
                    <a:spcPts val="3318"/>
                  </a:lnSpc>
                  <a:tabLst>
                    <a:tab pos="1285875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converges to 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zh-CN" altLang="zh-CN" sz="2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"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064895" eaLnBrk="0">
                  <a:lnSpc>
                    <a:spcPts val="3318"/>
                  </a:lnSpc>
                  <a:spcBef>
                    <a:spcPts val="267"/>
                  </a:spcBef>
                  <a:tabLst>
                    <a:tab pos="1285875" algn="l"/>
                  </a:tabLst>
                </a:pPr>
                <a:r>
                  <a:rPr lang="e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consistent for ACE only if 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)∣</m:t>
                        </m:r>
                        <m:sSub>
                          <m:sSubPr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)∣</m:t>
                        </m:r>
                        <m:sSub>
                          <m:sSubPr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zh-CN" altLang="zh-CN" sz="2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"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58000"/>
                  </a:lnSpc>
                  <a:tabLst/>
                </a:pP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31000"/>
                  </a:lnSpc>
                  <a:tabLst/>
                </a:pPr>
                <a:endParaRPr sz="6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spcBef>
                    <a:spcPts val="3"/>
                  </a:spcBef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Randomize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to guarantee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)∣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)∣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zh-CN" altLang="zh-CN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" name="textbox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70" y="2130810"/>
                <a:ext cx="12163425" cy="6726555"/>
              </a:xfrm>
              <a:prstGeom prst="rect">
                <a:avLst/>
              </a:prstGeom>
              <a:blipFill>
                <a:blip r:embed="rId2"/>
                <a:stretch>
                  <a:fillRect t="-1132" b="-2642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3270" y="8474919"/>
            <a:ext cx="195795" cy="195795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2598" y="7221558"/>
            <a:ext cx="157755" cy="15775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12598" y="6766077"/>
            <a:ext cx="157755" cy="157755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12598" y="6310596"/>
            <a:ext cx="157755" cy="157755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3270" y="4126572"/>
            <a:ext cx="195795" cy="195795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3270" y="2892054"/>
            <a:ext cx="195795" cy="195795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43270" y="2319102"/>
            <a:ext cx="195795" cy="195795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3" y="793"/>
            <a:ext cx="13824585" cy="105156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2100" dirty="0">
              <a:latin typeface="Arial"/>
              <a:ea typeface="Arial"/>
              <a:cs typeface="Arial"/>
            </a:endParaRPr>
          </a:p>
          <a:p>
            <a:pPr marL="373380" eaLnBrk="0">
              <a:lnSpc>
                <a:spcPct val="86000"/>
              </a:lnSpc>
              <a:spcBef>
                <a:spcPts val="18"/>
              </a:spcBef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Randomized experiments: super popula</a:t>
            </a:r>
            <a:r>
              <a:rPr lang="en-US" altLang="zh-CN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tion</a:t>
            </a: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framework</a:t>
            </a:r>
            <a:endParaRPr sz="42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12989287" y="10024524"/>
            <a:ext cx="630552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19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770A6D1-D416-5636-F3D1-8866392C4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765608"/>
              </p:ext>
            </p:extLst>
          </p:nvPr>
        </p:nvGraphicFramePr>
        <p:xfrm>
          <a:off x="56284" y="4636642"/>
          <a:ext cx="13712016" cy="133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5486400" imgH="533400" progId="Word.Document.12">
                  <p:embed/>
                </p:oleObj>
              </mc:Choice>
              <mc:Fallback>
                <p:oleObj name="文档" r:id="rId10" imgW="5486400" imgH="5334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6284" y="4636642"/>
                        <a:ext cx="13712016" cy="133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2"/>
              <p:cNvSpPr/>
              <p:nvPr/>
            </p:nvSpPr>
            <p:spPr>
              <a:xfrm>
                <a:off x="805170" y="2267779"/>
                <a:ext cx="11496675" cy="642366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77176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118000"/>
                  </a:lnSpc>
                  <a:tabLst>
                    <a:tab pos="455295" algn="l"/>
                    <a:tab pos="470535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Treatment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; poten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tial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outcomes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(1),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(0)</m:t>
                        </m:r>
                      </m:e>
                    </m:d>
                  </m:oMath>
                </a14:m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; covariates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3000" dirty="0"/>
                  <a:t>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PingFang SC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(1),</m:t>
                            </m:r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(0),</m:t>
                            </m:r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are </a:t>
                </a:r>
                <a:r>
                  <a:rPr sz="30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i.i.d.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samples from a super population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38000"/>
                  </a:lnSpc>
                  <a:tabLst/>
                </a:pP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135000"/>
                  </a:lnSpc>
                  <a:spcBef>
                    <a:spcPts val="924"/>
                  </a:spcBef>
                  <a:tabLst>
                    <a:tab pos="459105" algn="l"/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Stable unit treatment value assump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on (SUTVA) holds            		Randomization: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⫫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(1),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(0),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b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𝐗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3000" dirty="0"/>
                  <a:t> </a:t>
                </a:r>
                <a:endParaRPr sz="3000" dirty="0">
                  <a:latin typeface="Arial" panose="020B0604020202020204" pitchFamily="34" charset="0"/>
                  <a:ea typeface="PingFang SC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68000"/>
                  </a:lnSpc>
                  <a:tabLst/>
                </a:pP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912"/>
                  </a:spcBef>
                  <a:tabLst>
                    <a:tab pos="451485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ACE is </a:t>
                </a:r>
                <a:r>
                  <a:rPr sz="3000" kern="0" dirty="0">
                    <a:solidFill>
                      <a:srgbClr val="BD1A1A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iden</a:t>
                </a:r>
                <a:r>
                  <a:rPr lang="en-US" sz="3000" kern="0" dirty="0">
                    <a:solidFill>
                      <a:srgbClr val="BD1A1A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tifi</a:t>
                </a:r>
                <a:r>
                  <a:rPr sz="3000" kern="0" dirty="0">
                    <a:solidFill>
                      <a:srgbClr val="BD1A1A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able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(by the joint distribu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tion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of the observables)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ctr" eaLnBrk="0">
                  <a:spcBef>
                    <a:spcPts val="1800"/>
                  </a:spcBef>
                  <a:spcAft>
                    <a:spcPts val="18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ACE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∣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zh-CN" altLang="zh-CN" sz="3000" dirty="0"/>
                  <a:t> </a:t>
                </a:r>
                <a:endParaRPr lang="zh-CN" altLang="en-US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8100" eaLnBrk="0">
                  <a:lnSpc>
                    <a:spcPts val="7806"/>
                  </a:lnSpc>
                  <a:tabLst>
                    <a:tab pos="9153525" algn="l"/>
                  </a:tabLst>
                </a:pPr>
                <a:r>
                  <a:rPr lang="en-US" altLang="zh-C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 Estimation: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Sup>
                      <m:sSub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3000" dirty="0"/>
                  <a:t> </a:t>
                </a:r>
                <a:endParaRPr lang="zh-CN" altLang="en-US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2" name="textbox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70" y="2267779"/>
                <a:ext cx="11496675" cy="6423660"/>
              </a:xfrm>
              <a:prstGeom prst="rect">
                <a:avLst/>
              </a:prstGeom>
              <a:blipFill>
                <a:blip r:embed="rId2"/>
                <a:stretch>
                  <a:fillRect t="-592" b="-14004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picture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3270" y="6325815"/>
            <a:ext cx="195795" cy="195795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3270" y="4973415"/>
            <a:ext cx="195795" cy="195795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3270" y="4362366"/>
            <a:ext cx="195795" cy="195795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3270" y="3048063"/>
            <a:ext cx="195795" cy="195795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3270" y="2456070"/>
            <a:ext cx="195795" cy="195795"/>
          </a:xfrm>
          <a:prstGeom prst="rect">
            <a:avLst/>
          </a:prstGeom>
        </p:spPr>
      </p:pic>
      <p:sp>
        <p:nvSpPr>
          <p:cNvPr id="58" name="rect 58"/>
          <p:cNvSpPr/>
          <p:nvPr/>
        </p:nvSpPr>
        <p:spPr>
          <a:xfrm>
            <a:off x="1" y="795"/>
            <a:ext cx="13824012" cy="105033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0"/>
          </a:p>
        </p:txBody>
      </p:sp>
      <p:sp>
        <p:nvSpPr>
          <p:cNvPr id="60" name="textbox 60"/>
          <p:cNvSpPr/>
          <p:nvPr/>
        </p:nvSpPr>
        <p:spPr>
          <a:xfrm>
            <a:off x="335640" y="312700"/>
            <a:ext cx="13284189" cy="628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2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ct val="86000"/>
              </a:lnSpc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Randomized experiments: super population framework</a:t>
            </a:r>
            <a:endParaRPr sz="42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12989278" y="10024524"/>
            <a:ext cx="630552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3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19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pic>
        <p:nvPicPr>
          <p:cNvPr id="2" name="picture 46">
            <a:extLst>
              <a:ext uri="{FF2B5EF4-FFF2-40B4-BE49-F238E27FC236}">
                <a16:creationId xmlns:a16="http://schemas.microsoft.com/office/drawing/2014/main" id="{DE90E535-A94D-5F4D-6E6B-15F33967D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3270" y="8099124"/>
            <a:ext cx="195795" cy="195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4"/>
              <p:cNvSpPr/>
              <p:nvPr/>
            </p:nvSpPr>
            <p:spPr>
              <a:xfrm>
                <a:off x="805168" y="1808682"/>
                <a:ext cx="12574902" cy="751903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0125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72440" indent="-240030" eaLnBrk="0">
                  <a:lnSpc>
                    <a:spcPct val="112000"/>
                  </a:lnSpc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Key setup in super population framework: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zh-CN" altLang="zh-CN" sz="3000" i="1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3000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zh-CN" sz="3000" i="1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3000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(1),</m:t>
                        </m:r>
                        <m:sSub>
                          <m:sSubPr>
                            <m:ctrlPr>
                              <a:rPr lang="zh-CN" altLang="zh-CN" sz="3000" i="1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3000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(0),</m:t>
                        </m:r>
                        <m:sSub>
                          <m:sSubPr>
                            <m:ctrlPr>
                              <a:rPr lang="zh-CN" altLang="zh-CN" sz="3000" i="1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3000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3000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are random and i.i.d.</a:t>
                </a:r>
              </a:p>
              <a:p>
                <a:pPr marL="472440" indent="-240030" eaLnBrk="0">
                  <a:lnSpc>
                    <a:spcPct val="96000"/>
                  </a:lnSpc>
                  <a:spcBef>
                    <a:spcPts val="2547"/>
                  </a:spcBef>
                  <a:tabLst>
                    <a:tab pos="44577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We used this framework in almost all 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statistics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courses: data are i.i.d. random variables</a:t>
                </a:r>
              </a:p>
              <a:p>
                <a:pPr marL="1064895" eaLnBrk="0">
                  <a:lnSpc>
                    <a:spcPct val="93000"/>
                  </a:lnSpc>
                  <a:spcBef>
                    <a:spcPts val="1101"/>
                  </a:spcBef>
                  <a:tabLst>
                    <a:tab pos="1278255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where does the randomness come from?</a:t>
                </a:r>
                <a:endParaRPr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064895" eaLnBrk="0">
                  <a:lnSpc>
                    <a:spcPct val="93000"/>
                  </a:lnSpc>
                  <a:spcBef>
                    <a:spcPts val="573"/>
                  </a:spcBef>
                  <a:tabLst>
                    <a:tab pos="1278255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where does the </a:t>
                </a:r>
                <a:r>
                  <a:rPr sz="27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i.i.d</a:t>
                </a:r>
                <a:r>
                  <a:rPr lang="en-US" sz="27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.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assump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tion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come from?</a:t>
                </a:r>
                <a:endParaRPr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3912"/>
                  </a:spcBef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Practice of randomized experiments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064895" eaLnBrk="0">
                  <a:lnSpc>
                    <a:spcPct val="93000"/>
                  </a:lnSpc>
                  <a:spcBef>
                    <a:spcPts val="1101"/>
                  </a:spcBef>
                  <a:tabLst>
                    <a:tab pos="1303020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randomize a group of units to treatment and control groups</a:t>
                </a:r>
                <a:endParaRPr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064895" eaLnBrk="0">
                  <a:lnSpc>
                    <a:spcPct val="75000"/>
                  </a:lnSpc>
                  <a:spcBef>
                    <a:spcPts val="1050"/>
                  </a:spcBef>
                  <a:tabLst>
                    <a:tab pos="1306830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	Issue of Bernoulli randomization</a:t>
                </a:r>
              </a:p>
              <a:p>
                <a:pPr marL="1285875" indent="-220980" eaLnBrk="0">
                  <a:lnSpc>
                    <a:spcPct val="105000"/>
                  </a:lnSpc>
                  <a:spcBef>
                    <a:spcPts val="735"/>
                  </a:spcBef>
                  <a:tabLst>
                    <a:tab pos="1278255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various types of randomized experiments: stra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tifi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ed, matched pair,       cross-over, sequen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al, etc.</a:t>
                </a:r>
                <a:endParaRPr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064895" eaLnBrk="0">
                  <a:spcBef>
                    <a:spcPts val="459"/>
                  </a:spcBef>
                  <a:tabLst>
                    <a:tab pos="1301115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it is hard to imagine how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700" i="1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7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7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is sampled from a super popula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tion</a:t>
                </a:r>
                <a:endParaRPr sz="27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ts val="7476"/>
                  </a:lnSpc>
                  <a:tabLst>
                    <a:tab pos="451485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 alternative framework: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nite popula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on framework</a:t>
                </a:r>
              </a:p>
            </p:txBody>
          </p:sp>
        </mc:Choice>
        <mc:Fallback>
          <p:sp>
            <p:nvSpPr>
              <p:cNvPr id="64" name="textbox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68" y="1808682"/>
                <a:ext cx="12574902" cy="7519035"/>
              </a:xfrm>
              <a:prstGeom prst="rect">
                <a:avLst/>
              </a:prstGeom>
              <a:blipFill>
                <a:blip r:embed="rId2"/>
                <a:stretch>
                  <a:fillRect t="-843" b="-843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picture 6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3276" y="8866899"/>
            <a:ext cx="195795" cy="195795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2604" y="8107161"/>
            <a:ext cx="157755" cy="157755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12604" y="7177143"/>
            <a:ext cx="157755" cy="157755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12604" y="6683517"/>
            <a:ext cx="157755" cy="157755"/>
          </a:xfrm>
          <a:prstGeom prst="rect">
            <a:avLst/>
          </a:prstGeom>
        </p:spPr>
      </p:pic>
      <p:pic>
        <p:nvPicPr>
          <p:cNvPr id="74" name="picture 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12604" y="6228036"/>
            <a:ext cx="157755" cy="157755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3276" y="5620512"/>
            <a:ext cx="195795" cy="195795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712598" y="4788117"/>
            <a:ext cx="157755" cy="157755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712598" y="4332630"/>
            <a:ext cx="157755" cy="157755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43270" y="3307686"/>
            <a:ext cx="195795" cy="195795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43270" y="1996971"/>
            <a:ext cx="195795" cy="195795"/>
          </a:xfrm>
          <a:prstGeom prst="rect">
            <a:avLst/>
          </a:prstGeom>
        </p:spPr>
      </p:pic>
      <p:sp>
        <p:nvSpPr>
          <p:cNvPr id="86" name="textbox 86"/>
          <p:cNvSpPr/>
          <p:nvPr/>
        </p:nvSpPr>
        <p:spPr>
          <a:xfrm>
            <a:off x="3" y="793"/>
            <a:ext cx="13824585" cy="105156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2100" dirty="0">
              <a:latin typeface="Arial"/>
              <a:ea typeface="Arial"/>
              <a:cs typeface="Arial"/>
            </a:endParaRPr>
          </a:p>
          <a:p>
            <a:pPr marL="373380" eaLnBrk="0">
              <a:lnSpc>
                <a:spcPct val="93000"/>
              </a:lnSpc>
            </a:pPr>
            <a:r>
              <a:rPr lang="en-US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Diffi</a:t>
            </a: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cul</a:t>
            </a:r>
            <a:r>
              <a:rPr lang="en-US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ti</a:t>
            </a: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PingFang SC"/>
                <a:cs typeface="Arial" panose="020B0604020202020204" pitchFamily="34" charset="0"/>
              </a:rPr>
              <a:t>es under super population framework</a:t>
            </a:r>
            <a:endParaRPr sz="4200" dirty="0">
              <a:latin typeface="Arial" panose="020B0604020202020204" pitchFamily="34" charset="0"/>
              <a:ea typeface="PingFang SC"/>
              <a:cs typeface="Arial" panose="020B0604020202020204" pitchFamily="34" charset="0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12986097" y="10024533"/>
            <a:ext cx="634365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4 / 19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16" name="textbox 216"/>
              <p:cNvSpPr/>
              <p:nvPr/>
            </p:nvSpPr>
            <p:spPr>
              <a:xfrm>
                <a:off x="1024972" y="2143540"/>
                <a:ext cx="12595860" cy="818769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0703"/>
                  </a:lnSpc>
                  <a:tabLst/>
                </a:pPr>
                <a:endParaRPr lang="en"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tabLst>
                    <a:tab pos="451485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A population with </a:t>
                </a:r>
                <a14:m>
                  <m:oMath xmlns:m="http://schemas.openxmlformats.org/officeDocument/2006/math">
                    <m:r>
                      <a:rPr lang="en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" altLang="zh-CN" sz="3000" dirty="0"/>
                  <a:t> 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units</a:t>
                </a:r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ts val="4782"/>
                  </a:lnSpc>
                  <a:tabLst>
                    <a:tab pos="502920" algn="l"/>
                  </a:tabLst>
                </a:pPr>
                <a:r>
                  <a:rPr lang="en" altLang="zh-C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: wage of unit </a:t>
                </a:r>
                <a14:m>
                  <m:oMath xmlns:m="http://schemas.openxmlformats.org/officeDocument/2006/math">
                    <m:r>
                      <a:rPr lang="en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" altLang="zh-CN" sz="3000" dirty="0"/>
                  <a:t> </a:t>
                </a:r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tabLst>
                    <a:tab pos="464820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Quantity of interest: average wage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ar-AE" altLang="zh-CN" sz="3000" i="1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ar-AE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𝑌</m:t>
                        </m:r>
                      </m:e>
                    </m:acc>
                    <m:r>
                      <a:rPr lang="ar-AE" altLang="zh-CN" sz="3000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ar-AE" altLang="zh-CN" sz="3000" i="1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ar-AE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ar-AE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𝑁</m:t>
                        </m:r>
                      </m:den>
                    </m:f>
                    <m:sSubSup>
                      <m:sSubSupPr>
                        <m:ctrlPr>
                          <a:rPr lang="ar-AE" altLang="zh-CN" sz="3000" i="1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ar-AE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∑</m:t>
                        </m:r>
                      </m:e>
                      <m:sub>
                        <m:r>
                          <a:rPr lang="ar-AE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ar-AE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ar-AE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𝑁</m:t>
                        </m:r>
                      </m:sup>
                    </m:sSubSup>
                    <m:r>
                      <a:rPr lang="ar-AE" altLang="zh-CN" sz="3000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 </m:t>
                    </m:r>
                    <m:sSub>
                      <m:sSubPr>
                        <m:ctrlPr>
                          <a:rPr lang="ar-AE" altLang="zh-CN" sz="3000" i="1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ar-AE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ar-AE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altLang="zh-C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</a:p>
              <a:p>
                <a:pPr marL="232410" eaLnBrk="0">
                  <a:lnSpc>
                    <a:spcPct val="96000"/>
                  </a:lnSpc>
                  <a:spcBef>
                    <a:spcPts val="900"/>
                  </a:spcBef>
                  <a:tabLst>
                    <a:tab pos="464820" algn="l"/>
                  </a:tabLst>
                </a:pPr>
                <a:r>
                  <a:rPr lang="ar-AE" altLang="zh-C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ar-AE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ar-AE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is very large </a:t>
                </a:r>
                <a14:m>
                  <m:oMath xmlns:m="http://schemas.openxmlformats.org/officeDocument/2006/math">
                    <m:r>
                      <a:rPr lang="en" altLang="zh-CN" sz="3000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⇝</m:t>
                    </m:r>
                  </m:oMath>
                </a14:m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we sample </a:t>
                </a:r>
                <a14:m>
                  <m:oMath xmlns:m="http://schemas.openxmlformats.org/officeDocument/2006/math">
                    <m:r>
                      <a:rPr lang="en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" altLang="zh-CN" sz="3000" dirty="0"/>
                  <a:t> 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units from the population: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ar-AE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if    </a:t>
                </a:r>
              </a:p>
              <a:p>
                <a:pPr marL="232410" eaLnBrk="0">
                  <a:lnSpc>
                    <a:spcPct val="96000"/>
                  </a:lnSpc>
                  <a:spcBef>
                    <a:spcPts val="900"/>
                  </a:spcBef>
                  <a:tabLst>
                    <a:tab pos="464820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sampled </a:t>
                </a:r>
                <a14:m>
                  <m:oMath xmlns:m="http://schemas.openxmlformats.org/officeDocument/2006/math">
                    <m:r>
                      <a:rPr lang="en" altLang="zh-CN" sz="3000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⇝</m:t>
                    </m:r>
                    <m:r>
                      <m:rPr>
                        <m:sty m:val="p"/>
                      </m:rPr>
                      <a:rPr lang="en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pr</m:t>
                    </m:r>
                    <m:d>
                      <m:d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ar-AE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e>
                    </m:d>
                    <m:r>
                      <a:rPr lang="ar-AE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ar-AE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ar-AE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a:rPr lang="ar-AE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endParaRPr lang="ar-AE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spcBef>
                    <a:spcPts val="900"/>
                  </a:spcBef>
                  <a:tabLst>
                    <a:tab pos="46482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cov</m:t>
                      </m:r>
                      <m:d>
                        <m:dPr>
                          <m:ctrlPr>
                            <a:rPr lang="ar-AE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ar-AE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ar-AE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ar-AE" altLang="zh-CN" sz="30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𝔼</m:t>
                      </m:r>
                      <m:d>
                        <m:dPr>
                          <m:ctrlPr>
                            <a:rPr lang="ar-AE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ar-AE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ar-AE" altLang="zh-CN" sz="30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𝔼</m:t>
                      </m:r>
                      <m:d>
                        <m:dPr>
                          <m:ctrlPr>
                            <a:rPr lang="ar-AE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ar-AE" altLang="zh-CN" sz="30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𝔼</m:t>
                      </m:r>
                      <m:d>
                        <m:dPr>
                          <m:ctrlPr>
                            <a:rPr lang="ar-AE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ar-AE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ar-AE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ar-AE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ar-AE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ar-AE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ar-AE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ar-AE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ar-AE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ar-AE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−1)</m:t>
                          </m:r>
                        </m:den>
                      </m:f>
                      <m:r>
                        <a:rPr lang="ar-AE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ar-AE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ar-AE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ar-AE" altLang="zh-CN" sz="30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ar-AE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ar-AE" altLang="zh-CN" sz="30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ar-AE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=−</m:t>
                      </m:r>
                      <m:f>
                        <m:fPr>
                          <m:ctrlPr>
                            <a:rPr lang="ar-AE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ar-AE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ar-AE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ar-AE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ar-AE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ar-AE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ar-AE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ar-AE" altLang="zh-CN" sz="30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ar-AE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ar-AE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lang="ar-AE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−1)</m:t>
                          </m:r>
                        </m:den>
                      </m:f>
                    </m:oMath>
                  </m:oMathPara>
                </a14:m>
                <a:endParaRPr lang="ar-AE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spcBef>
                    <a:spcPts val="900"/>
                  </a:spcBef>
                  <a:tabLst>
                    <a:tab pos="464820" algn="l"/>
                  </a:tabLst>
                </a:pPr>
                <a:r>
                  <a:rPr lang="ar-AE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Estimator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ar-AE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 </m:t>
                        </m:r>
                      </m:e>
                    </m:nary>
                    <m:sSub>
                      <m:sSub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ar-AE" altLang="zh-CN" sz="3000" dirty="0">
                  <a:latin typeface="Arial" panose="020B0604020202020204" pitchFamily="34" charset="0"/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32410" eaLnBrk="0">
                  <a:lnSpc>
                    <a:spcPct val="96000"/>
                  </a:lnSpc>
                  <a:spcBef>
                    <a:spcPts val="900"/>
                  </a:spcBef>
                  <a:tabLst>
                    <a:tab pos="464820" algn="l"/>
                  </a:tabLst>
                </a:pPr>
                <a:endParaRPr lang="en-US" altLang="zh-CN" sz="3000" dirty="0"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16" name="textbox 2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4972" y="2143540"/>
                <a:ext cx="12595860" cy="8187690"/>
              </a:xfrm>
              <a:prstGeom prst="rect">
                <a:avLst/>
              </a:prstGeom>
              <a:blipFill>
                <a:blip r:embed="rId2"/>
                <a:stretch>
                  <a:fillRect t="-1548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4" name="picture 2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51737" y="6197799"/>
            <a:ext cx="195795" cy="195795"/>
          </a:xfrm>
          <a:prstGeom prst="rect">
            <a:avLst/>
          </a:prstGeom>
        </p:spPr>
      </p:pic>
      <p:pic>
        <p:nvPicPr>
          <p:cNvPr id="228" name="picture 2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63074" y="4081653"/>
            <a:ext cx="195795" cy="195795"/>
          </a:xfrm>
          <a:prstGeom prst="rect">
            <a:avLst/>
          </a:prstGeom>
        </p:spPr>
      </p:pic>
      <p:pic>
        <p:nvPicPr>
          <p:cNvPr id="232" name="picture 2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063074" y="3415818"/>
            <a:ext cx="195795" cy="195795"/>
          </a:xfrm>
          <a:prstGeom prst="rect">
            <a:avLst/>
          </a:prstGeom>
        </p:spPr>
      </p:pic>
      <p:pic>
        <p:nvPicPr>
          <p:cNvPr id="234" name="picture 2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63074" y="2864280"/>
            <a:ext cx="195795" cy="195795"/>
          </a:xfrm>
          <a:prstGeom prst="rect">
            <a:avLst/>
          </a:prstGeom>
        </p:spPr>
      </p:pic>
      <p:pic>
        <p:nvPicPr>
          <p:cNvPr id="236" name="picture 2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063074" y="2293734"/>
            <a:ext cx="195795" cy="195795"/>
          </a:xfrm>
          <a:prstGeom prst="rect">
            <a:avLst/>
          </a:prstGeom>
        </p:spPr>
      </p:pic>
      <p:sp>
        <p:nvSpPr>
          <p:cNvPr id="240" name="textbox 240"/>
          <p:cNvSpPr/>
          <p:nvPr/>
        </p:nvSpPr>
        <p:spPr>
          <a:xfrm>
            <a:off x="12988372" y="10024527"/>
            <a:ext cx="632460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5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500" kern="0" spc="-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24832402-1221-BAAC-4F98-43BFBA46960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654929"/>
              </p:ext>
            </p:extLst>
          </p:nvPr>
        </p:nvGraphicFramePr>
        <p:xfrm>
          <a:off x="-1399681" y="6875631"/>
          <a:ext cx="16623945" cy="37722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8" imgW="5486400" imgH="1244600" progId="Word.Document.12">
                  <p:embed/>
                </p:oleObj>
              </mc:Choice>
              <mc:Fallback>
                <p:oleObj name="文档" r:id="rId8" imgW="5486400" imgH="1244600" progId="Word.Document.12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24832402-1221-BAAC-4F98-43BFBA4696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-1399681" y="6875631"/>
                        <a:ext cx="16623945" cy="37722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10">
            <a:extLst>
              <a:ext uri="{FF2B5EF4-FFF2-40B4-BE49-F238E27FC236}">
                <a16:creationId xmlns:a16="http://schemas.microsoft.com/office/drawing/2014/main" id="{171DA0E2-AC4D-F112-D0FC-77DCDAC7F68F}"/>
              </a:ext>
            </a:extLst>
          </p:cNvPr>
          <p:cNvSpPr/>
          <p:nvPr/>
        </p:nvSpPr>
        <p:spPr>
          <a:xfrm>
            <a:off x="3" y="795"/>
            <a:ext cx="13824585" cy="1735455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1800" dirty="0">
              <a:latin typeface="Arial"/>
              <a:ea typeface="Arial"/>
              <a:cs typeface="Arial"/>
            </a:endParaRPr>
          </a:p>
          <a:p>
            <a:pPr marL="337185" eaLnBrk="0">
              <a:lnSpc>
                <a:spcPct val="101000"/>
              </a:lnSpc>
              <a:spcBef>
                <a:spcPts val="3"/>
              </a:spcBef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An example of </a:t>
            </a:r>
            <a:r>
              <a:rPr lang="en-US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fi</a:t>
            </a: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nite population framework from survey       sampling</a:t>
            </a:r>
            <a:endParaRPr sz="42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74" name="textbox 274"/>
              <p:cNvSpPr/>
              <p:nvPr/>
            </p:nvSpPr>
            <p:spPr>
              <a:xfrm>
                <a:off x="843267" y="2495869"/>
                <a:ext cx="8300085" cy="5377812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3080"/>
                  </a:lnSpc>
                  <a:tabLst/>
                </a:pP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tabLst>
                    <a:tab pos="480060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Data: </a:t>
                </a:r>
                <a:r>
                  <a:rPr sz="30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i.i.d.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=1,…,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ts val="3681"/>
                  </a:lnSpc>
                  <a:spcBef>
                    <a:spcPts val="1368"/>
                  </a:spcBef>
                  <a:tabLst>
                    <a:tab pos="480060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Parameter of in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erest: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𝔼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spcBef>
                    <a:spcPts val="1278"/>
                  </a:spcBef>
                  <a:tabLst>
                    <a:tab pos="480060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Estimator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sSubSup>
                      <m:sSub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∑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 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" altLang="zh-CN" sz="3000" baseline="-868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spcBef>
                    <a:spcPts val="1278"/>
                  </a:spcBef>
                  <a:tabLst>
                    <a:tab pos="480060" algn="l"/>
                  </a:tabLst>
                </a:pPr>
                <a:endParaRPr lang="en" sz="3000" baseline="-8681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spcBef>
                    <a:spcPts val="1278"/>
                  </a:spcBef>
                  <a:tabLst>
                    <a:tab pos="480060" algn="l"/>
                  </a:tabLst>
                </a:pPr>
                <a:endParaRPr lang="en" sz="3000" baseline="-8681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spcBef>
                    <a:spcPts val="1278"/>
                  </a:spcBef>
                  <a:tabLst>
                    <a:tab pos="480060" algn="l"/>
                  </a:tabLst>
                </a:pPr>
                <a:endParaRPr lang="en" sz="3000" baseline="-8681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spcBef>
                    <a:spcPts val="1278"/>
                  </a:spcBef>
                  <a:tabLst>
                    <a:tab pos="480060" algn="l"/>
                  </a:tabLst>
                </a:pPr>
                <a:r>
                  <a:rPr lang="en" sz="3000" baseline="-8681" dirty="0"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𝔼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ˆ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zh-CN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30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ˆ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acc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var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zh-CN" sz="3000" dirty="0"/>
                  <a:t> </a:t>
                </a:r>
                <a:endParaRPr lang="en" altLang="zh-CN" sz="3000" baseline="-868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spcBef>
                    <a:spcPts val="1278"/>
                  </a:spcBef>
                  <a:tabLst>
                    <a:tab pos="480060" algn="l"/>
                  </a:tabLst>
                </a:pPr>
                <a:endParaRPr lang="en" altLang="zh-CN" sz="3000" i="1" baseline="-868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spcBef>
                    <a:spcPts val="1278"/>
                  </a:spcBef>
                  <a:tabLst>
                    <a:tab pos="480060" algn="l"/>
                  </a:tabLst>
                </a:pPr>
                <a:r>
                  <a:rPr lang="en" altLang="zh-CN" sz="3000" i="1" baseline="-868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altLang="zh-CN" sz="3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74" name="textbox 2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267" y="2495869"/>
                <a:ext cx="8300085" cy="53778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8" name="rect 288"/>
          <p:cNvSpPr/>
          <p:nvPr/>
        </p:nvSpPr>
        <p:spPr>
          <a:xfrm>
            <a:off x="1" y="795"/>
            <a:ext cx="13824012" cy="105033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0"/>
          </a:p>
        </p:txBody>
      </p:sp>
      <p:sp>
        <p:nvSpPr>
          <p:cNvPr id="290" name="textbox 290"/>
          <p:cNvSpPr/>
          <p:nvPr/>
        </p:nvSpPr>
        <p:spPr>
          <a:xfrm>
            <a:off x="309949" y="312700"/>
            <a:ext cx="10205652" cy="628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32"/>
              </a:lnSpc>
              <a:tabLst/>
            </a:pPr>
            <a:endParaRPr lang="zh-CN" altLang="en-US" sz="3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  <a:p>
            <a:pPr rtl="0" eaLnBrk="0">
              <a:lnSpc>
                <a:spcPct val="86000"/>
              </a:lnSpc>
              <a:tabLst/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Super population inference</a:t>
            </a:r>
            <a:r>
              <a:rPr lang="zh-CN" altLang="en-US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for</a:t>
            </a:r>
            <a:r>
              <a:rPr lang="zh-CN" altLang="en-US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the</a:t>
            </a:r>
            <a:r>
              <a:rPr lang="zh-CN" altLang="en-US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lang="en-US" altLang="zh-CN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example</a:t>
            </a:r>
            <a:endParaRPr sz="42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12989281" y="10024530"/>
            <a:ext cx="630552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6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500" kern="0" spc="-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99BA187-3341-D4B3-15AB-DD985E72C4D3}"/>
              </a:ext>
            </a:extLst>
          </p:cNvPr>
          <p:cNvGrpSpPr/>
          <p:nvPr/>
        </p:nvGrpSpPr>
        <p:grpSpPr>
          <a:xfrm>
            <a:off x="843265" y="2965662"/>
            <a:ext cx="203508" cy="3708999"/>
            <a:chOff x="281089" y="939915"/>
            <a:chExt cx="67836" cy="1236333"/>
          </a:xfrm>
        </p:grpSpPr>
        <p:pic>
          <p:nvPicPr>
            <p:cNvPr id="282" name="picture 28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81089" y="1379030"/>
              <a:ext cx="65265" cy="65265"/>
            </a:xfrm>
            <a:prstGeom prst="rect">
              <a:avLst/>
            </a:prstGeom>
          </p:spPr>
        </p:pic>
        <p:pic>
          <p:nvPicPr>
            <p:cNvPr id="284" name="picture 28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81089" y="1149947"/>
              <a:ext cx="65265" cy="65265"/>
            </a:xfrm>
            <a:prstGeom prst="rect">
              <a:avLst/>
            </a:prstGeom>
          </p:spPr>
        </p:pic>
        <p:pic>
          <p:nvPicPr>
            <p:cNvPr id="286" name="picture 28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281089" y="939915"/>
              <a:ext cx="65265" cy="65265"/>
            </a:xfrm>
            <a:prstGeom prst="rect">
              <a:avLst/>
            </a:prstGeom>
          </p:spPr>
        </p:pic>
        <p:pic>
          <p:nvPicPr>
            <p:cNvPr id="2" name="picture 276">
              <a:extLst>
                <a:ext uri="{FF2B5EF4-FFF2-40B4-BE49-F238E27FC236}">
                  <a16:creationId xmlns:a16="http://schemas.microsoft.com/office/drawing/2014/main" id="{3A40A9A4-A7B8-A6F4-7648-499D7158F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83660" y="2110983"/>
              <a:ext cx="65265" cy="6526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58" name="textbox 358"/>
              <p:cNvSpPr/>
              <p:nvPr/>
            </p:nvSpPr>
            <p:spPr>
              <a:xfrm>
                <a:off x="807555" y="1755715"/>
                <a:ext cx="12635865" cy="755904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77000"/>
                  </a:lnSpc>
                </a:pPr>
                <a:endParaRPr sz="300" dirty="0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  <a:p>
                <a:pPr marL="472440" indent="-240030" eaLnBrk="0">
                  <a:lnSpc>
                    <a:spcPct val="96000"/>
                  </a:lnSpc>
                  <a:tabLst>
                    <a:tab pos="459105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	Super population inference: data are generated from a super              population distribution</a:t>
                </a:r>
                <a:endParaRPr sz="3000" dirty="0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  <a:p>
                <a:pPr marL="1064895" eaLnBrk="0">
                  <a:lnSpc>
                    <a:spcPct val="93000"/>
                  </a:lnSpc>
                  <a:spcBef>
                    <a:spcPts val="1095"/>
                  </a:spcBef>
                  <a:tabLst>
                    <a:tab pos="1301115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	</a:t>
                </a:r>
                <a:r>
                  <a:rPr sz="27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i.i.d.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 assumption is usually invoked</a:t>
                </a:r>
              </a:p>
              <a:p>
                <a:pPr marL="1064895" eaLnBrk="0">
                  <a:lnSpc>
                    <a:spcPct val="93000"/>
                  </a:lnSpc>
                  <a:spcBef>
                    <a:spcPts val="570"/>
                  </a:spcBef>
                  <a:tabLst>
                    <a:tab pos="1285875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	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quantities of interest are about super population, e.g., population mean</a:t>
                </a:r>
              </a:p>
              <a:p>
                <a:pPr marL="232410" eaLnBrk="0">
                  <a:lnSpc>
                    <a:spcPct val="92000"/>
                  </a:lnSpc>
                  <a:spcBef>
                    <a:spcPts val="3975"/>
                  </a:spcBef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	F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nite population inference: data are 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fi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xed in 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fi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nite population,</a:t>
                </a:r>
                <a:endParaRPr sz="3000" dirty="0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  <a:p>
                <a:pPr marL="474345" eaLnBrk="0">
                  <a:lnSpc>
                    <a:spcPct val="92000"/>
                  </a:lnSpc>
                  <a:spcBef>
                    <a:spcPts val="270"/>
                  </a:spcBef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randomness comes from sampling</a:t>
                </a:r>
                <a:endParaRPr sz="3000" dirty="0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  <a:p>
                <a:pPr marL="1064895" eaLnBrk="0">
                  <a:lnSpc>
                    <a:spcPts val="4110"/>
                  </a:lnSpc>
                  <a:tabLst>
                    <a:tab pos="1303020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	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no </a:t>
                </a:r>
                <a:r>
                  <a:rPr sz="2700" kern="0" dirty="0" err="1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i.i.d.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 assumption needed</a:t>
                </a:r>
              </a:p>
              <a:p>
                <a:pPr marL="1064895" eaLnBrk="0">
                  <a:lnSpc>
                    <a:spcPct val="93000"/>
                  </a:lnSpc>
                  <a:spcBef>
                    <a:spcPts val="570"/>
                  </a:spcBef>
                  <a:tabLst>
                    <a:tab pos="1285875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	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quantities of interest are about 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fi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nite population</a:t>
                </a:r>
              </a:p>
              <a:p>
                <a:pPr marL="1064895" eaLnBrk="0">
                  <a:lnSpc>
                    <a:spcPct val="93000"/>
                  </a:lnSpc>
                  <a:spcBef>
                    <a:spcPts val="570"/>
                  </a:spcBef>
                  <a:tabLst>
                    <a:tab pos="1303020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	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better to study sampling process (treatment assignment mechanism)</a:t>
                </a:r>
              </a:p>
              <a:p>
                <a:pPr marL="232410" eaLnBrk="0">
                  <a:lnSpc>
                    <a:spcPct val="92000"/>
                  </a:lnSpc>
                  <a:spcBef>
                    <a:spcPts val="3975"/>
                  </a:spcBef>
                  <a:tabLst>
                    <a:tab pos="46863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	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Connections: 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fi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nite pop ≈ super pop conditional on the data</a:t>
                </a:r>
                <a:endParaRPr lang="zh-CN" altLang="en-US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cs typeface="Arial" panose="020B0604020202090204"/>
                </a:endParaRPr>
              </a:p>
              <a:p>
                <a:pPr marL="1064895" eaLnBrk="0">
                  <a:lnSpc>
                    <a:spcPct val="86000"/>
                  </a:lnSpc>
                  <a:spcBef>
                    <a:spcPts val="15"/>
                  </a:spcBef>
                  <a:tabLst>
                    <a:tab pos="1301115" algn="l"/>
                  </a:tabLst>
                </a:pPr>
                <a:r>
                  <a:rPr lang="e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	</a:t>
                </a:r>
                <a:endParaRPr lang="en" sz="27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90204"/>
                  <a:cs typeface="Arial" panose="020B0604020202090204"/>
                </a:endParaRPr>
              </a:p>
              <a:p>
                <a:pPr marL="1064895" eaLnBrk="0">
                  <a:lnSpc>
                    <a:spcPct val="86000"/>
                  </a:lnSpc>
                  <a:spcBef>
                    <a:spcPts val="15"/>
                  </a:spcBef>
                  <a:tabLst>
                    <a:tab pos="1301115" algn="l"/>
                  </a:tabLst>
                </a:pPr>
                <a:r>
                  <a:rPr lang="e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	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if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𝑁</m:t>
                    </m:r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→∞</m:t>
                    </m:r>
                  </m:oMath>
                </a14:m>
                <a:r>
                  <a:rPr lang="zh-CN" altLang="zh-CN" sz="2700" dirty="0"/>
                  <a:t> 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and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Arial" panose="020B0604020202020204" pitchFamily="34" charset="0"/>
                          </a:rPr>
                          <m:t>𝑌</m:t>
                        </m:r>
                      </m:e>
                    </m:acc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→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𝜇</m:t>
                    </m:r>
                  </m:oMath>
                </a14:m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,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 t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hen 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fi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nite pop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 </a:t>
                </a:r>
                <a:r>
                  <a:rPr lang="en-US" altLang="zh-CN" sz="2700" dirty="0">
                    <a:latin typeface="Arial" panose="020B0604020202020204" pitchFamily="34" charset="0"/>
                    <a:ea typeface="Georgia" panose="02040502050405020303" pitchFamily="18" charset="0"/>
                  </a:rPr>
                  <a:t>→ 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cs typeface="Arial" panose="020B0604020202090204"/>
                  </a:rPr>
                  <a:t>super pop</a:t>
                </a:r>
              </a:p>
              <a:p>
                <a:pPr marL="1064895" eaLnBrk="0">
                  <a:lnSpc>
                    <a:spcPct val="93000"/>
                  </a:lnSpc>
                  <a:spcBef>
                    <a:spcPts val="570"/>
                  </a:spcBef>
                  <a:tabLst>
                    <a:tab pos="1282065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	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fi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nite-pop inference requires less assumptions</a:t>
                </a:r>
                <a:endParaRPr sz="2700" dirty="0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  <a:p>
                <a:pPr marL="1064895" eaLnBrk="0">
                  <a:lnSpc>
                    <a:spcPct val="93000"/>
                  </a:lnSpc>
                  <a:spcBef>
                    <a:spcPts val="570"/>
                  </a:spcBef>
                  <a:tabLst>
                    <a:tab pos="1282065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	generalization is hard for conclusions based on 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fi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nite-pop inference</a:t>
                </a:r>
                <a:endParaRPr sz="2700" dirty="0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</p:txBody>
          </p:sp>
        </mc:Choice>
        <mc:Fallback>
          <p:sp>
            <p:nvSpPr>
              <p:cNvPr id="358" name="textbox 3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555" y="1755715"/>
                <a:ext cx="12635865" cy="7559040"/>
              </a:xfrm>
              <a:prstGeom prst="rect">
                <a:avLst/>
              </a:prstGeom>
              <a:blipFill>
                <a:blip r:embed="rId2"/>
                <a:stretch>
                  <a:fillRect t="-1174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72195F4F-6941-2A80-4943-5DE0F1E0D793}"/>
              </a:ext>
            </a:extLst>
          </p:cNvPr>
          <p:cNvGrpSpPr/>
          <p:nvPr/>
        </p:nvGrpSpPr>
        <p:grpSpPr>
          <a:xfrm>
            <a:off x="1714983" y="7832001"/>
            <a:ext cx="157755" cy="1087749"/>
            <a:chOff x="571660" y="2681911"/>
            <a:chExt cx="52585" cy="362583"/>
          </a:xfrm>
        </p:grpSpPr>
        <p:pic>
          <p:nvPicPr>
            <p:cNvPr id="360" name="picture 36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660" y="2991909"/>
              <a:ext cx="52585" cy="52585"/>
            </a:xfrm>
            <a:prstGeom prst="rect">
              <a:avLst/>
            </a:prstGeom>
          </p:spPr>
        </p:pic>
        <p:pic>
          <p:nvPicPr>
            <p:cNvPr id="362" name="picture 36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1660" y="2833731"/>
              <a:ext cx="52585" cy="52585"/>
            </a:xfrm>
            <a:prstGeom prst="rect">
              <a:avLst/>
            </a:prstGeom>
          </p:spPr>
        </p:pic>
        <p:pic>
          <p:nvPicPr>
            <p:cNvPr id="364" name="picture 36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1660" y="2681911"/>
              <a:ext cx="52585" cy="48731"/>
            </a:xfrm>
            <a:prstGeom prst="rect">
              <a:avLst/>
            </a:prstGeom>
          </p:spPr>
        </p:pic>
      </p:grpSp>
      <p:pic>
        <p:nvPicPr>
          <p:cNvPr id="366" name="picture 3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5655" y="7078710"/>
            <a:ext cx="195795" cy="195795"/>
          </a:xfrm>
          <a:prstGeom prst="rect">
            <a:avLst/>
          </a:prstGeom>
        </p:spPr>
      </p:pic>
      <p:pic>
        <p:nvPicPr>
          <p:cNvPr id="368" name="picture 36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14983" y="6200481"/>
            <a:ext cx="157755" cy="157755"/>
          </a:xfrm>
          <a:prstGeom prst="rect">
            <a:avLst/>
          </a:prstGeom>
        </p:spPr>
      </p:pic>
      <p:pic>
        <p:nvPicPr>
          <p:cNvPr id="370" name="picture 37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714983" y="5744994"/>
            <a:ext cx="157755" cy="157755"/>
          </a:xfrm>
          <a:prstGeom prst="rect">
            <a:avLst/>
          </a:prstGeom>
        </p:spPr>
      </p:pic>
      <p:pic>
        <p:nvPicPr>
          <p:cNvPr id="372" name="picture 37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714983" y="5289471"/>
            <a:ext cx="157755" cy="157755"/>
          </a:xfrm>
          <a:prstGeom prst="rect">
            <a:avLst/>
          </a:prstGeom>
        </p:spPr>
      </p:pic>
      <p:pic>
        <p:nvPicPr>
          <p:cNvPr id="374" name="picture 37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45655" y="4264566"/>
            <a:ext cx="195795" cy="195795"/>
          </a:xfrm>
          <a:prstGeom prst="rect">
            <a:avLst/>
          </a:prstGeom>
        </p:spPr>
      </p:pic>
      <p:pic>
        <p:nvPicPr>
          <p:cNvPr id="376" name="picture 37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714983" y="3386337"/>
            <a:ext cx="157755" cy="157755"/>
          </a:xfrm>
          <a:prstGeom prst="rect">
            <a:avLst/>
          </a:prstGeom>
        </p:spPr>
      </p:pic>
      <p:pic>
        <p:nvPicPr>
          <p:cNvPr id="378" name="picture 37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714983" y="2930817"/>
            <a:ext cx="157755" cy="157755"/>
          </a:xfrm>
          <a:prstGeom prst="rect">
            <a:avLst/>
          </a:prstGeom>
        </p:spPr>
      </p:pic>
      <p:pic>
        <p:nvPicPr>
          <p:cNvPr id="380" name="picture 38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45655" y="1905912"/>
            <a:ext cx="195795" cy="195795"/>
          </a:xfrm>
          <a:prstGeom prst="rect">
            <a:avLst/>
          </a:prstGeom>
        </p:spPr>
      </p:pic>
      <p:sp>
        <p:nvSpPr>
          <p:cNvPr id="382" name="rect 382"/>
          <p:cNvSpPr/>
          <p:nvPr/>
        </p:nvSpPr>
        <p:spPr>
          <a:xfrm>
            <a:off x="2383" y="798"/>
            <a:ext cx="13824012" cy="105033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0"/>
          </a:p>
        </p:txBody>
      </p:sp>
      <p:sp>
        <p:nvSpPr>
          <p:cNvPr id="384" name="textbox 384"/>
          <p:cNvSpPr/>
          <p:nvPr/>
        </p:nvSpPr>
        <p:spPr>
          <a:xfrm>
            <a:off x="337477" y="312700"/>
            <a:ext cx="9473274" cy="628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0" eaLnBrk="0">
              <a:lnSpc>
                <a:spcPct val="86000"/>
              </a:lnSpc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Finite population vs. super population</a:t>
            </a:r>
            <a:endParaRPr sz="42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6" name="textbox 386"/>
          <p:cNvSpPr/>
          <p:nvPr/>
        </p:nvSpPr>
        <p:spPr>
          <a:xfrm>
            <a:off x="12991660" y="10024524"/>
            <a:ext cx="630552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300" dirty="0"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marL="38100" eaLnBrk="0">
              <a:lnSpc>
                <a:spcPts val="1815"/>
              </a:lnSpc>
            </a:pPr>
            <a:r>
              <a:rPr sz="1500" kern="0" spc="15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7</a:t>
            </a:r>
            <a:r>
              <a:rPr sz="1500" kern="0" spc="-3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sz="1500" kern="0" spc="15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/</a:t>
            </a:r>
            <a:r>
              <a:rPr sz="1500" kern="0" spc="-6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r>
              <a:rPr lang="en-US" sz="1500" kern="0" spc="150" dirty="0">
                <a:solidFill>
                  <a:srgbClr val="8F0000">
                    <a:alpha val="100000"/>
                  </a:srgbClr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19</a:t>
            </a:r>
            <a:endParaRPr sz="1500" dirty="0"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04" name="textbox 404"/>
              <p:cNvSpPr/>
              <p:nvPr/>
            </p:nvSpPr>
            <p:spPr>
              <a:xfrm>
                <a:off x="805168" y="1721086"/>
                <a:ext cx="12536802" cy="773811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3079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tabLst>
                    <a:tab pos="455295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Treatment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b>
                        <m:r>
                          <a:rPr lang="en-US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3000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𝐙</m:t>
                    </m:r>
                    <m:r>
                      <a:rPr lang="en-US" altLang="zh-CN" sz="3000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zh-CN" altLang="zh-CN" sz="3000" i="1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3000" i="1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3000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 panose="020B0604020202020204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,…,</m:t>
                        </m:r>
                        <m:sSub>
                          <m:sSubPr>
                            <m:ctrlPr>
                              <a:rPr lang="zh-CN" altLang="zh-CN" sz="3000" i="1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altLang="zh-CN" sz="3000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 panose="020B0604020202020204" pitchFamily="34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kern="0">
                                <a:solidFill>
                                  <a:srgbClr val="000000">
                                    <a:alpha val="100000"/>
                                  </a:srgbClr>
                                </a:solidFill>
                                <a:latin typeface="Cambria Math" panose="02040503050406030204" pitchFamily="18" charset="0"/>
                                <a:ea typeface="Arial"/>
                                <a:cs typeface="Arial" panose="020B0604020202020204" pitchFamily="34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,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outcome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en-US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endParaRPr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ts val="4959"/>
                  </a:lnSpc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Poten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al outcome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𝑌</m:t>
                        </m:r>
                      </m:e>
                      <m:sub>
                        <m:r>
                          <a:rPr lang="en-US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3000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3000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𝑧</m:t>
                    </m:r>
                    <m:r>
                      <a:rPr lang="en-US" altLang="zh-CN" sz="3000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is 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xed</a:t>
                </a:r>
              </a:p>
              <a:p>
                <a:pPr marL="447675" indent="-215265" eaLnBrk="0">
                  <a:lnSpc>
                    <a:spcPct val="107000"/>
                  </a:lnSpc>
                  <a:spcBef>
                    <a:spcPts val="2505"/>
                  </a:spcBef>
                  <a:tabLst>
                    <a:tab pos="481965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	Bernoulli randomized treatment assignment:  randomly assign each to treatment with probability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Arial" panose="020B0604020202020204" pitchFamily="34" charset="0"/>
                      </a:rPr>
                      <m:t>𝑝</m:t>
                    </m:r>
                  </m:oMath>
                </a14:m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47675" indent="-215265" eaLnBrk="0">
                  <a:lnSpc>
                    <a:spcPct val="107000"/>
                  </a:lnSpc>
                  <a:spcBef>
                    <a:spcPts val="2505"/>
                  </a:spcBef>
                  <a:tabLst>
                    <a:tab pos="48196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pr</m:t>
                      </m:r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3000" b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𝐙</m:t>
                      </m:r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3000" b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𝐳</m:t>
                      </m:r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zh-CN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 </m:t>
                          </m:r>
                        </m:e>
                      </m:nary>
                      <m:r>
                        <m:rPr>
                          <m:sty m:val="p"/>
                        </m:rP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pr</m:t>
                      </m:r>
                      <m:d>
                        <m:dPr>
                          <m:ctrlPr>
                            <a:rPr lang="zh-CN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zh-CN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 </m:t>
                          </m:r>
                        </m:e>
                      </m:nary>
                      <m:sSup>
                        <m:sSupPr>
                          <m:ctrlPr>
                            <a:rPr lang="zh-CN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  <m:sup>
                          <m:sSub>
                            <m:sSub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(1−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zh-CN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51485" indent="-219075" eaLnBrk="0">
                  <a:lnSpc>
                    <a:spcPct val="110000"/>
                  </a:lnSpc>
                  <a:spcBef>
                    <a:spcPts val="3078"/>
                  </a:spcBef>
                  <a:tabLst>
                    <a:tab pos="46863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	Comple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te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ly randomized treatment assignment:  randomly assign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 ker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out of </a:t>
                </a:r>
                <a14:m>
                  <m:oMath xmlns:m="http://schemas.openxmlformats.org/officeDocument/2006/math">
                    <m:r>
                      <a:rPr lang="en-US" altLang="zh-CN" sz="3000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𝑛</m:t>
                    </m:r>
                  </m:oMath>
                </a14:m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to treatment</a:t>
                </a:r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51485" indent="-219075" eaLnBrk="0">
                  <a:lnSpc>
                    <a:spcPct val="110000"/>
                  </a:lnSpc>
                  <a:spcBef>
                    <a:spcPts val="3078"/>
                  </a:spcBef>
                  <a:tabLst>
                    <a:tab pos="46863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pr</m:t>
                      </m:r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3000" b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𝐙</m:t>
                      </m:r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3000" b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𝐳</m:t>
                      </m:r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f>
                            <m:fPr>
                              <m:type m:val="noBar"/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zh-CN" sz="30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3000" b="1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51485" indent="-219075" eaLnBrk="0">
                  <a:lnSpc>
                    <a:spcPct val="110000"/>
                  </a:lnSpc>
                  <a:spcBef>
                    <a:spcPts val="3078"/>
                  </a:spcBef>
                  <a:tabLst>
                    <a:tab pos="468630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Randomness comes solely from </a:t>
                </a:r>
                <a14:m>
                  <m:oMath xmlns:m="http://schemas.openxmlformats.org/officeDocument/2006/math">
                    <m:r>
                      <a:rPr lang="en-US" altLang="zh-CN" sz="3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𝐙</m:t>
                    </m:r>
                  </m:oMath>
                </a14:m>
                <a:endParaRPr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04" name="textbox 4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68" y="1721086"/>
                <a:ext cx="12536802" cy="7738110"/>
              </a:xfrm>
              <a:prstGeom prst="rect">
                <a:avLst/>
              </a:prstGeom>
              <a:blipFill>
                <a:blip r:embed="rId2"/>
                <a:stretch>
                  <a:fillRect t="-1148" r="-1923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6" name="picture 4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3270" y="8533656"/>
            <a:ext cx="195795" cy="195795"/>
          </a:xfrm>
          <a:prstGeom prst="rect">
            <a:avLst/>
          </a:prstGeom>
        </p:spPr>
      </p:pic>
      <p:pic>
        <p:nvPicPr>
          <p:cNvPr id="410" name="picture 4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50983" y="5978841"/>
            <a:ext cx="195795" cy="195795"/>
          </a:xfrm>
          <a:prstGeom prst="rect">
            <a:avLst/>
          </a:prstGeom>
        </p:spPr>
      </p:pic>
      <p:pic>
        <p:nvPicPr>
          <p:cNvPr id="414" name="picture 4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3270" y="3288027"/>
            <a:ext cx="195795" cy="195795"/>
          </a:xfrm>
          <a:prstGeom prst="rect">
            <a:avLst/>
          </a:prstGeom>
        </p:spPr>
      </p:pic>
      <p:pic>
        <p:nvPicPr>
          <p:cNvPr id="416" name="picture 4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3270" y="2439153"/>
            <a:ext cx="195795" cy="195795"/>
          </a:xfrm>
          <a:prstGeom prst="rect">
            <a:avLst/>
          </a:prstGeom>
        </p:spPr>
      </p:pic>
      <p:pic>
        <p:nvPicPr>
          <p:cNvPr id="418" name="picture 4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3270" y="1871277"/>
            <a:ext cx="195795" cy="195795"/>
          </a:xfrm>
          <a:prstGeom prst="rect">
            <a:avLst/>
          </a:prstGeom>
        </p:spPr>
      </p:pic>
      <p:sp>
        <p:nvSpPr>
          <p:cNvPr id="420" name="rect 420"/>
          <p:cNvSpPr/>
          <p:nvPr/>
        </p:nvSpPr>
        <p:spPr>
          <a:xfrm>
            <a:off x="1" y="795"/>
            <a:ext cx="13824012" cy="105033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0"/>
          </a:p>
        </p:txBody>
      </p:sp>
      <p:sp>
        <p:nvSpPr>
          <p:cNvPr id="422" name="textbox 422"/>
          <p:cNvSpPr/>
          <p:nvPr/>
        </p:nvSpPr>
        <p:spPr>
          <a:xfrm>
            <a:off x="335641" y="312700"/>
            <a:ext cx="8389260" cy="628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rtl="0" eaLnBrk="0">
              <a:lnSpc>
                <a:spcPct val="93000"/>
              </a:lnSpc>
              <a:tabLst/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Randomization-based inference</a:t>
            </a:r>
            <a:endParaRPr sz="4200" dirty="0">
              <a:latin typeface="Arial"/>
              <a:ea typeface="Arial"/>
              <a:cs typeface="Arial"/>
            </a:endParaRPr>
          </a:p>
        </p:txBody>
      </p:sp>
      <p:sp>
        <p:nvSpPr>
          <p:cNvPr id="424" name="textbox 424"/>
          <p:cNvSpPr/>
          <p:nvPr/>
        </p:nvSpPr>
        <p:spPr>
          <a:xfrm>
            <a:off x="12989284" y="10024524"/>
            <a:ext cx="630552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8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500" kern="0" spc="-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84" name="textbox 184"/>
              <p:cNvSpPr/>
              <p:nvPr/>
            </p:nvSpPr>
            <p:spPr>
              <a:xfrm>
                <a:off x="805168" y="2072859"/>
                <a:ext cx="12592050" cy="685609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3080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ar-AE" altLang="zh-CN" sz="3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ar-AE" altLang="zh-CN" sz="3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sSub>
                      <m:sSubPr>
                        <m:ctrlPr>
                          <a:rPr lang="ar-AE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ar-AE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3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sSub>
                      <m:sSubPr>
                        <m:ctrlPr>
                          <a:rPr lang="ar-AE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3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</m:t>
                    </m:r>
                  </m:oMath>
                </a14:m>
                <a:r>
                  <a:rPr lang="ar-AE" altLang="zh-CN" sz="3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altLang="zh-C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" altLang="zh-C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" altLang="zh-CN" sz="3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" altLang="zh-CN" sz="30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14000"/>
                  </a:lnSpc>
                  <a:tabLst/>
                </a:pP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ts val="3966"/>
                  </a:lnSpc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ar-AE" altLang="zh-CN" sz="3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altLang="zh-CN" sz="21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lang="en" altLang="zh-C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is called a sharp null or a strong null</a:t>
                </a:r>
              </a:p>
              <a:p>
                <a:pPr marL="1064895" eaLnBrk="0">
                  <a:lnSpc>
                    <a:spcPct val="93000"/>
                  </a:lnSpc>
                  <a:spcBef>
                    <a:spcPts val="831"/>
                  </a:spcBef>
                  <a:tabLst>
                    <a:tab pos="1283970" algn="l"/>
                  </a:tabLst>
                </a:pPr>
                <a:r>
                  <a:rPr lang="en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observed data determine all the potential outcomes 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-US" sz="27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064895" eaLnBrk="0">
                  <a:lnSpc>
                    <a:spcPct val="93000"/>
                  </a:lnSpc>
                  <a:spcBef>
                    <a:spcPts val="831"/>
                  </a:spcBef>
                  <a:tabLst>
                    <a:tab pos="1283970" algn="l"/>
                  </a:tabLst>
                </a:pPr>
                <a:r>
                  <a:rPr lang="en-US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27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sSub>
                      <m:sSubPr>
                        <m:ctrlP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27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sSub>
                      <m:sSubPr>
                        <m:ctrlP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lang="en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" altLang="zh-CN" sz="2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endParaRPr lang="en" altLang="zh-CN" sz="2700" dirty="0">
                  <a:solidFill>
                    <a:srgbClr val="000000"/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064895" eaLnBrk="0">
                  <a:lnSpc>
                    <a:spcPct val="93000"/>
                  </a:lnSpc>
                  <a:spcBef>
                    <a:spcPts val="831"/>
                  </a:spcBef>
                  <a:tabLst>
                    <a:tab pos="1283970" algn="l"/>
                  </a:tabLst>
                </a:pP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903"/>
                  </a:spcBef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lang="en" altLang="zh-C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FRT works for any test statistic:  </a:t>
                </a:r>
                <a14:m>
                  <m:oMath xmlns:m="http://schemas.openxmlformats.org/officeDocument/2006/math">
                    <m:r>
                      <a:rPr lang="en" altLang="zh-C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" altLang="zh-CN" sz="3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" altLang="zh-C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" altLang="zh-CN" sz="3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" altLang="zh-CN" sz="30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𝐙</m:t>
                    </m:r>
                    <m:r>
                      <a:rPr lang="en" altLang="zh-CN" sz="3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" altLang="zh-CN" sz="30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𝐘</m:t>
                    </m:r>
                    <m:r>
                      <a:rPr lang="en" altLang="zh-CN" sz="3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(1),</m:t>
                    </m:r>
                    <m:r>
                      <a:rPr lang="en" altLang="zh-CN" sz="30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𝐘</m:t>
                    </m:r>
                    <m:r>
                      <a:rPr lang="en" altLang="zh-CN" sz="30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(0))</m:t>
                    </m:r>
                  </m:oMath>
                </a14:m>
                <a:r>
                  <a:rPr lang="en" altLang="zh-CN" sz="30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-US" sz="27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299207" indent="-234315" eaLnBrk="0">
                  <a:lnSpc>
                    <a:spcPct val="98000"/>
                  </a:lnSpc>
                  <a:spcBef>
                    <a:spcPts val="756"/>
                  </a:spcBef>
                  <a:tabLst>
                    <a:tab pos="1280157" algn="l"/>
                  </a:tabLst>
                </a:pPr>
                <a:r>
                  <a:rPr lang="en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the only random component in </a:t>
                </a:r>
                <a14:m>
                  <m:oMath xmlns:m="http://schemas.openxmlformats.org/officeDocument/2006/math">
                    <m:r>
                      <a:rPr lang="en" altLang="zh-CN" sz="2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" altLang="zh-CN" sz="2700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is</a:t>
                </a:r>
                <a:r>
                  <a:rPr lang="en" altLang="zh-CN" sz="2700" dirty="0">
                    <a:solidFill>
                      <a:srgbClr val="000000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" altLang="zh-CN" sz="27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𝐙</m:t>
                    </m:r>
                  </m:oMath>
                </a14:m>
                <a:r>
                  <a:rPr lang="en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, which is uniform over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altLang="zh-CN" sz="3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ar-AE" altLang="zh-CN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altLang="zh-CN" sz="30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𝐳</m:t>
                            </m:r>
                          </m:e>
                          <m:sup>
                            <m:r>
                              <a:rPr lang="ar-AE" altLang="zh-CN" sz="30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ar-AE" altLang="zh-CN" sz="30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,…,</m:t>
                        </m:r>
                        <m:sSup>
                          <m:sSupPr>
                            <m:ctrlPr>
                              <a:rPr lang="ar-AE" altLang="zh-CN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ar-AE" altLang="zh-CN" sz="3000" b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𝐳</m:t>
                            </m:r>
                          </m:e>
                          <m:sup>
                            <m:r>
                              <a:rPr lang="ar-AE" altLang="zh-CN" sz="30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𝑀</m:t>
                            </m:r>
                          </m:sup>
                        </m:sSup>
                      </m:e>
                    </m:d>
                  </m:oMath>
                </a14:m>
                <a:r>
                  <a:rPr lang="ar-AE" altLang="zh-C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, </a:t>
                </a:r>
                <a:r>
                  <a:rPr lang="en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2700" b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𝐳</m:t>
                        </m:r>
                      </m:e>
                      <m:sup>
                        <m: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ar-AE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'</a:t>
                </a:r>
                <a:r>
                  <a:rPr lang="en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 are all possible vectors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ar-AE" altLang="zh-CN" sz="27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1'</a:t>
                </a:r>
                <a:r>
                  <a:rPr lang="en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ar-AE" altLang="zh-CN" sz="27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0’</a:t>
                </a:r>
                <a:r>
                  <a:rPr lang="en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</a:t>
                </a:r>
              </a:p>
              <a:p>
                <a:pPr marL="1299207" indent="-234315" eaLnBrk="0">
                  <a:lnSpc>
                    <a:spcPct val="98000"/>
                  </a:lnSpc>
                  <a:spcBef>
                    <a:spcPts val="756"/>
                  </a:spcBef>
                  <a:tabLst>
                    <a:tab pos="1280157" algn="l"/>
                  </a:tabLst>
                </a:pPr>
                <a:r>
                  <a:rPr lang="en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altLang="zh-CN" sz="27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ar-AE" altLang="zh-CN" sz="27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ar-AE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ar-AE" altLang="zh-CN" sz="2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ar-AE" altLang="zh-CN" sz="27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ar-AE" altLang="zh-CN" sz="27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ar-AE" altLang="zh-CN" sz="27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ar-AE" altLang="zh-CN" sz="27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𝐙</m:t>
                    </m:r>
                    <m:r>
                      <a:rPr lang="ar-AE" altLang="zh-CN" sz="27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ar-AE" altLang="zh-CN" sz="27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𝐘</m:t>
                    </m:r>
                    <m:r>
                      <a:rPr lang="ar-AE" altLang="zh-CN" sz="27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ar-AE" altLang="zh-CN" sz="27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is uniform over the set</a:t>
                </a:r>
                <a:r>
                  <a:rPr lang="en" altLang="zh-CN" sz="2700" dirty="0">
                    <a:solidFill>
                      <a:srgbClr val="000000"/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</a:p>
              <a:p>
                <a:pPr marL="1064895" eaLnBrk="0">
                  <a:lnSpc>
                    <a:spcPct val="125000"/>
                  </a:lnSpc>
                  <a:tabLst>
                    <a:tab pos="130302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ar-AE" altLang="zh-CN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altLang="zh-CN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ar-AE" altLang="zh-CN"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altLang="zh-CN" sz="27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altLang="zh-CN" sz="27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𝐳</m:t>
                                  </m:r>
                                </m:e>
                                <m:sup>
                                  <m:r>
                                    <a:rPr lang="ar-AE" altLang="zh-CN" sz="27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ar-AE" altLang="zh-CN"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ar-AE" altLang="zh-CN" sz="27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𝐘</m:t>
                              </m:r>
                            </m:e>
                          </m:d>
                          <m:r>
                            <a:rPr lang="ar-AE" altLang="zh-CN" sz="27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,…,</m:t>
                          </m:r>
                          <m:r>
                            <a:rPr lang="ar-AE" altLang="zh-CN" sz="27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ar-AE" altLang="zh-CN" sz="27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ar-AE" altLang="zh-CN" sz="27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altLang="zh-CN" sz="2700" b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𝐳</m:t>
                                  </m:r>
                                </m:e>
                                <m:sup>
                                  <m:r>
                                    <a:rPr lang="ar-AE" altLang="zh-CN" sz="27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𝑀</m:t>
                                  </m:r>
                                </m:sup>
                              </m:sSup>
                              <m:r>
                                <a:rPr lang="ar-AE" altLang="zh-CN" sz="27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ar-AE" altLang="zh-CN" sz="2700" b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𝐘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ar-AE" altLang="zh-CN" sz="2700" b="1" dirty="0">
                  <a:solidFill>
                    <a:srgbClr val="000000"/>
                  </a:solidFill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marL="1064895" eaLnBrk="0">
                  <a:spcBef>
                    <a:spcPts val="570"/>
                  </a:spcBef>
                  <a:tabLst>
                    <a:tab pos="1303020" algn="l"/>
                  </a:tabLst>
                </a:pPr>
                <a:r>
                  <a:rPr lang="ar-AE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lang="en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the distribution of </a:t>
                </a:r>
                <a14:m>
                  <m:oMath xmlns:m="http://schemas.openxmlformats.org/officeDocument/2006/math">
                    <m:r>
                      <a:rPr lang="en" altLang="zh-CN" sz="2700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 panose="020B0604020202090204"/>
                        <a:cs typeface="Arial" panose="020B0604020202090204"/>
                      </a:rPr>
                      <m:t>𝑇</m:t>
                    </m:r>
                  </m:oMath>
                </a14:m>
                <a:r>
                  <a:rPr lang="en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is known under the CRE design</a:t>
                </a:r>
              </a:p>
              <a:p>
                <a:pPr marL="232410" eaLnBrk="0">
                  <a:lnSpc>
                    <a:spcPct val="92000"/>
                  </a:lnSpc>
                  <a:spcBef>
                    <a:spcPts val="903"/>
                  </a:spcBef>
                  <a:tabLst>
                    <a:tab pos="480060" algn="l"/>
                  </a:tabLst>
                </a:pPr>
                <a:endParaRPr lang="en-US" sz="27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84" name="textbox 1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68" y="2072859"/>
                <a:ext cx="12592050" cy="6856095"/>
              </a:xfrm>
              <a:prstGeom prst="rect">
                <a:avLst/>
              </a:prstGeom>
              <a:blipFill>
                <a:blip r:embed="rId2"/>
                <a:stretch>
                  <a:fillRect t="-1294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6" name="picture 1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2598" y="7848939"/>
            <a:ext cx="157755" cy="157755"/>
          </a:xfrm>
          <a:prstGeom prst="rect">
            <a:avLst/>
          </a:prstGeom>
        </p:spPr>
      </p:pic>
      <p:pic>
        <p:nvPicPr>
          <p:cNvPr id="188" name="picture 1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2598" y="6864585"/>
            <a:ext cx="157755" cy="157755"/>
          </a:xfrm>
          <a:prstGeom prst="rect">
            <a:avLst/>
          </a:prstGeom>
        </p:spPr>
      </p:pic>
      <p:pic>
        <p:nvPicPr>
          <p:cNvPr id="190" name="picture 1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12598" y="5877414"/>
            <a:ext cx="157755" cy="157755"/>
          </a:xfrm>
          <a:prstGeom prst="rect">
            <a:avLst/>
          </a:prstGeom>
        </p:spPr>
      </p:pic>
      <p:pic>
        <p:nvPicPr>
          <p:cNvPr id="192" name="picture 19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3270" y="5288910"/>
            <a:ext cx="195795" cy="195795"/>
          </a:xfrm>
          <a:prstGeom prst="rect">
            <a:avLst/>
          </a:prstGeom>
        </p:spPr>
      </p:pic>
      <p:pic>
        <p:nvPicPr>
          <p:cNvPr id="194" name="picture 19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12598" y="4287618"/>
            <a:ext cx="157755" cy="157755"/>
          </a:xfrm>
          <a:prstGeom prst="rect">
            <a:avLst/>
          </a:prstGeom>
        </p:spPr>
      </p:pic>
      <p:pic>
        <p:nvPicPr>
          <p:cNvPr id="196" name="picture 19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712598" y="3793998"/>
            <a:ext cx="157755" cy="157755"/>
          </a:xfrm>
          <a:prstGeom prst="rect">
            <a:avLst/>
          </a:prstGeom>
        </p:spPr>
      </p:pic>
      <p:pic>
        <p:nvPicPr>
          <p:cNvPr id="198" name="picture 19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843270" y="3224583"/>
            <a:ext cx="195795" cy="195795"/>
          </a:xfrm>
          <a:prstGeom prst="rect">
            <a:avLst/>
          </a:prstGeom>
        </p:spPr>
      </p:pic>
      <p:pic>
        <p:nvPicPr>
          <p:cNvPr id="200" name="picture 20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43270" y="2223051"/>
            <a:ext cx="195795" cy="195795"/>
          </a:xfrm>
          <a:prstGeom prst="rect">
            <a:avLst/>
          </a:prstGeom>
        </p:spPr>
      </p:pic>
      <p:sp>
        <p:nvSpPr>
          <p:cNvPr id="202" name="textbox 202"/>
          <p:cNvSpPr/>
          <p:nvPr/>
        </p:nvSpPr>
        <p:spPr>
          <a:xfrm>
            <a:off x="3" y="793"/>
            <a:ext cx="13824585" cy="105156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2400" dirty="0">
              <a:latin typeface="Arial"/>
              <a:ea typeface="Arial"/>
              <a:cs typeface="Arial"/>
            </a:endParaRPr>
          </a:p>
          <a:p>
            <a:pPr marL="371475" eaLnBrk="0">
              <a:lnSpc>
                <a:spcPct val="75000"/>
              </a:lnSpc>
              <a:spcBef>
                <a:spcPts val="9"/>
              </a:spcBef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Fisher randomization test </a:t>
            </a:r>
            <a:r>
              <a:rPr sz="21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(Fisher, 1935)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12989287" y="10024512"/>
            <a:ext cx="630552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r>
              <a:rPr sz="1500" kern="0" spc="6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19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206"/>
              <p:cNvSpPr/>
              <p:nvPr/>
            </p:nvSpPr>
            <p:spPr>
              <a:xfrm>
                <a:off x="805170" y="1858782"/>
                <a:ext cx="12635865" cy="721804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24267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47675" indent="-215265" eaLnBrk="0">
                  <a:lnSpc>
                    <a:spcPct val="107000"/>
                  </a:lnSpc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	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If larger values are more extreme for </a:t>
                </a:r>
                <a14:m>
                  <m:oMath xmlns:m="http://schemas.openxmlformats.org/officeDocument/2006/math">
                    <m:r>
                      <a:rPr lang="en" altLang="zh-CN" sz="3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, we can use the tail probability to measure the extremeness with respect to its randomization distribution</a:t>
                </a:r>
              </a:p>
              <a:p>
                <a:pPr marL="447675" indent="-215265" eaLnBrk="0">
                  <a:lnSpc>
                    <a:spcPct val="107000"/>
                  </a:lnSpc>
                  <a:tabLst>
                    <a:tab pos="480060" algn="l"/>
                  </a:tabLst>
                </a:pPr>
                <a:endParaRPr lang="en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47675" indent="-215265" eaLnBrk="0">
                  <a:lnSpc>
                    <a:spcPct val="107000"/>
                  </a:lnSpc>
                  <a:tabLst>
                    <a:tab pos="480060" algn="l"/>
                  </a:tabLst>
                </a:pPr>
                <a:endParaRPr lang="en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47675" indent="-215265" eaLnBrk="0">
                  <a:lnSpc>
                    <a:spcPct val="107000"/>
                  </a:lnSpc>
                  <a:tabLst>
                    <a:tab pos="480060" algn="l"/>
                  </a:tabLst>
                </a:pPr>
                <a:endParaRPr lang="en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47675" indent="-215265" eaLnBrk="0">
                  <a:lnSpc>
                    <a:spcPct val="107000"/>
                  </a:lnSpc>
                  <a:tabLst>
                    <a:tab pos="480060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which is called the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-value by Fisher.</a:t>
                </a:r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47675" indent="-215265" eaLnBrk="0">
                  <a:lnSpc>
                    <a:spcPct val="107000"/>
                  </a:lnSpc>
                  <a:tabLst>
                    <a:tab pos="480060" algn="l"/>
                  </a:tabLst>
                </a:pPr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06" name="textbox 2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70" y="1858782"/>
                <a:ext cx="12635865" cy="7218045"/>
              </a:xfrm>
              <a:prstGeom prst="rect">
                <a:avLst/>
              </a:prstGeom>
              <a:blipFill>
                <a:blip r:embed="rId2"/>
                <a:stretch>
                  <a:fillRect t="-1406" r="-2410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8" name="picture 2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3363" y="7632624"/>
            <a:ext cx="157755" cy="157755"/>
          </a:xfrm>
          <a:prstGeom prst="rect">
            <a:avLst/>
          </a:prstGeom>
        </p:spPr>
      </p:pic>
      <p:pic>
        <p:nvPicPr>
          <p:cNvPr id="210" name="picture 2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3363" y="6432654"/>
            <a:ext cx="157755" cy="157755"/>
          </a:xfrm>
          <a:prstGeom prst="rect">
            <a:avLst/>
          </a:prstGeom>
        </p:spPr>
      </p:pic>
      <p:pic>
        <p:nvPicPr>
          <p:cNvPr id="212" name="picture 2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712595" y="5367198"/>
            <a:ext cx="157755" cy="157755"/>
          </a:xfrm>
          <a:prstGeom prst="rect">
            <a:avLst/>
          </a:prstGeom>
        </p:spPr>
      </p:pic>
      <p:pic>
        <p:nvPicPr>
          <p:cNvPr id="216" name="picture 2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3270" y="2008971"/>
            <a:ext cx="195795" cy="195795"/>
          </a:xfrm>
          <a:prstGeom prst="rect">
            <a:avLst/>
          </a:prstGeom>
        </p:spPr>
      </p:pic>
      <p:sp>
        <p:nvSpPr>
          <p:cNvPr id="218" name="rect 218"/>
          <p:cNvSpPr/>
          <p:nvPr/>
        </p:nvSpPr>
        <p:spPr>
          <a:xfrm>
            <a:off x="1" y="795"/>
            <a:ext cx="13824012" cy="105033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0"/>
          </a:p>
        </p:txBody>
      </p:sp>
      <p:sp>
        <p:nvSpPr>
          <p:cNvPr id="220" name="textbox 220"/>
          <p:cNvSpPr/>
          <p:nvPr/>
        </p:nvSpPr>
        <p:spPr>
          <a:xfrm>
            <a:off x="335095" y="347685"/>
            <a:ext cx="8808906" cy="558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33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ct val="75000"/>
              </a:lnSpc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Fisher randomization test </a:t>
            </a:r>
            <a:r>
              <a:rPr sz="21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(Fisher, 1935)</a:t>
            </a:r>
            <a:endParaRPr sz="2100" dirty="0">
              <a:latin typeface="Arial"/>
              <a:ea typeface="Arial"/>
              <a:cs typeface="Arial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12879249" y="10024524"/>
            <a:ext cx="741045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10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19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A1F1989-AD54-F8EF-24D8-2A6DF2558A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709128"/>
              </p:ext>
            </p:extLst>
          </p:nvPr>
        </p:nvGraphicFramePr>
        <p:xfrm>
          <a:off x="3" y="3012414"/>
          <a:ext cx="15038661" cy="13954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7" imgW="5486400" imgH="508000" progId="Word.Document.12">
                  <p:embed/>
                </p:oleObj>
              </mc:Choice>
              <mc:Fallback>
                <p:oleObj name="文档" r:id="rId7" imgW="5486400" imgH="508000" progId="Word.Document.12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86746A7-0DCE-5C00-F105-1F9763A4BE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" y="3012414"/>
                        <a:ext cx="15038661" cy="13954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52E46B7-AB32-ACAA-17AE-CA265239BC25}"/>
                  </a:ext>
                </a:extLst>
              </p:cNvPr>
              <p:cNvSpPr txBox="1"/>
              <p:nvPr/>
            </p:nvSpPr>
            <p:spPr>
              <a:xfrm>
                <a:off x="2097223" y="5112570"/>
                <a:ext cx="11343810" cy="35086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3600"/>
                  </a:lnSpc>
                  <a:spcAft>
                    <a:spcPts val="1800"/>
                  </a:spcAft>
                  <a:tabLst>
                    <a:tab pos="20574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7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FRT</m:t>
                        </m:r>
                      </m:sub>
                    </m:sSub>
                  </m:oMath>
                </a14:m>
                <a:r>
                  <a:rPr lang="en-US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is one-sided. We can define two sided </a:t>
                </a:r>
                <a14:m>
                  <m:oMath xmlns:m="http://schemas.openxmlformats.org/officeDocument/2006/math">
                    <m:r>
                      <a:rPr lang="en-US" altLang="zh-CN" sz="2700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𝑝</m:t>
                    </m:r>
                  </m:oMath>
                </a14:m>
                <a:r>
                  <a:rPr lang="en-US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-values by using the test statistic </a:t>
                </a:r>
                <a14:m>
                  <m:oMath xmlns:m="http://schemas.openxmlformats.org/officeDocument/2006/math"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.</a:t>
                </a:r>
                <a:endParaRPr lang="zh-CN" altLang="zh-CN" sz="27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>
                  <a:lnSpc>
                    <a:spcPts val="3600"/>
                  </a:lnSpc>
                  <a:spcAft>
                    <a:spcPts val="1800"/>
                  </a:spcAft>
                  <a:tabLst>
                    <a:tab pos="2057400" algn="l"/>
                  </a:tabLst>
                </a:pPr>
                <a:r>
                  <a:rPr lang="en-US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                                                                                          , where 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(⋅)</m:t>
                    </m:r>
                  </m:oMath>
                </a14:m>
                <a:r>
                  <a:rPr lang="en-US" altLang="zh-CN" sz="27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is the distribution of </a:t>
                </a:r>
                <a14:m>
                  <m:oMath xmlns:m="http://schemas.openxmlformats.org/officeDocument/2006/math"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7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𝐙</m:t>
                    </m:r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7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𝐘</m:t>
                    </m:r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.</a:t>
                </a:r>
                <a:endParaRPr lang="zh-CN" altLang="zh-CN" sz="27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>
                  <a:lnSpc>
                    <a:spcPts val="3600"/>
                  </a:lnSpc>
                  <a:spcAft>
                    <a:spcPts val="1800"/>
                  </a:spcAft>
                  <a:tabLst>
                    <a:tab pos="2057400" algn="l"/>
                  </a:tabLst>
                </a:pPr>
                <a:r>
                  <a:rPr lang="en-US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If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700" b="0" i="1" kern="0" smtClea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altLang="zh-CN" sz="2700" b="0" i="1" kern="0" smtClea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𝑍</m:t>
                        </m:r>
                      </m:e>
                      <m:sup>
                        <m:r>
                          <m:rPr>
                            <m:nor/>
                          </m:rPr>
                          <a:rPr lang="en-US" altLang="zh-CN" sz="2700" b="0" i="0" kern="0" smtClean="0">
                            <a:solidFill>
                              <a:srgbClr val="000000">
                                <a:alpha val="100000"/>
                              </a:srgbClr>
                            </a:solidFill>
                            <a:latin typeface="Cambria Math" panose="02040503050406030204" pitchFamily="18" charset="0"/>
                            <a:ea typeface="Arial"/>
                            <a:cs typeface="Arial" panose="020B0604020202020204" pitchFamily="34" charset="0"/>
                          </a:rPr>
                          <m:t>obs</m:t>
                        </m:r>
                      </m:sup>
                    </m:sSup>
                  </m:oMath>
                </a14:m>
                <a:r>
                  <a:rPr lang="en-US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is generated in a CRE</a:t>
                </a:r>
                <a:endParaRPr kumimoji="1" lang="en-US" altLang="zh-CN" sz="27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ctr">
                  <a:tabLst>
                    <a:tab pos="2057400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pr</m:t>
                    </m:r>
                    <m:d>
                      <m:d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7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FRT</m:t>
                            </m:r>
                          </m:sub>
                        </m:s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pr</m:t>
                    </m:r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(1−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)≤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pr</m:t>
                    </m:r>
                    <m:d>
                      <m:d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𝑇</m:t>
                        </m:r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≥</m:t>
                        </m:r>
                        <m:sSup>
                          <m:sSupPr>
                            <m:ctrlPr>
                              <a:rPr lang="zh-CN" altLang="zh-CN" sz="27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7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altLang="zh-CN" sz="27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(1−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𝑢</m:t>
                        </m:r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d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≤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𝑢</m:t>
                    </m:r>
                  </m:oMath>
                </a14:m>
                <a:r>
                  <a:rPr lang="zh-CN" altLang="zh-CN" sz="2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27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52E46B7-AB32-ACAA-17AE-CA265239BC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223" y="5112570"/>
                <a:ext cx="11343810" cy="3508653"/>
              </a:xfrm>
              <a:prstGeom prst="rect">
                <a:avLst/>
              </a:prstGeom>
              <a:blipFill>
                <a:blip r:embed="rId9"/>
                <a:stretch>
                  <a:fillRect l="-1007" t="-1444" r="-671" b="-2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F684D74-156D-322F-6D56-9A62877C46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3836511"/>
              </p:ext>
            </p:extLst>
          </p:nvPr>
        </p:nvGraphicFramePr>
        <p:xfrm>
          <a:off x="-1674275" y="6167527"/>
          <a:ext cx="16558800" cy="8442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5486400" imgH="279400" progId="Word.Document.12">
                  <p:embed/>
                </p:oleObj>
              </mc:Choice>
              <mc:Fallback>
                <p:oleObj name="文档" r:id="rId10" imgW="5486400" imgH="2794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-1674275" y="6167527"/>
                        <a:ext cx="16558800" cy="8442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98" name="textbox 498"/>
              <p:cNvSpPr/>
              <p:nvPr/>
            </p:nvSpPr>
            <p:spPr>
              <a:xfrm>
                <a:off x="805170" y="1979959"/>
                <a:ext cx="12392025" cy="677799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55868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53390" indent="-220980" eaLnBrk="0">
                  <a:lnSpc>
                    <a:spcPct val="110000"/>
                  </a:lnSpc>
                  <a:tabLst>
                    <a:tab pos="480060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In practice,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altLang="zh-CN" sz="30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is o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ft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en large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=100,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=50,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𝑀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&gt;</m:t>
                        </m:r>
                        <m:sSup>
                          <m:sSup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29</m:t>
                            </m:r>
                          </m:sup>
                        </m:sSup>
                      </m:e>
                    </m:d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⇝</m:t>
                    </m:r>
                  </m:oMath>
                </a14:m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computationally infeasible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21000"/>
                  </a:lnSpc>
                  <a:tabLst/>
                </a:pP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72440" indent="-240030" eaLnBrk="0">
                  <a:lnSpc>
                    <a:spcPct val="107000"/>
                  </a:lnSpc>
                  <a:spcBef>
                    <a:spcPts val="912"/>
                  </a:spcBef>
                  <a:tabLst>
                    <a:tab pos="451485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Approximation by Monte Carlo:  randomly sample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𝐙</m:t>
                    </m:r>
                  </m:oMath>
                </a14:m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, or equivalent,   randomly permute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b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𝐙</m:t>
                    </m:r>
                  </m:oMath>
                </a14:m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72440" indent="-240030" eaLnBrk="0">
                  <a:lnSpc>
                    <a:spcPct val="107000"/>
                  </a:lnSpc>
                  <a:spcBef>
                    <a:spcPts val="912"/>
                  </a:spcBef>
                  <a:tabLst>
                    <a:tab pos="451485" algn="l"/>
                  </a:tabLst>
                </a:pPr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72440" indent="-240030" eaLnBrk="0">
                  <a:lnSpc>
                    <a:spcPct val="107000"/>
                  </a:lnSpc>
                  <a:spcBef>
                    <a:spcPts val="912"/>
                  </a:spcBef>
                  <a:tabLst>
                    <a:tab pos="451485" algn="l"/>
                  </a:tabLst>
                </a:pPr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72440" indent="-240030" eaLnBrk="0">
                  <a:lnSpc>
                    <a:spcPct val="107000"/>
                  </a:lnSpc>
                  <a:spcBef>
                    <a:spcPts val="912"/>
                  </a:spcBef>
                  <a:tabLst>
                    <a:tab pos="451485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Normal approximation based on 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nite population CLT (Hajek, 1960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)</a:t>
                </a:r>
                <a:endParaRPr lang="en-US" altLang="zh-CN" sz="3000" i="1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472440" indent="-240030" eaLnBrk="0">
                  <a:lnSpc>
                    <a:spcPct val="125000"/>
                  </a:lnSpc>
                  <a:spcBef>
                    <a:spcPts val="912"/>
                  </a:spcBef>
                  <a:tabLst>
                    <a:tab pos="45148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𝔼</m:t>
                          </m:r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var</m:t>
                          </m:r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3000" i="1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𝑇</m:t>
                          </m:r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  <m:limUpp>
                        <m:limUppPr>
                          <m:ctrlPr>
                            <a:rPr lang="zh-CN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limUppPr>
                        <m:e>
                          <m:r>
                            <a:rPr lang="en-US" altLang="zh-CN" sz="3000">
                              <a:latin typeface="Cambria Math" panose="02040503050406030204" pitchFamily="18" charset="0"/>
                              <a:ea typeface="DengXian" panose="02010600030101010101" pitchFamily="2" charset="-122"/>
                              <a:cs typeface="Times New Roman" panose="02020603050405020304" pitchFamily="18" charset="0"/>
                            </a:rPr>
                            <m:t>→</m:t>
                          </m:r>
                        </m:e>
                        <m:lim>
                          <m:phant>
                            <m:phantPr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phant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r>
                                <a:rPr lang="en-US" altLang="zh-CN" sz="30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phant>
                        </m:lim>
                      </m:limUpp>
                      <m:r>
                        <a:rPr lang="en-US" altLang="zh-CN" sz="30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(0,1)</m:t>
                      </m:r>
                    </m:oMath>
                  </m:oMathPara>
                </a14:m>
                <a:endParaRPr lang="zh-CN" altLang="zh-CN" sz="3300" dirty="0"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  <a:p>
                <a:pPr marL="472440" indent="-240030" eaLnBrk="0">
                  <a:lnSpc>
                    <a:spcPct val="107000"/>
                  </a:lnSpc>
                  <a:spcBef>
                    <a:spcPts val="912"/>
                  </a:spcBef>
                  <a:tabLst>
                    <a:tab pos="451485" algn="l"/>
                  </a:tabLst>
                </a:pPr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72440" indent="-240030" eaLnBrk="0">
                  <a:lnSpc>
                    <a:spcPct val="107000"/>
                  </a:lnSpc>
                  <a:spcBef>
                    <a:spcPts val="912"/>
                  </a:spcBef>
                  <a:tabLst>
                    <a:tab pos="451485" algn="l"/>
                  </a:tabLst>
                </a:pPr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72440" indent="-240030" eaLnBrk="0">
                  <a:lnSpc>
                    <a:spcPct val="107000"/>
                  </a:lnSpc>
                  <a:spcBef>
                    <a:spcPts val="912"/>
                  </a:spcBef>
                  <a:tabLst>
                    <a:tab pos="451485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98" name="textbox 4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70" y="1979959"/>
                <a:ext cx="12392025" cy="6777990"/>
              </a:xfrm>
              <a:prstGeom prst="rect">
                <a:avLst/>
              </a:prstGeom>
              <a:blipFill>
                <a:blip r:embed="rId2"/>
                <a:stretch>
                  <a:fillRect t="-1311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2" name="picture 5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3270" y="6085014"/>
            <a:ext cx="195795" cy="195795"/>
          </a:xfrm>
          <a:prstGeom prst="rect">
            <a:avLst/>
          </a:prstGeom>
        </p:spPr>
      </p:pic>
      <p:pic>
        <p:nvPicPr>
          <p:cNvPr id="506" name="picture 5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3270" y="3843861"/>
            <a:ext cx="195795" cy="195795"/>
          </a:xfrm>
          <a:prstGeom prst="rect">
            <a:avLst/>
          </a:prstGeom>
        </p:spPr>
      </p:pic>
      <p:pic>
        <p:nvPicPr>
          <p:cNvPr id="508" name="picture 5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3270" y="2177556"/>
            <a:ext cx="195795" cy="195795"/>
          </a:xfrm>
          <a:prstGeom prst="rect">
            <a:avLst/>
          </a:prstGeom>
        </p:spPr>
      </p:pic>
      <p:sp>
        <p:nvSpPr>
          <p:cNvPr id="510" name="rect 510"/>
          <p:cNvSpPr/>
          <p:nvPr/>
        </p:nvSpPr>
        <p:spPr>
          <a:xfrm>
            <a:off x="1" y="795"/>
            <a:ext cx="13824012" cy="105033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2" name="textbox 512"/>
              <p:cNvSpPr/>
              <p:nvPr/>
            </p:nvSpPr>
            <p:spPr>
              <a:xfrm>
                <a:off x="300661" y="312700"/>
                <a:ext cx="7395540" cy="62865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5732"/>
                  </a:lnSpc>
                  <a:tabLst/>
                </a:pPr>
                <a:endParaRPr sz="300" dirty="0">
                  <a:latin typeface="Arial"/>
                  <a:ea typeface="Arial"/>
                  <a:cs typeface="Arial"/>
                </a:endParaRPr>
              </a:p>
              <a:p>
                <a:pPr eaLnBrk="0">
                  <a:lnSpc>
                    <a:spcPct val="86000"/>
                  </a:lnSpc>
                </a:pPr>
                <a:r>
                  <a:rPr sz="4200" kern="0" dirty="0">
                    <a:solidFill>
                      <a:srgbClr val="CC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Approximation for the </a:t>
                </a:r>
                <a14:m>
                  <m:oMath xmlns:m="http://schemas.openxmlformats.org/officeDocument/2006/math">
                    <m:r>
                      <a:rPr lang="en-US" altLang="zh-CN" sz="4200" kern="0">
                        <a:solidFill>
                          <a:srgbClr val="CC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/>
                      </a:rPr>
                      <m:t>𝑝</m:t>
                    </m:r>
                  </m:oMath>
                </a14:m>
                <a:r>
                  <a:rPr sz="4200" kern="0" dirty="0">
                    <a:solidFill>
                      <a:srgbClr val="CC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-value</a:t>
                </a:r>
                <a:endParaRPr sz="42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12" name="textbox 5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661" y="312700"/>
                <a:ext cx="7395540" cy="628650"/>
              </a:xfrm>
              <a:prstGeom prst="rect">
                <a:avLst/>
              </a:prstGeom>
              <a:blipFill>
                <a:blip r:embed="rId6"/>
                <a:stretch>
                  <a:fillRect l="-4281" t="-34000" b="-46000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4" name="textbox 514"/>
          <p:cNvSpPr/>
          <p:nvPr/>
        </p:nvSpPr>
        <p:spPr>
          <a:xfrm>
            <a:off x="12879249" y="10024518"/>
            <a:ext cx="741045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500" kern="0" spc="-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500" kern="0" spc="-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A108E26-68F0-5179-85D0-346BD8BE0F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-1271845" y="4444207"/>
          <a:ext cx="16367703" cy="1481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7" imgW="5486400" imgH="495300" progId="Word.Document.12">
                  <p:embed/>
                </p:oleObj>
              </mc:Choice>
              <mc:Fallback>
                <p:oleObj name="文档" r:id="rId7" imgW="5486400" imgH="495300" progId="Word.Document.12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0A108E26-68F0-5179-85D0-346BD8BE0F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-1271845" y="4444207"/>
                        <a:ext cx="16367703" cy="148113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16" name="textbox 516"/>
              <p:cNvSpPr/>
              <p:nvPr/>
            </p:nvSpPr>
            <p:spPr>
              <a:xfrm>
                <a:off x="805168" y="1412623"/>
                <a:ext cx="12637770" cy="846963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79428"/>
                  </a:lnSpc>
                  <a:tabLst/>
                </a:pPr>
                <a:endParaRPr lang="en"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1000"/>
                  </a:lnSpc>
                  <a:tabLst>
                    <a:tab pos="480060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ar-AE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ar-AE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sSubSup>
                      <m:sSubSup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ar-AE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∑</m:t>
                        </m:r>
                      </m:e>
                      <m:sub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ar-AE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ar-AE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 </m:t>
                    </m:r>
                    <m:sSub>
                      <m:sSub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ar-AE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Sup>
                      <m:sSubSup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ar-AE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ar-AE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sSubSup>
                      <m:sSubSup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ar-AE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∑</m:t>
                        </m:r>
                      </m:e>
                      <m:sub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ar-AE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ar-AE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 </m:t>
                    </m:r>
                    <m:d>
                      <m:d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ar-AE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ar-AE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ar-AE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ar-AE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ar-AE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ar-AE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1000"/>
                  </a:lnSpc>
                  <a:tabLst>
                    <a:tab pos="480060" algn="l"/>
                  </a:tabLst>
                </a:pPr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1000"/>
                  </a:lnSpc>
                  <a:tabLst>
                    <a:tab pos="480060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We use CLT to approximate the distribution of under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the sharp null</a:t>
                </a:r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767965" eaLnBrk="0">
                  <a:lnSpc>
                    <a:spcPts val="8331"/>
                  </a:lnSpc>
                  <a:spcBef>
                    <a:spcPts val="1044"/>
                  </a:spcBef>
                  <a:tabLst>
                    <a:tab pos="10466070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949065" eaLnBrk="0">
                  <a:lnSpc>
                    <a:spcPts val="8331"/>
                  </a:lnSpc>
                  <a:spcBef>
                    <a:spcPts val="777"/>
                  </a:spcBef>
                  <a:tabLst>
                    <a:tab pos="9902190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949065" eaLnBrk="0">
                  <a:lnSpc>
                    <a:spcPts val="8331"/>
                  </a:lnSpc>
                  <a:spcBef>
                    <a:spcPts val="777"/>
                  </a:spcBef>
                  <a:tabLst>
                    <a:tab pos="8126730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554605" eaLnBrk="0">
                  <a:lnSpc>
                    <a:spcPts val="8331"/>
                  </a:lnSpc>
                  <a:spcBef>
                    <a:spcPts val="1026"/>
                  </a:spcBef>
                  <a:tabLst>
                    <a:tab pos="10342245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949065" eaLnBrk="0">
                  <a:lnSpc>
                    <a:spcPts val="8331"/>
                  </a:lnSpc>
                  <a:spcBef>
                    <a:spcPts val="1026"/>
                  </a:spcBef>
                  <a:tabLst>
                    <a:tab pos="7652385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949065" eaLnBrk="0">
                  <a:lnSpc>
                    <a:spcPts val="8331"/>
                  </a:lnSpc>
                  <a:spcBef>
                    <a:spcPts val="777"/>
                  </a:spcBef>
                  <a:tabLst>
                    <a:tab pos="8214360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16" name="textbox 5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68" y="1412623"/>
                <a:ext cx="12637770" cy="8469630"/>
              </a:xfrm>
              <a:prstGeom prst="rect">
                <a:avLst/>
              </a:prstGeom>
              <a:blipFill>
                <a:blip r:embed="rId2"/>
                <a:stretch>
                  <a:fillRect t="-449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30" name="picture 5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3270" y="2398620"/>
            <a:ext cx="195795" cy="173217"/>
          </a:xfrm>
          <a:prstGeom prst="rect">
            <a:avLst/>
          </a:prstGeom>
        </p:spPr>
      </p:pic>
      <p:pic>
        <p:nvPicPr>
          <p:cNvPr id="536" name="picture 5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3270" y="1561398"/>
            <a:ext cx="195795" cy="193389"/>
          </a:xfrm>
          <a:prstGeom prst="rect">
            <a:avLst/>
          </a:prstGeom>
        </p:spPr>
      </p:pic>
      <p:sp>
        <p:nvSpPr>
          <p:cNvPr id="538" name="textbox 538"/>
          <p:cNvSpPr/>
          <p:nvPr/>
        </p:nvSpPr>
        <p:spPr>
          <a:xfrm>
            <a:off x="3" y="793"/>
            <a:ext cx="13824585" cy="105156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2100" dirty="0">
              <a:latin typeface="Arial"/>
              <a:ea typeface="Arial"/>
              <a:cs typeface="Arial"/>
            </a:endParaRPr>
          </a:p>
          <a:p>
            <a:pPr marL="371475" eaLnBrk="0">
              <a:lnSpc>
                <a:spcPct val="86000"/>
              </a:lnSpc>
              <a:spcBef>
                <a:spcPts val="18"/>
              </a:spcBef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Example: di</a:t>
            </a:r>
            <a:r>
              <a:rPr lang="en-US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ff</a:t>
            </a: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erence</a:t>
            </a:r>
            <a:r>
              <a:rPr lang="en-US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in</a:t>
            </a:r>
            <a:r>
              <a:rPr lang="en-US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means</a:t>
            </a:r>
            <a:endParaRPr sz="42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540" name="textbox 540"/>
          <p:cNvSpPr/>
          <p:nvPr/>
        </p:nvSpPr>
        <p:spPr>
          <a:xfrm>
            <a:off x="12879249" y="10024521"/>
            <a:ext cx="741045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</a:t>
            </a:r>
            <a:r>
              <a:rPr sz="1500" kern="0" spc="-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500" kern="0" spc="-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9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51CD00B-87C5-D94C-96AC-2376BBC6E1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6054" y="2927826"/>
          <a:ext cx="17449800" cy="67490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5" imgW="5486400" imgH="2120900" progId="Word.Document.12">
                  <p:embed/>
                </p:oleObj>
              </mc:Choice>
              <mc:Fallback>
                <p:oleObj name="文档" r:id="rId5" imgW="5486400" imgH="2120900" progId="Word.Document.12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851CD00B-87C5-D94C-96AC-2376BBC6E1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686054" y="2927826"/>
                        <a:ext cx="17449800" cy="67490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70" name="textbox 270"/>
              <p:cNvSpPr/>
              <p:nvPr/>
            </p:nvSpPr>
            <p:spPr>
              <a:xfrm>
                <a:off x="805170" y="2986575"/>
                <a:ext cx="7816215" cy="384238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3341"/>
                  </a:lnSpc>
                  <a:tabLst/>
                </a:pPr>
                <a:endParaRPr sz="300" dirty="0">
                  <a:latin typeface="Arial"/>
                  <a:ea typeface="Arial"/>
                  <a:cs typeface="Arial"/>
                </a:endParaRPr>
              </a:p>
              <a:p>
                <a:pPr marL="4030980" eaLnBrk="0">
                  <a:lnSpc>
                    <a:spcPts val="10356"/>
                  </a:lnSpc>
                  <a:tabLst>
                    <a:tab pos="7465695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	</a:t>
                </a:r>
                <a:endParaRPr sz="3000" dirty="0">
                  <a:latin typeface="Arial"/>
                  <a:ea typeface="Arial"/>
                  <a:cs typeface="Arial"/>
                </a:endParaRPr>
              </a:p>
              <a:p>
                <a:pPr algn="l" rtl="0" eaLnBrk="0">
                  <a:lnSpc>
                    <a:spcPct val="120000"/>
                  </a:lnSpc>
                  <a:tabLst/>
                </a:pPr>
                <a:endParaRPr sz="3000" dirty="0">
                  <a:latin typeface="Arial"/>
                  <a:ea typeface="Arial"/>
                  <a:cs typeface="Arial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741"/>
                  </a:spcBef>
                  <a:tabLst>
                    <a:tab pos="468630" algn="l"/>
                  </a:tabLst>
                </a:pPr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741"/>
                  </a:spcBef>
                  <a:tabLst>
                    <a:tab pos="468630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 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</m:t>
                        </m:r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sSubSup>
                      <m:sSub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∑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 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sSubSup>
                      <m:sSub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bSup>
                    <m:sSubSup>
                      <m:sSub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∑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 </m:t>
                    </m:r>
                    <m:d>
                      <m:d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3000" dirty="0"/>
                  <a:t> </a:t>
                </a:r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741"/>
                  </a:spcBef>
                  <a:tabLst>
                    <a:tab pos="468630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den>
                    </m:f>
                    <m:sSubSup>
                      <m:sSub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∑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p>
                    </m:sSubSup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‾"/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3000" dirty="0"/>
                  <a:t> </a:t>
                </a:r>
                <a:endParaRPr lang="en-US" altLang="zh-CN" sz="3000" kern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741"/>
                  </a:spcBef>
                  <a:tabLst>
                    <a:tab pos="468630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Calculate the approximate </a:t>
                </a:r>
                <a14:m>
                  <m:oMath xmlns:m="http://schemas.openxmlformats.org/officeDocument/2006/math">
                    <m:r>
                      <a:rPr lang="en-US" altLang="zh-CN" sz="3000" kern="0">
                        <a:latin typeface="Cambria Math" panose="02040503050406030204" pitchFamily="18" charset="0"/>
                        <a:ea typeface="Arial"/>
                        <a:cs typeface="Arial"/>
                      </a:rPr>
                      <m:t>𝑝</m:t>
                    </m:r>
                  </m:oMath>
                </a14:m>
                <a:r>
                  <a:rPr lang="en-US" altLang="zh-CN" sz="3000" kern="0" dirty="0"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-value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70" name="textbox 2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70" y="2986575"/>
                <a:ext cx="7816215" cy="3842385"/>
              </a:xfrm>
              <a:prstGeom prst="rect">
                <a:avLst/>
              </a:prstGeom>
              <a:blipFill>
                <a:blip r:embed="rId2"/>
                <a:stretch>
                  <a:fillRect b="-13861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2" name="picture 2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4399" y="6796476"/>
            <a:ext cx="195795" cy="195795"/>
          </a:xfrm>
          <a:prstGeom prst="rect">
            <a:avLst/>
          </a:prstGeom>
        </p:spPr>
      </p:pic>
      <p:sp>
        <p:nvSpPr>
          <p:cNvPr id="280" name="textbox 280"/>
          <p:cNvSpPr/>
          <p:nvPr/>
        </p:nvSpPr>
        <p:spPr>
          <a:xfrm>
            <a:off x="3" y="793"/>
            <a:ext cx="13824585" cy="105156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2100" dirty="0">
              <a:latin typeface="Arial"/>
              <a:ea typeface="Arial"/>
              <a:cs typeface="Arial"/>
            </a:endParaRPr>
          </a:p>
          <a:p>
            <a:pPr marL="373380" eaLnBrk="0">
              <a:lnSpc>
                <a:spcPct val="86000"/>
              </a:lnSpc>
              <a:spcBef>
                <a:spcPts val="18"/>
              </a:spcBef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Normal approximation</a:t>
            </a:r>
            <a:endParaRPr sz="42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12879252" y="10024524"/>
            <a:ext cx="741045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13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19</a:t>
            </a:r>
            <a:endParaRPr sz="1500" dirty="0">
              <a:latin typeface="Arial"/>
              <a:ea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61F1CA4-E352-34AB-EFC0-0691F7136F87}"/>
                  </a:ext>
                </a:extLst>
              </p:cNvPr>
              <p:cNvSpPr txBox="1"/>
              <p:nvPr/>
            </p:nvSpPr>
            <p:spPr>
              <a:xfrm>
                <a:off x="3454717" y="2719651"/>
                <a:ext cx="6915150" cy="1545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ˆ"/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300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300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sSup>
                                <m:sSup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000" i="1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zh-CN" sz="30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altLang="zh-CN" sz="30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(0,1)</m:t>
                      </m:r>
                    </m:oMath>
                  </m:oMathPara>
                </a14:m>
                <a:endParaRPr lang="zh-CN" altLang="en-US" sz="3000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61F1CA4-E352-34AB-EFC0-0691F7136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4717" y="2719651"/>
                <a:ext cx="6915150" cy="1545359"/>
              </a:xfrm>
              <a:prstGeom prst="rect">
                <a:avLst/>
              </a:prstGeom>
              <a:blipFill>
                <a:blip r:embed="rId4"/>
                <a:stretch>
                  <a:fillRect t="-40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72">
            <a:extLst>
              <a:ext uri="{FF2B5EF4-FFF2-40B4-BE49-F238E27FC236}">
                <a16:creationId xmlns:a16="http://schemas.microsoft.com/office/drawing/2014/main" id="{1ED8B976-D4B0-85B2-3D66-DA086EB88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4399" y="6186876"/>
            <a:ext cx="195795" cy="195795"/>
          </a:xfrm>
          <a:prstGeom prst="rect">
            <a:avLst/>
          </a:prstGeom>
        </p:spPr>
      </p:pic>
      <p:pic>
        <p:nvPicPr>
          <p:cNvPr id="8" name="picture 272">
            <a:extLst>
              <a:ext uri="{FF2B5EF4-FFF2-40B4-BE49-F238E27FC236}">
                <a16:creationId xmlns:a16="http://schemas.microsoft.com/office/drawing/2014/main" id="{CCB677AA-3C85-EE68-3DFE-B47262EBF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4399" y="5573901"/>
            <a:ext cx="195795" cy="1957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84" name="textbox 284"/>
              <p:cNvSpPr/>
              <p:nvPr/>
            </p:nvSpPr>
            <p:spPr>
              <a:xfrm>
                <a:off x="805168" y="2628508"/>
                <a:ext cx="11891010" cy="546735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0701"/>
                  </a:lnSpc>
                  <a:tabLst/>
                </a:pPr>
                <a:endParaRPr lang="en"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tabLst>
                    <a:tab pos="455295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lang="en" sz="3000" kern="0" spc="3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Two</a:t>
                </a:r>
                <a:r>
                  <a:rPr lang="en" sz="3000" kern="0" spc="33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lang="en" sz="3000" kern="0" spc="3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sample</a:t>
                </a:r>
                <a:r>
                  <a:rPr lang="en" sz="3000" kern="0" spc="57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" sz="3000" kern="0" spc="39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lang="en" sz="3000" kern="0" spc="3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test</a:t>
                </a:r>
                <a:r>
                  <a:rPr lang="en" sz="3000" kern="0" spc="36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lang="en" sz="3000" kern="0" spc="3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sta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tistic</a:t>
                </a:r>
                <a:r>
                  <a:rPr lang="en" sz="3000" kern="0" spc="30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with</a:t>
                </a:r>
                <a:r>
                  <a:rPr lang="en" sz="3000" kern="0" spc="36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equal</a:t>
                </a:r>
                <a:r>
                  <a:rPr lang="en" sz="3000" kern="0" spc="30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variance</a:t>
                </a:r>
              </a:p>
              <a:p>
                <a:pPr marL="232410" eaLnBrk="0">
                  <a:lnSpc>
                    <a:spcPct val="92000"/>
                  </a:lnSpc>
                  <a:tabLst>
                    <a:tab pos="455295" algn="l"/>
                  </a:tabLst>
                </a:pPr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spcBef>
                    <a:spcPts val="900"/>
                  </a:spcBef>
                  <a:spcAft>
                    <a:spcPts val="900"/>
                  </a:spcAft>
                  <a:tabLst>
                    <a:tab pos="445770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CN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f>
                              <m:f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ˆ"/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𝜏</m:t>
                                    </m:r>
                                  </m:e>
                                </m:acc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zh-CN" altLang="zh-CN" sz="3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zh-CN" altLang="zh-CN" sz="3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3000" i="1">
                                                <a:latin typeface="Cambria Math" panose="02040503050406030204" pitchFamily="18" charset="0"/>
                                                <a:ea typeface="DengXian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3000">
                                                <a:latin typeface="Cambria Math" panose="02040503050406030204" pitchFamily="18" charset="0"/>
                                                <a:ea typeface="DengXian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zh-CN" altLang="zh-CN" sz="3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3000" i="1">
                                                <a:latin typeface="Cambria Math" panose="02040503050406030204" pitchFamily="18" charset="0"/>
                                                <a:ea typeface="DengXian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𝑛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3000">
                                                <a:latin typeface="Cambria Math" panose="02040503050406030204" pitchFamily="18" charset="0"/>
                                                <a:ea typeface="DengXian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3000"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zh-CN" sz="3000" i="1"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000"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−2)</m:t>
                                        </m:r>
                                      </m:den>
                                    </m:f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zh-CN" altLang="zh-CN" sz="30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zh-CN" altLang="zh-CN" sz="3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3000">
                                                <a:latin typeface="Cambria Math" panose="02040503050406030204" pitchFamily="18" charset="0"/>
                                                <a:ea typeface="DengXian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∑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zh-CN" altLang="zh-CN" sz="3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3000" i="1">
                                                    <a:latin typeface="Cambria Math" panose="02040503050406030204" pitchFamily="18" charset="0"/>
                                                    <a:ea typeface="DengXian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3000" i="1">
                                                    <a:latin typeface="Cambria Math" panose="02040503050406030204" pitchFamily="18" charset="0"/>
                                                    <a:ea typeface="DengXian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3000">
                                                <a:latin typeface="Cambria Math" panose="02040503050406030204" pitchFamily="18" charset="0"/>
                                                <a:ea typeface="DengXian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=1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3000"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 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zh-CN" sz="3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{"/>
                                                <m:endChr m:val="}"/>
                                                <m:ctrlPr>
                                                  <a:rPr lang="zh-CN" altLang="zh-CN" sz="3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altLang="zh-CN" sz="3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3000" i="1">
                                                        <a:latin typeface="Cambria Math" panose="02040503050406030204" pitchFamily="18" charset="0"/>
                                                        <a:ea typeface="DengXian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3000" i="1">
                                                        <a:latin typeface="Cambria Math" panose="02040503050406030204" pitchFamily="18" charset="0"/>
                                                        <a:ea typeface="DengXian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zh-CN" sz="3000">
                                                    <a:latin typeface="Cambria Math" panose="02040503050406030204" pitchFamily="18" charset="0"/>
                                                    <a:ea typeface="DengXian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ˆ"/>
                                                    <m:ctrlPr>
                                                      <a:rPr lang="zh-CN" altLang="zh-CN" sz="3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acc>
                                                      <m:accPr>
                                                        <m:chr m:val="‾"/>
                                                        <m:ctrlPr>
                                                          <a:rPr lang="zh-CN" altLang="zh-CN" sz="3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altLang="zh-CN" sz="3000" i="1">
                                                            <a:latin typeface="Cambria Math" panose="02040503050406030204" pitchFamily="18" charset="0"/>
                                                            <a:ea typeface="DengXian" panose="02010600030101010101" pitchFamily="2" charset="-122"/>
                                                            <a:cs typeface="Times New Roman" panose="02020603050405020304" pitchFamily="18" charset="0"/>
                                                          </a:rPr>
                                                          <m:t>𝑌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</m:acc>
                                                <m:r>
                                                  <a:rPr lang="en-US" altLang="zh-CN" sz="3000">
                                                    <a:latin typeface="Cambria Math" panose="02040503050406030204" pitchFamily="18" charset="0"/>
                                                    <a:ea typeface="DengXian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(1)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altLang="zh-CN" sz="3000">
                                                <a:latin typeface="Cambria Math" panose="02040503050406030204" pitchFamily="18" charset="0"/>
                                                <a:ea typeface="DengXian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3000"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zh-CN" altLang="zh-CN" sz="3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3000">
                                                <a:latin typeface="Cambria Math" panose="02040503050406030204" pitchFamily="18" charset="0"/>
                                                <a:ea typeface="DengXian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∑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zh-CN" altLang="zh-CN" sz="3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zh-CN" sz="3000" i="1">
                                                    <a:latin typeface="Cambria Math" panose="02040503050406030204" pitchFamily="18" charset="0"/>
                                                    <a:ea typeface="DengXian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𝑍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zh-CN" sz="3000" i="1">
                                                    <a:latin typeface="Cambria Math" panose="02040503050406030204" pitchFamily="18" charset="0"/>
                                                    <a:ea typeface="DengXian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zh-CN" sz="3000">
                                                <a:latin typeface="Cambria Math" panose="02040503050406030204" pitchFamily="18" charset="0"/>
                                                <a:ea typeface="DengXian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=0</m:t>
                                            </m:r>
                                          </m:sub>
                                        </m:sSub>
                                        <m:r>
                                          <a:rPr lang="en-US" altLang="zh-CN" sz="3000">
                                            <a:latin typeface="Cambria Math" panose="02040503050406030204" pitchFamily="18" charset="0"/>
                                            <a:ea typeface="DengXian" panose="02010600030101010101" pitchFamily="2" charset="-122"/>
                                            <a:cs typeface="Times New Roman" panose="02020603050405020304" pitchFamily="18" charset="0"/>
                                          </a:rPr>
                                          <m:t> </m:t>
                                        </m:r>
                                        <m:sSup>
                                          <m:sSupPr>
                                            <m:ctrlPr>
                                              <a:rPr lang="zh-CN" altLang="zh-CN" sz="30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begChr m:val="{"/>
                                                <m:endChr m:val="}"/>
                                                <m:ctrlPr>
                                                  <a:rPr lang="zh-CN" altLang="zh-CN" sz="30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zh-CN" altLang="zh-CN" sz="3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altLang="zh-CN" sz="3000" i="1">
                                                        <a:latin typeface="Cambria Math" panose="02040503050406030204" pitchFamily="18" charset="0"/>
                                                        <a:ea typeface="DengXian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𝑌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altLang="zh-CN" sz="3000" i="1">
                                                        <a:latin typeface="Cambria Math" panose="02040503050406030204" pitchFamily="18" charset="0"/>
                                                        <a:ea typeface="DengXian" panose="02010600030101010101" pitchFamily="2" charset="-122"/>
                                                        <a:cs typeface="Times New Roman" panose="02020603050405020304" pitchFamily="18" charset="0"/>
                                                      </a:rPr>
                                                      <m:t>𝑖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altLang="zh-CN" sz="3000">
                                                    <a:latin typeface="Cambria Math" panose="02040503050406030204" pitchFamily="18" charset="0"/>
                                                    <a:ea typeface="DengXian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ˆ"/>
                                                    <m:ctrlPr>
                                                      <a:rPr lang="zh-CN" altLang="zh-CN" sz="3000" i="1"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acc>
                                                      <m:accPr>
                                                        <m:chr m:val="‾"/>
                                                        <m:ctrlPr>
                                                          <a:rPr lang="zh-CN" altLang="zh-CN" sz="3000" i="1"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accPr>
                                                      <m:e>
                                                        <m:r>
                                                          <a:rPr lang="en-US" altLang="zh-CN" sz="3000" i="1">
                                                            <a:latin typeface="Cambria Math" panose="02040503050406030204" pitchFamily="18" charset="0"/>
                                                            <a:ea typeface="DengXian" panose="02010600030101010101" pitchFamily="2" charset="-122"/>
                                                            <a:cs typeface="Times New Roman" panose="02020603050405020304" pitchFamily="18" charset="0"/>
                                                          </a:rPr>
                                                          <m:t>𝑌</m:t>
                                                        </m:r>
                                                      </m:e>
                                                    </m:acc>
                                                  </m:e>
                                                </m:acc>
                                                <m:r>
                                                  <a:rPr lang="en-US" altLang="zh-CN" sz="3000">
                                                    <a:latin typeface="Cambria Math" panose="02040503050406030204" pitchFamily="18" charset="0"/>
                                                    <a:ea typeface="DengXian" panose="02010600030101010101" pitchFamily="2" charset="-122"/>
                                                    <a:cs typeface="Times New Roman" panose="02020603050405020304" pitchFamily="18" charset="0"/>
                                                  </a:rPr>
                                                  <m:t>(0)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n-US" altLang="zh-CN" sz="3000">
                                                <a:latin typeface="Cambria Math" panose="02040503050406030204" pitchFamily="18" charset="0"/>
                                                <a:ea typeface="DengXian" panose="02010600030101010101" pitchFamily="2" charset="-122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rad>
                              </m:den>
                            </m:f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∼</m:t>
                            </m:r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0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−2</m:t>
                                </m:r>
                              </m:sub>
                            </m:sSub>
                          </m:e>
                        </m:mr>
                        <m:mr>
                          <m:e/>
                        </m:mr>
                      </m:m>
                    </m:oMath>
                  </m:oMathPara>
                </a14:m>
                <a:endParaRPr lang="en-US" altLang="zh-CN" sz="3000" dirty="0">
                  <a:ea typeface="DengXian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525"/>
                  </a:spcBef>
                  <a:tabLst>
                    <a:tab pos="445770" algn="l"/>
                  </a:tabLst>
                </a:pPr>
                <a:r>
                  <a:rPr lang="en-US" altLang="zh-CN" sz="3000" dirty="0">
                    <a:ea typeface="DengXian" panose="02010600030101010101" pitchFamily="2" charset="-122"/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−1)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∑</m:t>
                        </m:r>
                      </m:e>
                      <m:sub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ˆ"/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‾"/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acc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(1)</m:t>
                            </m:r>
                          </m:e>
                        </m:d>
                      </m:e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∑</m:t>
                        </m:r>
                      </m:e>
                      <m:sub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ˆ"/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‾"/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acc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(0)</m:t>
                            </m:r>
                          </m:e>
                        </m:d>
                      </m:e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ˆ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𝜏</m:t>
                            </m:r>
                          </m:e>
                        </m:acc>
                      </m:e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3000" dirty="0"/>
                  <a:t> </a:t>
                </a:r>
                <a:endParaRPr lang="en-US" altLang="zh-CN" sz="3000" dirty="0"/>
              </a:p>
              <a:p>
                <a:pPr marL="232410" eaLnBrk="0">
                  <a:lnSpc>
                    <a:spcPct val="92000"/>
                  </a:lnSpc>
                  <a:spcBef>
                    <a:spcPts val="525"/>
                  </a:spcBef>
                  <a:tabLst>
                    <a:tab pos="445770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With a large sample size</a:t>
                </a:r>
                <a:r>
                  <a:rPr lang="en" sz="3000" kern="0" spc="54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zh-CN" altLang="zh-CN" sz="3000" dirty="0"/>
                  <a:t> </a:t>
                </a:r>
                <a:endParaRPr lang="en" altLang="zh-CN" sz="3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525"/>
                  </a:spcBef>
                  <a:tabLst>
                    <a:tab pos="445770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       </a:t>
                </a:r>
                <a:r>
                  <a:rPr lang="e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Under the sharp null,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</m:acc>
                  </m:oMath>
                </a14:m>
                <a:r>
                  <a:rPr lang="en-US" altLang="zh-CN" sz="2700" dirty="0">
                    <a:latin typeface="Georgia" panose="02040502050405020303" pitchFamily="18" charset="0"/>
                    <a:ea typeface="Georgia" panose="02040502050405020303" pitchFamily="18" charset="0"/>
                    <a:cs typeface="Georgia" panose="02040502050405020303" pitchFamily="18" charset="0"/>
                  </a:rPr>
                  <a:t> </a:t>
                </a:r>
                <a:r>
                  <a:rPr lang="e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converges to zero in probability </a:t>
                </a:r>
                <a:r>
                  <a:rPr lang="en-US" altLang="zh-CN" sz="2700" dirty="0">
                    <a:latin typeface="Georgia" panose="02040502050405020303" pitchFamily="18" charset="0"/>
                    <a:ea typeface="Georgia" panose="02040502050405020303" pitchFamily="18" charset="0"/>
                    <a:cs typeface="Georgia" panose="02040502050405020303" pitchFamily="18" charset="0"/>
                  </a:rPr>
                  <a:t>⇝</a:t>
                </a:r>
                <a:r>
                  <a:rPr lang="en-US" altLang="zh-C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Georgia" panose="02040502050405020303" pitchFamily="18" charset="0"/>
                    <a:cs typeface="Arial" panose="020B0604020202020204" pitchFamily="34" charset="0"/>
                  </a:rPr>
                  <a:t> </a:t>
                </a:r>
                <a:r>
                  <a:rPr lang="e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FRT is  	         asymptotically equivalent to two sample </a:t>
                </a:r>
                <a14:m>
                  <m:oMath xmlns:m="http://schemas.openxmlformats.org/officeDocument/2006/math">
                    <m:r>
                      <a:rPr lang="en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test</a:t>
                </a:r>
                <a:endParaRPr lang="en"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287780" indent="-222885" eaLnBrk="0">
                  <a:lnSpc>
                    <a:spcPct val="104000"/>
                  </a:lnSpc>
                  <a:spcBef>
                    <a:spcPts val="1041"/>
                  </a:spcBef>
                  <a:tabLst>
                    <a:tab pos="1306830" algn="l"/>
                  </a:tabLst>
                </a:pPr>
                <a:r>
                  <a:rPr lang="e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Under the alternative, FRT is less powerful</a:t>
                </a:r>
                <a:endParaRPr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284" name="textbox 28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68" y="2628508"/>
                <a:ext cx="11891010" cy="5467350"/>
              </a:xfrm>
              <a:prstGeom prst="rect">
                <a:avLst/>
              </a:prstGeom>
              <a:blipFill>
                <a:blip r:embed="rId2"/>
                <a:stretch>
                  <a:fillRect t="-2083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6" name="picture 2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712598" y="7594044"/>
            <a:ext cx="157755" cy="157755"/>
          </a:xfrm>
          <a:prstGeom prst="rect">
            <a:avLst/>
          </a:prstGeom>
        </p:spPr>
      </p:pic>
      <p:pic>
        <p:nvPicPr>
          <p:cNvPr id="292" name="picture 2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712598" y="6678870"/>
            <a:ext cx="157755" cy="157755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3270" y="6165780"/>
            <a:ext cx="195795" cy="195795"/>
          </a:xfrm>
          <a:prstGeom prst="rect">
            <a:avLst/>
          </a:prstGeom>
        </p:spPr>
      </p:pic>
      <p:pic>
        <p:nvPicPr>
          <p:cNvPr id="308" name="picture 30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56173" y="5568864"/>
            <a:ext cx="195795" cy="195795"/>
          </a:xfrm>
          <a:prstGeom prst="rect">
            <a:avLst/>
          </a:prstGeom>
        </p:spPr>
      </p:pic>
      <p:pic>
        <p:nvPicPr>
          <p:cNvPr id="312" name="picture 3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3270" y="2778663"/>
            <a:ext cx="195795" cy="195795"/>
          </a:xfrm>
          <a:prstGeom prst="rect">
            <a:avLst/>
          </a:prstGeom>
        </p:spPr>
      </p:pic>
      <p:sp>
        <p:nvSpPr>
          <p:cNvPr id="314" name="textbox 314"/>
          <p:cNvSpPr/>
          <p:nvPr/>
        </p:nvSpPr>
        <p:spPr>
          <a:xfrm>
            <a:off x="3" y="793"/>
            <a:ext cx="13824585" cy="105156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2100" dirty="0">
              <a:latin typeface="Arial"/>
              <a:ea typeface="Arial"/>
              <a:cs typeface="Arial"/>
            </a:endParaRPr>
          </a:p>
          <a:p>
            <a:pPr marL="371475" eaLnBrk="0">
              <a:lnSpc>
                <a:spcPct val="86000"/>
              </a:lnSpc>
              <a:spcBef>
                <a:spcPts val="18"/>
              </a:spcBef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FRT vs. two sample test</a:t>
            </a:r>
            <a:endParaRPr sz="42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322" name="textbox 322"/>
          <p:cNvSpPr/>
          <p:nvPr/>
        </p:nvSpPr>
        <p:spPr>
          <a:xfrm>
            <a:off x="12879252" y="10024521"/>
            <a:ext cx="741045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14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19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24" name="textbox 324"/>
              <p:cNvSpPr/>
              <p:nvPr/>
            </p:nvSpPr>
            <p:spPr>
              <a:xfrm>
                <a:off x="805170" y="2475123"/>
                <a:ext cx="12091035" cy="662749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3341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440430" eaLnBrk="0">
                  <a:lnSpc>
                    <a:spcPts val="10686"/>
                  </a:lnSpc>
                  <a:tabLst>
                    <a:tab pos="803529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-US"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648"/>
                  </a:spcBef>
                  <a:tabLst>
                    <a:tab pos="480060" algn="l"/>
                  </a:tabLst>
                </a:pPr>
                <a:endParaRPr lang="en-US" altLang="zh-CN" sz="30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32410" eaLnBrk="0">
                  <a:tabLst>
                    <a:tab pos="480060" algn="l"/>
                  </a:tabLst>
                </a:pPr>
                <a:r>
                  <a:rPr lang="en-US" altLang="zh-CN" sz="30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∑</m:t>
                        </m:r>
                      </m:e>
                      <m:sub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ˆ"/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‾"/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acc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(1)</m:t>
                            </m:r>
                          </m:e>
                        </m:d>
                      </m:e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sz="3000" dirty="0">
                  <a:latin typeface="Arial" panose="020B0604020202020204" pitchFamily="34" charset="0"/>
                  <a:ea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marL="232410" eaLnBrk="0">
                  <a:tabLst>
                    <a:tab pos="480060" algn="l"/>
                  </a:tabLst>
                </a:pPr>
                <a:r>
                  <a:rPr lang="en-US" altLang="zh-CN" sz="30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sz="3000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∑</m:t>
                        </m:r>
                      </m:e>
                      <m:sub>
                        <m:sSub>
                          <m:sSubPr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3000" i="1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=0</m:t>
                        </m:r>
                      </m:sub>
                    </m:sSub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 </m:t>
                    </m:r>
                    <m:sSup>
                      <m:sSup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zh-CN" altLang="zh-CN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altLang="zh-CN" sz="3000" i="1">
                                    <a:latin typeface="Cambria Math" panose="02040503050406030204" pitchFamily="18" charset="0"/>
                                    <a:ea typeface="DengXian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acc>
                              <m:accPr>
                                <m:chr m:val="ˆ"/>
                                <m:ctrlPr>
                                  <a:rPr lang="zh-CN" altLang="zh-CN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acc>
                                  <m:accPr>
                                    <m:chr m:val="‾"/>
                                    <m:ctrlPr>
                                      <a:rPr lang="zh-CN" altLang="zh-CN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000" i="1">
                                        <a:latin typeface="Cambria Math" panose="02040503050406030204" pitchFamily="18" charset="0"/>
                                        <a:ea typeface="DengXian" panose="02010600030101010101" pitchFamily="2" charset="-122"/>
                                        <a:cs typeface="Times New Roman" panose="020206030504050203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</m:acc>
                            <m:r>
                              <a:rPr lang="en-US" altLang="zh-CN" sz="3000">
                                <a:latin typeface="Cambria Math" panose="02040503050406030204" pitchFamily="18" charset="0"/>
                                <a:ea typeface="DengXian" panose="02010600030101010101" pitchFamily="2" charset="-122"/>
                                <a:cs typeface="Times New Roman" panose="02020603050405020304" pitchFamily="18" charset="0"/>
                              </a:rPr>
                              <m:t>(0)</m:t>
                            </m:r>
                          </m:e>
                        </m:d>
                      </m:e>
                      <m:sup>
                        <m:r>
                          <a:rPr lang="en-US" altLang="zh-CN" sz="30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648"/>
                  </a:spcBef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nite sample CLT implies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3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𝐙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3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𝐘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)→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(0,1)</m:t>
                    </m:r>
                  </m:oMath>
                </a14:m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under the sharp null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51485" indent="-219075" eaLnBrk="0">
                  <a:lnSpc>
                    <a:spcPct val="107000"/>
                  </a:lnSpc>
                  <a:spcBef>
                    <a:spcPts val="1446"/>
                  </a:spcBef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	FRT with studen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zed sta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stic is asympto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cally equivalent to two sample test without equal variance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930"/>
                  </a:spcBef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FRT jus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tifi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es tradi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onal </a:t>
                </a:r>
                <a14:m>
                  <m:oMath xmlns:m="http://schemas.openxmlformats.org/officeDocument/2006/math">
                    <m:r>
                      <a:rPr lang="en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test with and without equal variance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14000"/>
                  </a:lnSpc>
                  <a:tabLst/>
                </a:pPr>
                <a:endParaRPr sz="12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9"/>
                  </a:spcBef>
                  <a:tabLst>
                    <a:tab pos="44577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We can also use other test sta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stics, e.g., Wilcoxon rank sum, KS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24" name="textbox 3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70" y="2475123"/>
                <a:ext cx="12091035" cy="66274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6" name="picture 3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3270" y="8417895"/>
            <a:ext cx="195795" cy="195795"/>
          </a:xfrm>
          <a:prstGeom prst="rect">
            <a:avLst/>
          </a:prstGeom>
        </p:spPr>
      </p:pic>
      <p:pic>
        <p:nvPicPr>
          <p:cNvPr id="328" name="picture 3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3270" y="7787799"/>
            <a:ext cx="195795" cy="195795"/>
          </a:xfrm>
          <a:prstGeom prst="rect">
            <a:avLst/>
          </a:prstGeom>
        </p:spPr>
      </p:pic>
      <p:pic>
        <p:nvPicPr>
          <p:cNvPr id="330" name="picture 3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80848" y="6077901"/>
            <a:ext cx="195795" cy="195795"/>
          </a:xfrm>
          <a:prstGeom prst="rect">
            <a:avLst/>
          </a:prstGeom>
        </p:spPr>
      </p:pic>
      <p:pic>
        <p:nvPicPr>
          <p:cNvPr id="332" name="picture 3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80848" y="5466594"/>
            <a:ext cx="195795" cy="195795"/>
          </a:xfrm>
          <a:prstGeom prst="rect">
            <a:avLst/>
          </a:prstGeom>
        </p:spPr>
      </p:pic>
      <p:sp>
        <p:nvSpPr>
          <p:cNvPr id="338" name="textbox 338"/>
          <p:cNvSpPr/>
          <p:nvPr/>
        </p:nvSpPr>
        <p:spPr>
          <a:xfrm>
            <a:off x="3" y="793"/>
            <a:ext cx="13824585" cy="105156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2400" dirty="0">
              <a:latin typeface="Arial"/>
              <a:ea typeface="Arial"/>
              <a:cs typeface="Arial"/>
            </a:endParaRPr>
          </a:p>
          <a:p>
            <a:pPr marL="342900" eaLnBrk="0">
              <a:lnSpc>
                <a:spcPct val="73000"/>
              </a:lnSpc>
              <a:spcBef>
                <a:spcPts val="12"/>
              </a:spcBef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Test sta</a:t>
            </a:r>
            <a:r>
              <a:rPr lang="en-US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ti</a:t>
            </a: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s</a:t>
            </a:r>
            <a:r>
              <a:rPr lang="en-US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ti</a:t>
            </a: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c: studentized statistic</a:t>
            </a:r>
            <a:endParaRPr sz="42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340" name="textbox 340"/>
          <p:cNvSpPr/>
          <p:nvPr/>
        </p:nvSpPr>
        <p:spPr>
          <a:xfrm>
            <a:off x="12879249" y="10024524"/>
            <a:ext cx="741045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19</a:t>
            </a:r>
            <a:endParaRPr sz="1500" dirty="0">
              <a:latin typeface="Arial"/>
              <a:ea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FB17DAC-9FD2-C4A5-C7F3-895ABC5E23DB}"/>
                  </a:ext>
                </a:extLst>
              </p:cNvPr>
              <p:cNvSpPr txBox="1"/>
              <p:nvPr/>
            </p:nvSpPr>
            <p:spPr>
              <a:xfrm>
                <a:off x="3100192" y="2615194"/>
                <a:ext cx="6914364" cy="1545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000" i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3000" b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𝐙</m:t>
                      </m:r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lang="en-US" altLang="zh-CN" sz="3000" b="1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𝐘</m:t>
                      </m:r>
                      <m:r>
                        <a:rPr lang="en-US" altLang="zh-CN" sz="3000">
                          <a:latin typeface="Cambria Math" panose="02040503050406030204" pitchFamily="18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m:t>)=</m:t>
                      </m:r>
                      <m:f>
                        <m:fPr>
                          <m:ctrlPr>
                            <a:rPr lang="zh-CN" altLang="zh-CN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ˆ"/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3000" i="1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𝜏</m:t>
                              </m:r>
                            </m:e>
                          </m:acc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ˆ"/>
                                          <m:ctrlPr>
                                            <a:rPr lang="zh-CN" altLang="zh-CN" sz="3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30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CN" sz="300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30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(1)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300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altLang="zh-CN" sz="3000">
                                  <a:latin typeface="Cambria Math" panose="02040503050406030204" pitchFamily="18" charset="0"/>
                                  <a:ea typeface="DengXian" panose="02010600030101010101" pitchFamily="2" charset="-122"/>
                                  <a:cs typeface="Times New Roman" panose="020206030504050203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zh-CN" altLang="zh-CN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ˆ"/>
                                          <m:ctrlPr>
                                            <a:rPr lang="zh-CN" altLang="zh-CN" sz="3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sz="3000" i="1">
                                              <a:latin typeface="Cambria Math" panose="02040503050406030204" pitchFamily="18" charset="0"/>
                                              <a:ea typeface="DengXian" panose="02010600030101010101" pitchFamily="2" charset="-122"/>
                                              <a:cs typeface="Times New Roman" panose="020206030504050203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zh-CN" sz="300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sz="3000">
                                      <a:latin typeface="Cambria Math" panose="02040503050406030204" pitchFamily="18" charset="0"/>
                                      <a:ea typeface="DengXian" panose="02010600030101010101" pitchFamily="2" charset="-122"/>
                                      <a:cs typeface="Times New Roman" panose="02020603050405020304" pitchFamily="18" charset="0"/>
                                    </a:rPr>
                                    <m:t>(0)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zh-CN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3000" i="1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zh-CN" sz="3000">
                                          <a:latin typeface="Cambria Math" panose="02040503050406030204" pitchFamily="18" charset="0"/>
                                          <a:ea typeface="DengXian" panose="02010600030101010101" pitchFamily="2" charset="-122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zh-CN" altLang="en-US" sz="3000" dirty="0"/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2FB17DAC-9FD2-C4A5-C7F3-895ABC5E2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192" y="2615194"/>
                <a:ext cx="6914364" cy="1545359"/>
              </a:xfrm>
              <a:prstGeom prst="rect">
                <a:avLst/>
              </a:prstGeom>
              <a:blipFill>
                <a:blip r:embed="rId7"/>
                <a:stretch>
                  <a:fillRect t="-3252" b="-1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332">
            <a:extLst>
              <a:ext uri="{FF2B5EF4-FFF2-40B4-BE49-F238E27FC236}">
                <a16:creationId xmlns:a16="http://schemas.microsoft.com/office/drawing/2014/main" id="{C5BA8A4B-0791-DC10-E709-EB2B07F530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74161" y="4739628"/>
            <a:ext cx="195795" cy="195795"/>
          </a:xfrm>
          <a:prstGeom prst="rect">
            <a:avLst/>
          </a:prstGeom>
        </p:spPr>
      </p:pic>
      <p:pic>
        <p:nvPicPr>
          <p:cNvPr id="12" name="picture 330">
            <a:extLst>
              <a:ext uri="{FF2B5EF4-FFF2-40B4-BE49-F238E27FC236}">
                <a16:creationId xmlns:a16="http://schemas.microsoft.com/office/drawing/2014/main" id="{8A1AB6C5-7EC5-F5D0-82C4-73F4B1A8C5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4161" y="6724998"/>
            <a:ext cx="195795" cy="1957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textbox 344"/>
          <p:cNvSpPr/>
          <p:nvPr/>
        </p:nvSpPr>
        <p:spPr>
          <a:xfrm>
            <a:off x="3" y="793"/>
            <a:ext cx="13824585" cy="105156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2100" dirty="0">
              <a:latin typeface="Arial"/>
              <a:ea typeface="Arial"/>
              <a:cs typeface="Arial"/>
            </a:endParaRPr>
          </a:p>
          <a:p>
            <a:pPr marL="337185" eaLnBrk="0">
              <a:lnSpc>
                <a:spcPct val="86000"/>
              </a:lnSpc>
              <a:spcBef>
                <a:spcPts val="18"/>
              </a:spcBef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Application:  Lalonde experimental data</a:t>
            </a:r>
            <a:endParaRPr sz="4200" dirty="0">
              <a:latin typeface="Arial"/>
              <a:ea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6" name="textbox 346"/>
              <p:cNvSpPr/>
              <p:nvPr/>
            </p:nvSpPr>
            <p:spPr>
              <a:xfrm>
                <a:off x="805168" y="1607205"/>
                <a:ext cx="11913870" cy="1175385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3079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6000"/>
                  </a:lnSpc>
                  <a:tabLst>
                    <a:tab pos="46482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: whether a unit was randomly assign to a job training program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26000"/>
                  </a:lnSpc>
                  <a:tabLst/>
                </a:pPr>
                <a:endParaRPr sz="9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ts val="3681"/>
                  </a:lnSpc>
                  <a:spcBef>
                    <a:spcPts val="9"/>
                  </a:spcBef>
                  <a:tabLst>
                    <a:tab pos="50292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30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: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earnings in 1978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46" name="textbox 3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68" y="1607205"/>
                <a:ext cx="11913870" cy="1175385"/>
              </a:xfrm>
              <a:prstGeom prst="rect">
                <a:avLst/>
              </a:prstGeom>
              <a:blipFill>
                <a:blip r:embed="rId2"/>
                <a:stretch>
                  <a:fillRect t="-7527" b="-12903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8" name="picture 3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3270" y="2387493"/>
            <a:ext cx="195795" cy="195795"/>
          </a:xfrm>
          <a:prstGeom prst="rect">
            <a:avLst/>
          </a:prstGeom>
        </p:spPr>
      </p:pic>
      <p:pic>
        <p:nvPicPr>
          <p:cNvPr id="350" name="picture 3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3270" y="1757397"/>
            <a:ext cx="195795" cy="195795"/>
          </a:xfrm>
          <a:prstGeom prst="rect">
            <a:avLst/>
          </a:prstGeom>
        </p:spPr>
      </p:pic>
      <p:sp>
        <p:nvSpPr>
          <p:cNvPr id="358" name="textbox 358"/>
          <p:cNvSpPr/>
          <p:nvPr/>
        </p:nvSpPr>
        <p:spPr>
          <a:xfrm>
            <a:off x="12879249" y="10024521"/>
            <a:ext cx="741045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16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19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90B29E-990E-B92F-0DBC-F0D7934643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9178" y="2583286"/>
            <a:ext cx="8966229" cy="74718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2"/>
              <p:cNvSpPr/>
              <p:nvPr/>
            </p:nvSpPr>
            <p:spPr>
              <a:xfrm>
                <a:off x="805168" y="2437402"/>
                <a:ext cx="11997690" cy="594741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24268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70535" indent="-238125" eaLnBrk="0">
                  <a:lnSpc>
                    <a:spcPct val="107000"/>
                  </a:lnSpc>
                  <a:tabLst>
                    <a:tab pos="480060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Does tea taste 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diff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erent depending on whether the tea was poured into the milk or whether the milk was poured into the tea?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06000"/>
                  </a:lnSpc>
                  <a:tabLst/>
                </a:pP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06000"/>
                  </a:lnSpc>
                  <a:tabLst/>
                </a:pP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fontAlgn="ctr"/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8 cups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" altLang="zh-CN" sz="300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" altLang="zh-CN" sz="3000" dirty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1650"/>
                  </a:spcBef>
                  <a:tabLst>
                    <a:tab pos="480060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Randomly choose 4 cups into which pour the tea ﬁrst</a:t>
                </a:r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07000"/>
                  </a:lnSpc>
                  <a:tabLst/>
                </a:pP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08000"/>
                  </a:lnSpc>
                  <a:tabLst/>
                </a:pP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933"/>
                  </a:spcBef>
                  <a:tabLst>
                    <a:tab pos="480060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Null hypothesis: the lady cannot tell the 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diff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erence</a:t>
                </a:r>
                <a:endParaRPr lang="e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ts val="4959"/>
                  </a:lnSpc>
                  <a:tabLst>
                    <a:tab pos="455295" algn="l"/>
                  </a:tabLst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</a:t>
                </a: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The lady classified all 8 cups correctly!</a:t>
                </a:r>
              </a:p>
              <a:p>
                <a:pPr marL="232410" eaLnBrk="0">
                  <a:lnSpc>
                    <a:spcPts val="4959"/>
                  </a:lnSpc>
                  <a:tabLst>
                    <a:tab pos="455295" algn="l"/>
                  </a:tabLst>
                </a:pPr>
                <a:r>
                  <a:rPr lang="en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Did this happen by chance?</a:t>
                </a:r>
              </a:p>
            </p:txBody>
          </p:sp>
        </mc:Choice>
        <mc:Fallback>
          <p:sp>
            <p:nvSpPr>
              <p:cNvPr id="22" name="textbox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68" y="2437402"/>
                <a:ext cx="11997690" cy="5947410"/>
              </a:xfrm>
              <a:prstGeom prst="rect">
                <a:avLst/>
              </a:prstGeom>
              <a:blipFill>
                <a:blip r:embed="rId2"/>
                <a:stretch>
                  <a:fillRect t="-1923" b="-1068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3270" y="7924371"/>
            <a:ext cx="195795" cy="19579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3270" y="7306446"/>
            <a:ext cx="195795" cy="195795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3270" y="6701751"/>
            <a:ext cx="195795" cy="195795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43270" y="5179728"/>
            <a:ext cx="195795" cy="195795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43270" y="4524228"/>
            <a:ext cx="195795" cy="195795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3270" y="2587557"/>
            <a:ext cx="195795" cy="195795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3" y="793"/>
            <a:ext cx="13824585" cy="105156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2100" dirty="0">
              <a:latin typeface="Arial"/>
              <a:ea typeface="Arial"/>
              <a:cs typeface="Arial"/>
            </a:endParaRPr>
          </a:p>
          <a:p>
            <a:pPr marL="371475" eaLnBrk="0">
              <a:lnSpc>
                <a:spcPct val="86000"/>
              </a:lnSpc>
              <a:spcBef>
                <a:spcPts val="18"/>
              </a:spcBef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Lady Tas</a:t>
            </a:r>
            <a:r>
              <a:rPr lang="en-US" altLang="zh-CN"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ti</a:t>
            </a: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ng Tea </a:t>
            </a:r>
            <a:r>
              <a:rPr sz="2100" kern="0" spc="9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(Fisher</a:t>
            </a:r>
            <a:r>
              <a:rPr sz="2100" kern="0" spc="45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2100" kern="0" spc="9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1935</a:t>
            </a:r>
            <a:r>
              <a:rPr sz="2100" kern="0" spc="-36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2100" kern="0" spc="9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.  </a:t>
            </a:r>
            <a:r>
              <a:rPr sz="2100" i="1" kern="0" spc="9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The</a:t>
            </a:r>
            <a:r>
              <a:rPr sz="2100" i="1" kern="0" spc="45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2100" i="1" kern="0" spc="9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Design</a:t>
            </a:r>
            <a:r>
              <a:rPr sz="2100" i="1" kern="0" spc="39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 </a:t>
            </a:r>
            <a:r>
              <a:rPr sz="2100" i="1" kern="0" spc="9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of Experiments</a:t>
            </a:r>
            <a:r>
              <a:rPr sz="2100" kern="0" spc="9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)</a:t>
            </a:r>
            <a:endParaRPr sz="21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2" name="textbox 358">
            <a:extLst>
              <a:ext uri="{FF2B5EF4-FFF2-40B4-BE49-F238E27FC236}">
                <a16:creationId xmlns:a16="http://schemas.microsoft.com/office/drawing/2014/main" id="{C785925B-B0AC-8D9F-B81E-7180A7BF03A7}"/>
              </a:ext>
            </a:extLst>
          </p:cNvPr>
          <p:cNvSpPr/>
          <p:nvPr/>
        </p:nvSpPr>
        <p:spPr>
          <a:xfrm>
            <a:off x="12879249" y="10024521"/>
            <a:ext cx="741045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7</a:t>
            </a:r>
            <a:r>
              <a:rPr sz="1500" kern="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19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2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74995"/>
              </p:ext>
            </p:extLst>
          </p:nvPr>
        </p:nvGraphicFramePr>
        <p:xfrm>
          <a:off x="415633" y="1346980"/>
          <a:ext cx="7406640" cy="4583430"/>
        </p:xfrm>
        <a:graphic>
          <a:graphicData uri="http://schemas.openxmlformats.org/drawingml/2006/table">
            <a:tbl>
              <a:tblPr/>
              <a:tblGrid>
                <a:gridCol w="1640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6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4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291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68057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80010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cups        guess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68057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8318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actual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68057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8064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scenarios     . . .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2418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72720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1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2700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9494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9461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3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16204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6700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2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3144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9939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9461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16204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67005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3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3144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99390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9461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16204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65100" algn="l" rtl="0" eaLnBrk="0">
                        <a:lnSpc>
                          <a:spcPct val="8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4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2700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9494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9461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9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1176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1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66370" algn="l" rtl="0" eaLnBrk="0">
                        <a:lnSpc>
                          <a:spcPct val="90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5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2700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9494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9080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1239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6700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6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31445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99390" algn="l" rtl="0" eaLnBrk="0">
                        <a:lnSpc>
                          <a:spcPct val="74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9080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1176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67005" algn="l" rtl="0" eaLnBrk="0">
                        <a:lnSpc>
                          <a:spcPct val="89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7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3144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99390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90805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16204" algn="l" rtl="0" eaLnBrk="0">
                        <a:lnSpc>
                          <a:spcPct val="74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T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10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4000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67005" algn="l" rtl="0" eaLnBrk="0">
                        <a:lnSpc>
                          <a:spcPct val="93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8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27000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9494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9080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6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12395" algn="l" rtl="0" eaLnBrk="0">
                        <a:lnSpc>
                          <a:spcPct val="7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M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29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8309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80010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correctly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8309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2349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guessed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8309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210820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8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8309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04140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4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8309"/>
                        </a:lnSpc>
                        <a:tabLst/>
                      </a:pPr>
                      <a:endParaRPr sz="3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  <a:p>
                      <a:pPr marL="127635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27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 pitchFamily="34" charset="0"/>
                          <a:ea typeface="Arial"/>
                          <a:cs typeface="Arial" panose="020B0604020202020204" pitchFamily="34" charset="0"/>
                        </a:rPr>
                        <a:t>6</a:t>
                      </a:r>
                      <a:endParaRPr sz="2700" spc="0" dirty="0">
                        <a:latin typeface="Arial" panose="020B0604020202020204" pitchFamily="34" charset="0"/>
                        <a:ea typeface="Arial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4"/>
              <p:cNvSpPr/>
              <p:nvPr/>
            </p:nvSpPr>
            <p:spPr>
              <a:xfrm>
                <a:off x="805165" y="6702241"/>
                <a:ext cx="10587990" cy="2914650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14584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57200" indent="-224790" eaLnBrk="0">
                  <a:lnSpc>
                    <a:spcPct val="107000"/>
                  </a:lnSpc>
                  <a:tabLst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	Under the null hypothesis </a:t>
                </a:r>
                <a14:m>
                  <m:oMath xmlns:m="http://schemas.openxmlformats.org/officeDocument/2006/math">
                    <m:r>
                      <a:rPr lang="zh-CN" altLang="en-US" sz="3000" kern="0">
                        <a:solidFill>
                          <a:srgbClr val="000000">
                            <a:alpha val="100000"/>
                          </a:srgbClr>
                        </a:solidFill>
                        <a:latin typeface="Cambria Math" panose="02040503050406030204" pitchFamily="18" charset="0"/>
                        <a:ea typeface="Arial"/>
                        <a:cs typeface="Arial" panose="020B0604020202020204" pitchFamily="34" charset="0"/>
                      </a:rPr>
                      <m:t>⇝</m:t>
                    </m:r>
                  </m:oMath>
                </a14:m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70 ways to do this and each arrangement is equally likely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92000"/>
                  </a:lnSpc>
                  <a:spcBef>
                    <a:spcPts val="1560"/>
                  </a:spcBef>
                  <a:tabLst>
                    <a:tab pos="455295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The probability of 8 correct guesses:  1/70 = 0.014 &lt; 0.05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232410" eaLnBrk="0">
                  <a:lnSpc>
                    <a:spcPct val="131000"/>
                  </a:lnSpc>
                  <a:spcBef>
                    <a:spcPts val="579"/>
                  </a:spcBef>
                  <a:tabLst>
                    <a:tab pos="455295" algn="l"/>
                    <a:tab pos="480060" algn="l"/>
                  </a:tabLst>
                </a:pP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The probability of 6 correct guesses:  16/70 = 0.229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4" name="textbox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65" y="6702241"/>
                <a:ext cx="10587990" cy="2914650"/>
              </a:xfrm>
              <a:prstGeom prst="rect">
                <a:avLst/>
              </a:prstGeom>
              <a:blipFill>
                <a:blip r:embed="rId2"/>
                <a:stretch>
                  <a:fillRect t="-3896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8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43267" y="8628849"/>
            <a:ext cx="195795" cy="195795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3267" y="7998750"/>
            <a:ext cx="195795" cy="195795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43267" y="6852435"/>
            <a:ext cx="195795" cy="195795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3" y="793"/>
            <a:ext cx="13824585" cy="1051560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2400" dirty="0">
              <a:latin typeface="Arial"/>
              <a:ea typeface="Arial"/>
              <a:cs typeface="Arial"/>
            </a:endParaRPr>
          </a:p>
          <a:p>
            <a:pPr marL="373380" eaLnBrk="0">
              <a:lnSpc>
                <a:spcPct val="73000"/>
              </a:lnSpc>
              <a:spcBef>
                <a:spcPts val="12"/>
              </a:spcBef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Permutation test</a:t>
            </a:r>
            <a:endParaRPr sz="42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2775D5-7C89-0F81-E66B-6D6508A817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2275" y="1564335"/>
            <a:ext cx="4950177" cy="4148721"/>
          </a:xfrm>
          <a:prstGeom prst="rect">
            <a:avLst/>
          </a:prstGeom>
        </p:spPr>
      </p:pic>
      <p:sp>
        <p:nvSpPr>
          <p:cNvPr id="3" name="textbox 358">
            <a:extLst>
              <a:ext uri="{FF2B5EF4-FFF2-40B4-BE49-F238E27FC236}">
                <a16:creationId xmlns:a16="http://schemas.microsoft.com/office/drawing/2014/main" id="{1DD9C828-26F6-5400-E9B3-C1571A99E122}"/>
              </a:ext>
            </a:extLst>
          </p:cNvPr>
          <p:cNvSpPr/>
          <p:nvPr/>
        </p:nvSpPr>
        <p:spPr>
          <a:xfrm>
            <a:off x="12879249" y="10024521"/>
            <a:ext cx="741045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lang="en-US"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18 </a:t>
            </a:r>
            <a:r>
              <a:rPr sz="1500" kern="0" spc="9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 19</a:t>
            </a:r>
            <a:endParaRPr sz="15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720CB-C036-7E3C-C097-A25B70D25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4" name="picture 664">
            <a:extLst>
              <a:ext uri="{FF2B5EF4-FFF2-40B4-BE49-F238E27FC236}">
                <a16:creationId xmlns:a16="http://schemas.microsoft.com/office/drawing/2014/main" id="{B8728D33-2064-029C-219C-B16C0CB44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3020" y="6700045"/>
            <a:ext cx="342642" cy="342642"/>
          </a:xfrm>
          <a:prstGeom prst="rect">
            <a:avLst/>
          </a:prstGeom>
        </p:spPr>
      </p:pic>
      <p:pic>
        <p:nvPicPr>
          <p:cNvPr id="666" name="picture 666">
            <a:extLst>
              <a:ext uri="{FF2B5EF4-FFF2-40B4-BE49-F238E27FC236}">
                <a16:creationId xmlns:a16="http://schemas.microsoft.com/office/drawing/2014/main" id="{5C02ABF4-62A0-6863-93C3-97A5CB288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3020" y="5058622"/>
            <a:ext cx="342642" cy="342642"/>
          </a:xfrm>
          <a:prstGeom prst="rect">
            <a:avLst/>
          </a:prstGeom>
        </p:spPr>
      </p:pic>
      <p:pic>
        <p:nvPicPr>
          <p:cNvPr id="668" name="picture 668">
            <a:extLst>
              <a:ext uri="{FF2B5EF4-FFF2-40B4-BE49-F238E27FC236}">
                <a16:creationId xmlns:a16="http://schemas.microsoft.com/office/drawing/2014/main" id="{52372CB8-9011-6FC7-04E6-4EF496A9BF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3020" y="2011660"/>
            <a:ext cx="342642" cy="3426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70" name="textbox 670">
                <a:extLst>
                  <a:ext uri="{FF2B5EF4-FFF2-40B4-BE49-F238E27FC236}">
                    <a16:creationId xmlns:a16="http://schemas.microsoft.com/office/drawing/2014/main" id="{3FCCE74B-427F-3C47-7378-EBD7A4D2AC0A}"/>
                  </a:ext>
                </a:extLst>
              </p:cNvPr>
              <p:cNvSpPr/>
              <p:nvPr/>
            </p:nvSpPr>
            <p:spPr>
              <a:xfrm>
                <a:off x="683017" y="1859817"/>
                <a:ext cx="13394934" cy="7601499"/>
              </a:xfrm>
              <a:prstGeom prst="rect">
                <a:avLst/>
              </a:prstGeom>
              <a:noFill/>
              <a:ln w="0" cap="flat">
                <a:noFill/>
                <a:prstDash val="solid"/>
                <a:miter lim="0"/>
              </a:ln>
            </p:spPr>
            <p:txBody>
              <a:bodyPr vert="horz" wrap="square" lIns="0" tIns="0" rIns="0" bIns="0"/>
              <a:lstStyle/>
              <a:p>
                <a:pPr algn="l" rtl="0" eaLnBrk="0">
                  <a:lnSpc>
                    <a:spcPct val="80703"/>
                  </a:lnSpc>
                  <a:tabLst/>
                </a:pPr>
                <a:endParaRPr sz="3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47625" eaLnBrk="0">
                  <a:lnSpc>
                    <a:spcPct val="92000"/>
                  </a:lnSpc>
                  <a:spcBef>
                    <a:spcPts val="600"/>
                  </a:spcBef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Specify </a:t>
                </a:r>
                <a:r>
                  <a:rPr sz="3000" kern="0" dirty="0">
                    <a:solidFill>
                      <a:srgbClr val="BD1A1A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sharp null hypo</a:t>
                </a:r>
                <a:r>
                  <a:rPr lang="en-US" sz="3000" kern="0" dirty="0">
                    <a:solidFill>
                      <a:srgbClr val="BD1A1A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th</a:t>
                </a:r>
                <a:r>
                  <a:rPr sz="3000" kern="0" dirty="0">
                    <a:solidFill>
                      <a:srgbClr val="BD1A1A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esis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102995" eaLnBrk="0">
                  <a:lnSpc>
                    <a:spcPts val="3318"/>
                  </a:lnSpc>
                  <a:spcBef>
                    <a:spcPts val="1098"/>
                  </a:spcBef>
                  <a:tabLst>
                    <a:tab pos="1318257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typically,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:</m:t>
                    </m:r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(1)−</m:t>
                    </m:r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endParaRPr lang="en-US" sz="27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102995" eaLnBrk="0">
                  <a:lnSpc>
                    <a:spcPts val="3318"/>
                  </a:lnSpc>
                  <a:spcBef>
                    <a:spcPts val="1098"/>
                  </a:spcBef>
                  <a:tabLst>
                    <a:tab pos="1318257" algn="l"/>
                  </a:tabLst>
                </a:pP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calculate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7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based on observed data:</a:t>
                </a:r>
                <a:endParaRPr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367790" eaLnBrk="0">
                  <a:lnSpc>
                    <a:spcPts val="3318"/>
                  </a:lnSpc>
                  <a:spcBef>
                    <a:spcPts val="267"/>
                  </a:spcBef>
                </a:pP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(1)−</m:t>
                    </m:r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700" dirty="0"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 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for units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r>
                  <a:rPr lang="en-US" sz="2700" dirty="0"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;</a:t>
                </a:r>
                <a:endParaRPr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367790" eaLnBrk="0">
                  <a:lnSpc>
                    <a:spcPts val="3318"/>
                  </a:lnSpc>
                  <a:spcBef>
                    <a:spcPts val="267"/>
                  </a:spcBef>
                </a:pPr>
                <a:r>
                  <a:rPr lang="en-US" altLang="zh-CN" sz="2700" dirty="0">
                    <a:latin typeface="Arial" panose="020B0604020202020204" pitchFamily="34" charset="0"/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(0)=</m:t>
                    </m:r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(1)=</m:t>
                    </m:r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)+</m:t>
                    </m:r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zh-CN" sz="2700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0</m:t>
                        </m:r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2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for units with</a:t>
                </a:r>
                <a:r>
                  <a:rPr lang="en-US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7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2700" i="1"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7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r>
                  <a:rPr lang="zh-CN" altLang="zh-CN" sz="27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38100" eaLnBrk="0">
                  <a:lnSpc>
                    <a:spcPts val="3681"/>
                  </a:lnSpc>
                  <a:spcBef>
                    <a:spcPts val="906"/>
                  </a:spcBef>
                </a:pPr>
                <a:endParaRPr lang="en-US" sz="1500" kern="0" dirty="0">
                  <a:solidFill>
                    <a:srgbClr val="FFFFFF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38100" eaLnBrk="0">
                  <a:lnSpc>
                    <a:spcPts val="3681"/>
                  </a:lnSpc>
                  <a:spcBef>
                    <a:spcPts val="300"/>
                  </a:spcBef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Choose a </a:t>
                </a:r>
                <a:r>
                  <a:rPr sz="3000" kern="0" dirty="0">
                    <a:solidFill>
                      <a:srgbClr val="BD1A1A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test sta</a:t>
                </a:r>
                <a:r>
                  <a:rPr lang="en-US" sz="3000" kern="0" dirty="0">
                    <a:solidFill>
                      <a:srgbClr val="BD1A1A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ti</a:t>
                </a:r>
                <a:r>
                  <a:rPr sz="3000" kern="0" dirty="0">
                    <a:solidFill>
                      <a:srgbClr val="BD1A1A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stic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3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𝐙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3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𝐘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(1),</m:t>
                    </m:r>
                    <m:r>
                      <a:rPr lang="en-US" altLang="zh-CN" sz="3000" b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𝐘</m:t>
                    </m:r>
                    <m:r>
                      <a:rPr lang="en-US" altLang="zh-CN" sz="3000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(0))</m:t>
                    </m:r>
                  </m:oMath>
                </a14:m>
                <a:endParaRPr sz="3000" kern="0" dirty="0">
                  <a:solidFill>
                    <a:srgbClr val="000000">
                      <a:alpha val="10000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102995" eaLnBrk="0">
                  <a:lnSpc>
                    <a:spcPct val="93000"/>
                  </a:lnSpc>
                  <a:spcBef>
                    <a:spcPts val="720"/>
                  </a:spcBef>
                  <a:tabLst>
                    <a:tab pos="1325880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</a:t>
                </a:r>
                <a:r>
                  <a:rPr lang="en"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Difference in means, studentized statistic... </a:t>
                </a:r>
                <a:endParaRPr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algn="l" rtl="0" eaLnBrk="0">
                  <a:lnSpc>
                    <a:spcPct val="127000"/>
                  </a:lnSpc>
                  <a:tabLst/>
                </a:pPr>
                <a:endParaRPr lang="zh-CN" altLang="en-US"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514350" indent="-476250" eaLnBrk="0">
                  <a:lnSpc>
                    <a:spcPct val="96000"/>
                  </a:lnSpc>
                  <a:spcBef>
                    <a:spcPts val="915"/>
                  </a:spcBef>
                </a:pP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  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Compute the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ea typeface="DengXian" panose="02010600030101010101" pitchFamily="2" charset="-122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-value based on the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randomized</a:t>
                </a:r>
                <a:r>
                  <a:rPr lang="en-US"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 </a:t>
                </a:r>
                <a:r>
                  <a:rPr sz="30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distribution of treatment assignment</a:t>
                </a:r>
                <a:endParaRPr sz="30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102995" eaLnBrk="0">
                  <a:lnSpc>
                    <a:spcPct val="93000"/>
                  </a:lnSpc>
                  <a:spcBef>
                    <a:spcPts val="1101"/>
                  </a:spcBef>
                  <a:tabLst>
                    <a:tab pos="1346832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Exact distribution in small samples</a:t>
                </a:r>
                <a:endParaRPr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102995" eaLnBrk="0">
                  <a:lnSpc>
                    <a:spcPct val="93000"/>
                  </a:lnSpc>
                  <a:spcBef>
                    <a:spcPts val="573"/>
                  </a:spcBef>
                  <a:tabLst>
                    <a:tab pos="1346832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Large-sample approximation</a:t>
                </a:r>
                <a:endParaRPr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  <a:p>
                <a:pPr marL="1102995" eaLnBrk="0">
                  <a:lnSpc>
                    <a:spcPct val="93000"/>
                  </a:lnSpc>
                  <a:spcBef>
                    <a:spcPts val="573"/>
                  </a:spcBef>
                  <a:tabLst>
                    <a:tab pos="1348740" algn="l"/>
                  </a:tabLst>
                </a:pPr>
                <a:r>
                  <a:rPr sz="2700" kern="0" dirty="0">
                    <a:solidFill>
                      <a:srgbClr val="000000">
                        <a:alpha val="100000"/>
                      </a:srgbClr>
                    </a:solidFill>
                    <a:latin typeface="Arial" panose="020B0604020202020204" pitchFamily="34" charset="0"/>
                    <a:ea typeface="Arial"/>
                    <a:cs typeface="Arial" panose="020B0604020202020204" pitchFamily="34" charset="0"/>
                  </a:rPr>
                  <a:t>	Monte Carlo approximation as a general strategy</a:t>
                </a:r>
                <a:endParaRPr sz="2700" dirty="0">
                  <a:latin typeface="Arial" panose="020B0604020202020204" pitchFamily="34" charset="0"/>
                  <a:ea typeface="Arial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70" name="textbox 670">
                <a:extLst>
                  <a:ext uri="{FF2B5EF4-FFF2-40B4-BE49-F238E27FC236}">
                    <a16:creationId xmlns:a16="http://schemas.microsoft.com/office/drawing/2014/main" id="{3FCCE74B-427F-3C47-7378-EBD7A4D2AC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017" y="1859817"/>
                <a:ext cx="13394934" cy="7601499"/>
              </a:xfrm>
              <a:prstGeom prst="rect">
                <a:avLst/>
              </a:prstGeom>
              <a:blipFill>
                <a:blip r:embed="rId5"/>
                <a:stretch>
                  <a:fillRect t="-501"/>
                </a:stretch>
              </a:blipFill>
              <a:ln w="0" cap="flat">
                <a:noFill/>
                <a:prstDash val="solid"/>
                <a:miter lim="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2" name="picture 672">
            <a:extLst>
              <a:ext uri="{FF2B5EF4-FFF2-40B4-BE49-F238E27FC236}">
                <a16:creationId xmlns:a16="http://schemas.microsoft.com/office/drawing/2014/main" id="{639A0ABC-4DE5-8B7E-EB3A-788F63163E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712598" y="8705712"/>
            <a:ext cx="157755" cy="157755"/>
          </a:xfrm>
          <a:prstGeom prst="rect">
            <a:avLst/>
          </a:prstGeom>
        </p:spPr>
      </p:pic>
      <p:pic>
        <p:nvPicPr>
          <p:cNvPr id="674" name="picture 674">
            <a:extLst>
              <a:ext uri="{FF2B5EF4-FFF2-40B4-BE49-F238E27FC236}">
                <a16:creationId xmlns:a16="http://schemas.microsoft.com/office/drawing/2014/main" id="{89876F93-B313-ECA0-BDEB-E1EA986719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712598" y="8250447"/>
            <a:ext cx="157755" cy="157755"/>
          </a:xfrm>
          <a:prstGeom prst="rect">
            <a:avLst/>
          </a:prstGeom>
        </p:spPr>
      </p:pic>
      <p:pic>
        <p:nvPicPr>
          <p:cNvPr id="676" name="picture 676">
            <a:extLst>
              <a:ext uri="{FF2B5EF4-FFF2-40B4-BE49-F238E27FC236}">
                <a16:creationId xmlns:a16="http://schemas.microsoft.com/office/drawing/2014/main" id="{722E72A1-D473-3520-064B-42802EFDB2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712598" y="7775916"/>
            <a:ext cx="157755" cy="157755"/>
          </a:xfrm>
          <a:prstGeom prst="rect">
            <a:avLst/>
          </a:prstGeom>
        </p:spPr>
      </p:pic>
      <p:pic>
        <p:nvPicPr>
          <p:cNvPr id="678" name="picture 678">
            <a:extLst>
              <a:ext uri="{FF2B5EF4-FFF2-40B4-BE49-F238E27FC236}">
                <a16:creationId xmlns:a16="http://schemas.microsoft.com/office/drawing/2014/main" id="{7210AB28-5A46-BBE6-6E04-984DFAFEB42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712598" y="5697798"/>
            <a:ext cx="157755" cy="157755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159137A4-A43A-021A-3AFC-75BC858F374D}"/>
              </a:ext>
            </a:extLst>
          </p:cNvPr>
          <p:cNvGrpSpPr/>
          <p:nvPr/>
        </p:nvGrpSpPr>
        <p:grpSpPr>
          <a:xfrm>
            <a:off x="1712598" y="2666353"/>
            <a:ext cx="157755" cy="727536"/>
            <a:chOff x="570865" y="851335"/>
            <a:chExt cx="52585" cy="242512"/>
          </a:xfrm>
        </p:grpSpPr>
        <p:pic>
          <p:nvPicPr>
            <p:cNvPr id="682" name="picture 682">
              <a:extLst>
                <a:ext uri="{FF2B5EF4-FFF2-40B4-BE49-F238E27FC236}">
                  <a16:creationId xmlns:a16="http://schemas.microsoft.com/office/drawing/2014/main" id="{79277F26-5557-BECC-BDCA-34E5F0146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570865" y="1041262"/>
              <a:ext cx="52585" cy="52585"/>
            </a:xfrm>
            <a:prstGeom prst="rect">
              <a:avLst/>
            </a:prstGeom>
          </p:spPr>
        </p:pic>
        <p:pic>
          <p:nvPicPr>
            <p:cNvPr id="684" name="picture 684">
              <a:extLst>
                <a:ext uri="{FF2B5EF4-FFF2-40B4-BE49-F238E27FC236}">
                  <a16:creationId xmlns:a16="http://schemas.microsoft.com/office/drawing/2014/main" id="{C4A40276-71E3-5ACA-B567-E5AD46908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70865" y="851335"/>
              <a:ext cx="52585" cy="52585"/>
            </a:xfrm>
            <a:prstGeom prst="rect">
              <a:avLst/>
            </a:prstGeom>
          </p:spPr>
        </p:pic>
      </p:grpSp>
      <p:sp>
        <p:nvSpPr>
          <p:cNvPr id="686" name="rect 686">
            <a:extLst>
              <a:ext uri="{FF2B5EF4-FFF2-40B4-BE49-F238E27FC236}">
                <a16:creationId xmlns:a16="http://schemas.microsoft.com/office/drawing/2014/main" id="{56F2FAB9-7AFA-CD7A-8880-84A51DE738CE}"/>
              </a:ext>
            </a:extLst>
          </p:cNvPr>
          <p:cNvSpPr/>
          <p:nvPr/>
        </p:nvSpPr>
        <p:spPr>
          <a:xfrm>
            <a:off x="1" y="795"/>
            <a:ext cx="13824012" cy="1050339"/>
          </a:xfrm>
          <a:prstGeom prst="rect">
            <a:avLst/>
          </a:prstGeom>
          <a:solidFill>
            <a:srgbClr val="F2F2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 sz="16200"/>
          </a:p>
        </p:txBody>
      </p:sp>
      <p:sp>
        <p:nvSpPr>
          <p:cNvPr id="688" name="textbox 688">
            <a:extLst>
              <a:ext uri="{FF2B5EF4-FFF2-40B4-BE49-F238E27FC236}">
                <a16:creationId xmlns:a16="http://schemas.microsoft.com/office/drawing/2014/main" id="{237F797C-6CC0-65B6-1FAB-F8A7610F2A43}"/>
              </a:ext>
            </a:extLst>
          </p:cNvPr>
          <p:cNvSpPr/>
          <p:nvPr/>
        </p:nvSpPr>
        <p:spPr>
          <a:xfrm>
            <a:off x="321427" y="312700"/>
            <a:ext cx="6591342" cy="628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38100" eaLnBrk="0">
              <a:lnSpc>
                <a:spcPct val="93000"/>
              </a:lnSpc>
            </a:pPr>
            <a:r>
              <a:rPr sz="4200" kern="0" dirty="0">
                <a:solidFill>
                  <a:srgbClr val="CC0000">
                    <a:alpha val="100000"/>
                  </a:srgbClr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</a:rPr>
              <a:t>General procedure for FRT</a:t>
            </a:r>
            <a:endParaRPr sz="4200" dirty="0">
              <a:latin typeface="Arial" panose="020B0604020202020204" pitchFamily="34" charset="0"/>
              <a:ea typeface="Arial"/>
              <a:cs typeface="Arial" panose="020B0604020202020204" pitchFamily="34" charset="0"/>
            </a:endParaRPr>
          </a:p>
        </p:txBody>
      </p:sp>
      <p:sp>
        <p:nvSpPr>
          <p:cNvPr id="690" name="textbox 690">
            <a:extLst>
              <a:ext uri="{FF2B5EF4-FFF2-40B4-BE49-F238E27FC236}">
                <a16:creationId xmlns:a16="http://schemas.microsoft.com/office/drawing/2014/main" id="{43EF8A46-FB0D-D905-C6BF-29FF988D929D}"/>
              </a:ext>
            </a:extLst>
          </p:cNvPr>
          <p:cNvSpPr/>
          <p:nvPr/>
        </p:nvSpPr>
        <p:spPr>
          <a:xfrm>
            <a:off x="12879252" y="10024509"/>
            <a:ext cx="741045" cy="30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8100" eaLnBrk="0">
              <a:lnSpc>
                <a:spcPts val="1812"/>
              </a:lnSpc>
            </a:pP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15</a:t>
            </a:r>
            <a:r>
              <a:rPr sz="1500" kern="0" spc="-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/</a:t>
            </a:r>
            <a:r>
              <a:rPr sz="1500" kern="0" spc="-3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120" dirty="0">
                <a:solidFill>
                  <a:srgbClr val="8F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29</a:t>
            </a:r>
            <a:endParaRPr sz="1500" dirty="0">
              <a:latin typeface="Arial"/>
              <a:ea typeface="Arial"/>
              <a:cs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E7455F-1324-8C45-3650-84690768B60A}"/>
              </a:ext>
            </a:extLst>
          </p:cNvPr>
          <p:cNvSpPr txBox="1"/>
          <p:nvPr/>
        </p:nvSpPr>
        <p:spPr>
          <a:xfrm>
            <a:off x="511438" y="1859815"/>
            <a:ext cx="8763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kumimoji="1" lang="zh-CN" altLang="en-US" sz="2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814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619</TotalTime>
  <Words>1667</Words>
  <Application>Microsoft Macintosh PowerPoint</Application>
  <PresentationFormat>Custom</PresentationFormat>
  <Paragraphs>348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Georgia</vt:lpstr>
      <vt:lpstr>Office 2013 - 2022 Theme</vt:lpstr>
      <vt:lpstr>文档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Zhichao Jiang</cp:lastModifiedBy>
  <cp:revision>21</cp:revision>
  <dcterms:created xsi:type="dcterms:W3CDTF">2024-09-23T12:01:45Z</dcterms:created>
  <dcterms:modified xsi:type="dcterms:W3CDTF">2026-02-26T09:00:23Z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2026-02-16T11:57:32Z</vt:filetime>
  </property>
</Properties>
</file>