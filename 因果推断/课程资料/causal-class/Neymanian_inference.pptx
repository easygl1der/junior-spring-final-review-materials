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354" r:id="rId3"/>
    <p:sldId id="296" r:id="rId4"/>
    <p:sldId id="357" r:id="rId5"/>
    <p:sldId id="356" r:id="rId6"/>
    <p:sldId id="298" r:id="rId7"/>
    <p:sldId id="359" r:id="rId8"/>
    <p:sldId id="358" r:id="rId9"/>
    <p:sldId id="355" r:id="rId10"/>
    <p:sldId id="265" r:id="rId11"/>
    <p:sldId id="361" r:id="rId12"/>
    <p:sldId id="360" r:id="rId13"/>
    <p:sldId id="304" r:id="rId14"/>
    <p:sldId id="363" r:id="rId15"/>
    <p:sldId id="362" r:id="rId16"/>
    <p:sldId id="271" r:id="rId17"/>
    <p:sldId id="365" r:id="rId18"/>
    <p:sldId id="364" r:id="rId19"/>
    <p:sldId id="274" r:id="rId20"/>
    <p:sldId id="295" r:id="rId21"/>
    <p:sldId id="366" r:id="rId22"/>
    <p:sldId id="367" r:id="rId23"/>
    <p:sldId id="306" r:id="rId24"/>
    <p:sldId id="307" r:id="rId25"/>
  </p:sldIdLst>
  <p:sldSz cx="4608513" cy="3455988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45" autoAdjust="0"/>
    <p:restoredTop sz="94660"/>
  </p:normalViewPr>
  <p:slideViewPr>
    <p:cSldViewPr snapToGrid="0">
      <p:cViewPr varScale="1">
        <p:scale>
          <a:sx n="201" d="100"/>
          <a:sy n="201" d="100"/>
        </p:scale>
        <p:origin x="14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5.emf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package" Target="../embeddings/Microsoft_Word___.docx"/><Relationship Id="rId5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5.emf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package" Target="../embeddings/Microsoft_Word___1.docx"/><Relationship Id="rId5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20.emf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package" Target="../embeddings/Microsoft_Word___2.docx"/><Relationship Id="rId5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jp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emf"/><Relationship Id="rId4" Type="http://schemas.openxmlformats.org/officeDocument/2006/relationships/package" Target="../embeddings/Microsoft_Word___3.docx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emf"/><Relationship Id="rId4" Type="http://schemas.openxmlformats.org/officeDocument/2006/relationships/package" Target="../embeddings/Microsoft_Word___3.docx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emf"/><Relationship Id="rId3" Type="http://schemas.openxmlformats.org/officeDocument/2006/relationships/image" Target="../media/image33.png"/><Relationship Id="rId7" Type="http://schemas.openxmlformats.org/officeDocument/2006/relationships/package" Target="../embeddings/Microsoft_Word___4.docx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Word___5.docx"/><Relationship Id="rId3" Type="http://schemas.openxmlformats.org/officeDocument/2006/relationships/image" Target="../media/image38.png"/><Relationship Id="rId7" Type="http://schemas.openxmlformats.org/officeDocument/2006/relationships/image" Target="../media/image31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9" Type="http://schemas.openxmlformats.org/officeDocument/2006/relationships/image" Target="../media/image36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1.emf"/><Relationship Id="rId4" Type="http://schemas.openxmlformats.org/officeDocument/2006/relationships/package" Target="../embeddings/Microsoft_Word___6.docx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41.emf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6" Type="http://schemas.openxmlformats.org/officeDocument/2006/relationships/package" Target="../embeddings/Microsoft_Word___8.docx"/><Relationship Id="rId5" Type="http://schemas.openxmlformats.org/officeDocument/2006/relationships/image" Target="../media/image42.emf"/><Relationship Id="rId4" Type="http://schemas.openxmlformats.org/officeDocument/2006/relationships/package" Target="../embeddings/Microsoft_Word___7.docx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Word___10.docx"/><Relationship Id="rId3" Type="http://schemas.openxmlformats.org/officeDocument/2006/relationships/image" Target="../media/image44.png"/><Relationship Id="rId7" Type="http://schemas.openxmlformats.org/officeDocument/2006/relationships/image" Target="../media/image42.emf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6" Type="http://schemas.openxmlformats.org/officeDocument/2006/relationships/package" Target="../embeddings/Microsoft_Word___9.docx"/><Relationship Id="rId5" Type="http://schemas.openxmlformats.org/officeDocument/2006/relationships/image" Target="../media/image40.png"/><Relationship Id="rId4" Type="http://schemas.openxmlformats.org/officeDocument/2006/relationships/image" Target="../media/image45.png"/><Relationship Id="rId9" Type="http://schemas.openxmlformats.org/officeDocument/2006/relationships/image" Target="../media/image41.e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7.png"/><Relationship Id="rId7" Type="http://schemas.openxmlformats.org/officeDocument/2006/relationships/image" Target="NULL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11" Type="http://schemas.openxmlformats.org/officeDocument/2006/relationships/image" Target="../media/image54.png"/><Relationship Id="rId5" Type="http://schemas.openxmlformats.org/officeDocument/2006/relationships/image" Target="../media/image49.png"/><Relationship Id="rId10" Type="http://schemas.openxmlformats.org/officeDocument/2006/relationships/image" Target="../media/image53.png"/><Relationship Id="rId4" Type="http://schemas.openxmlformats.org/officeDocument/2006/relationships/image" Target="../media/image48.png"/><Relationship Id="rId9" Type="http://schemas.openxmlformats.org/officeDocument/2006/relationships/image" Target="../media/image52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69.png"/><Relationship Id="rId7" Type="http://schemas.openxmlformats.org/officeDocument/2006/relationships/image" Target="../media/image64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.png"/><Relationship Id="rId5" Type="http://schemas.openxmlformats.org/officeDocument/2006/relationships/image" Target="../media/image71.png"/><Relationship Id="rId10" Type="http://schemas.openxmlformats.org/officeDocument/2006/relationships/image" Target="../media/image67.png"/><Relationship Id="rId4" Type="http://schemas.openxmlformats.org/officeDocument/2006/relationships/image" Target="../media/image70.png"/><Relationship Id="rId9" Type="http://schemas.openxmlformats.org/officeDocument/2006/relationships/image" Target="../media/image66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image" Target="../media/image73.png"/><Relationship Id="rId7" Type="http://schemas.openxmlformats.org/officeDocument/2006/relationships/image" Target="../media/image77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Relationship Id="rId9" Type="http://schemas.openxmlformats.org/officeDocument/2006/relationships/image" Target="../media/image7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21600000">
            <a:off x="87743" y="718260"/>
            <a:ext cx="4483316" cy="757098"/>
            <a:chOff x="0" y="0"/>
            <a:chExt cx="4483316" cy="757098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4483316" cy="757098"/>
            </a:xfrm>
            <a:prstGeom prst="rect">
              <a:avLst/>
            </a:prstGeom>
          </p:spPr>
        </p:pic>
        <p:sp>
          <p:nvSpPr>
            <p:cNvPr id="4" name="textbox 4"/>
            <p:cNvSpPr/>
            <p:nvPr/>
          </p:nvSpPr>
          <p:spPr>
            <a:xfrm>
              <a:off x="163125" y="146680"/>
              <a:ext cx="4119880" cy="43751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marL="12700" algn="ctr" rtl="0" eaLnBrk="0">
                <a:lnSpc>
                  <a:spcPct val="93000"/>
                </a:lnSpc>
                <a:tabLst/>
              </a:pPr>
              <a:r>
                <a:rPr sz="1400" kern="0" dirty="0" err="1">
                  <a:solidFill>
                    <a:srgbClr val="CC0000">
                      <a:alpha val="100000"/>
                    </a:srgbClr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rPr>
                <a:t>Neymanian</a:t>
              </a:r>
              <a:r>
                <a:rPr sz="1400" kern="0" dirty="0">
                  <a:solidFill>
                    <a:srgbClr val="CC0000">
                      <a:alpha val="100000"/>
                    </a:srgbClr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rPr>
                <a:t> Repeated Sampling Inference in</a:t>
              </a:r>
              <a:r>
                <a:rPr lang="zh-CN" altLang="en-US" sz="1400" kern="0" dirty="0">
                  <a:solidFill>
                    <a:srgbClr val="CC0000">
                      <a:alpha val="100000"/>
                    </a:srgbClr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rPr>
                <a:t> </a:t>
              </a:r>
              <a:r>
                <a:rPr sz="1400" kern="0" dirty="0">
                  <a:solidFill>
                    <a:srgbClr val="CC0000">
                      <a:alpha val="100000"/>
                    </a:srgbClr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rPr>
                <a:t>Completely</a:t>
              </a:r>
              <a:r>
                <a:rPr lang="en-US" sz="14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rPr>
                <a:t> </a:t>
              </a:r>
              <a:r>
                <a:rPr sz="1400" kern="0" dirty="0">
                  <a:solidFill>
                    <a:srgbClr val="CC0000">
                      <a:alpha val="100000"/>
                    </a:srgbClr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rPr>
                <a:t>Randomized Experiments</a:t>
              </a:r>
              <a:endParaRPr sz="1400" dirty="0">
                <a:latin typeface="Arial" panose="020B0604020202020204" pitchFamily="34" charset="0"/>
                <a:ea typeface="Arial"/>
                <a:cs typeface="Arial" panose="020B0604020202020204" pitchFamily="34" charset="0"/>
              </a:endParaRPr>
            </a:p>
          </p:txBody>
        </p:sp>
        <p:grpSp>
          <p:nvGrpSpPr>
            <p:cNvPr id="5" name="group 4"/>
            <p:cNvGrpSpPr/>
            <p:nvPr/>
          </p:nvGrpSpPr>
          <p:grpSpPr>
            <a:xfrm rot="21600000">
              <a:off x="4432566" y="31506"/>
              <a:ext cx="0" cy="643041"/>
              <a:chOff x="0" y="0"/>
              <a:chExt cx="0" cy="643041"/>
            </a:xfrm>
          </p:grpSpPr>
          <p:sp>
            <p:nvSpPr>
              <p:cNvPr id="6" name="path 6"/>
              <p:cNvSpPr/>
              <p:nvPr/>
            </p:nvSpPr>
            <p:spPr>
              <a:xfrm>
                <a:off x="0" y="57150"/>
                <a:ext cx="0" cy="585891"/>
              </a:xfrm>
              <a:custGeom>
                <a:avLst/>
                <a:gdLst/>
                <a:ahLst/>
                <a:cxnLst/>
                <a:rect l="0" t="0" r="0" b="0"/>
                <a:pathLst>
                  <a:path h="922">
                    <a:moveTo>
                      <a:pt x="0" y="922"/>
                    </a:moveTo>
                    <a:lnTo>
                      <a:pt x="0" y="0"/>
                    </a:lnTo>
                  </a:path>
                </a:pathLst>
              </a:custGeom>
              <a:noFill/>
              <a:ln w="0" cap="flat">
                <a:solidFill>
                  <a:srgbClr val="808080"/>
                </a:solidFill>
                <a:prstDash val="solid"/>
                <a:miter lim="100000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" name="path 8"/>
              <p:cNvSpPr/>
              <p:nvPr/>
            </p:nvSpPr>
            <p:spPr>
              <a:xfrm>
                <a:off x="0" y="44450"/>
                <a:ext cx="0" cy="12700"/>
              </a:xfrm>
              <a:custGeom>
                <a:avLst/>
                <a:gdLst/>
                <a:ahLst/>
                <a:cxnLst/>
                <a:rect l="0" t="0" r="0" b="0"/>
                <a:pathLst>
                  <a:path h="20">
                    <a:moveTo>
                      <a:pt x="0" y="20"/>
                    </a:moveTo>
                    <a:lnTo>
                      <a:pt x="0" y="0"/>
                    </a:lnTo>
                  </a:path>
                </a:pathLst>
              </a:custGeom>
              <a:noFill/>
              <a:ln w="0" cap="flat">
                <a:solidFill>
                  <a:srgbClr val="B0B0B0"/>
                </a:solidFill>
                <a:prstDash val="solid"/>
                <a:miter lim="100000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path 10"/>
              <p:cNvSpPr/>
              <p:nvPr/>
            </p:nvSpPr>
            <p:spPr>
              <a:xfrm>
                <a:off x="0" y="31750"/>
                <a:ext cx="0" cy="12700"/>
              </a:xfrm>
              <a:custGeom>
                <a:avLst/>
                <a:gdLst/>
                <a:ahLst/>
                <a:cxnLst/>
                <a:rect l="0" t="0" r="0" b="0"/>
                <a:pathLst>
                  <a:path h="20">
                    <a:moveTo>
                      <a:pt x="0" y="20"/>
                    </a:moveTo>
                    <a:lnTo>
                      <a:pt x="0" y="0"/>
                    </a:lnTo>
                  </a:path>
                </a:pathLst>
              </a:custGeom>
              <a:noFill/>
              <a:ln w="0" cap="flat">
                <a:solidFill>
                  <a:srgbClr val="CFCFCF"/>
                </a:solidFill>
                <a:prstDash val="solid"/>
                <a:miter lim="100000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path 12"/>
              <p:cNvSpPr/>
              <p:nvPr/>
            </p:nvSpPr>
            <p:spPr>
              <a:xfrm>
                <a:off x="0" y="19050"/>
                <a:ext cx="0" cy="12700"/>
              </a:xfrm>
              <a:custGeom>
                <a:avLst/>
                <a:gdLst/>
                <a:ahLst/>
                <a:cxnLst/>
                <a:rect l="0" t="0" r="0" b="0"/>
                <a:pathLst>
                  <a:path h="20">
                    <a:moveTo>
                      <a:pt x="0" y="20"/>
                    </a:moveTo>
                    <a:lnTo>
                      <a:pt x="0" y="0"/>
                    </a:lnTo>
                  </a:path>
                </a:pathLst>
              </a:custGeom>
              <a:noFill/>
              <a:ln w="0" cap="flat">
                <a:solidFill>
                  <a:srgbClr val="F0F0F0"/>
                </a:solidFill>
                <a:prstDash val="solid"/>
                <a:miter lim="100000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path 14"/>
              <p:cNvSpPr/>
              <p:nvPr/>
            </p:nvSpPr>
            <p:spPr>
              <a:xfrm>
                <a:off x="0" y="0"/>
                <a:ext cx="0" cy="19050"/>
              </a:xfrm>
              <a:custGeom>
                <a:avLst/>
                <a:gdLst/>
                <a:ahLst/>
                <a:cxnLst/>
                <a:rect l="0" t="0" r="0" b="0"/>
                <a:pathLst>
                  <a:path h="30">
                    <a:moveTo>
                      <a:pt x="0" y="30"/>
                    </a:moveTo>
                    <a:lnTo>
                      <a:pt x="0" y="0"/>
                    </a:lnTo>
                  </a:path>
                </a:pathLst>
              </a:custGeom>
              <a:noFill/>
              <a:ln w="0" cap="flat">
                <a:solidFill>
                  <a:srgbClr val="FFFFFF"/>
                </a:solidFill>
                <a:prstDash val="solid"/>
                <a:miter lim="100000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18" name="textbox 18"/>
          <p:cNvSpPr/>
          <p:nvPr/>
        </p:nvSpPr>
        <p:spPr>
          <a:xfrm>
            <a:off x="4333404" y="3341243"/>
            <a:ext cx="207009" cy="1022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604"/>
              </a:lnSpc>
              <a:tabLst/>
            </a:pPr>
            <a:r>
              <a:rPr sz="500" kern="0" spc="3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500" kern="0" spc="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500" kern="0" spc="3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 12</a:t>
            </a:r>
            <a:endParaRPr sz="500" dirty="0">
              <a:latin typeface="Arial"/>
              <a:ea typeface="Arial"/>
              <a:cs typeface="Arial"/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159D5B63-2AEE-DF56-C008-CF903A7DBDF6}"/>
              </a:ext>
            </a:extLst>
          </p:cNvPr>
          <p:cNvSpPr/>
          <p:nvPr/>
        </p:nvSpPr>
        <p:spPr>
          <a:xfrm>
            <a:off x="1639411" y="1622038"/>
            <a:ext cx="1329690" cy="8369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ctr" rtl="0" eaLnBrk="0">
              <a:lnSpc>
                <a:spcPct val="88000"/>
              </a:lnSpc>
            </a:pP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Arial" panose="020B0604020202090204"/>
                <a:cs typeface="Arial" panose="020B0604020202020204" pitchFamily="34" charset="0"/>
              </a:rPr>
              <a:t>Zhichao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Arial" panose="020B0604020202090204"/>
                <a:cs typeface="Arial" panose="020B0604020202020204" pitchFamily="34" charset="0"/>
              </a:rPr>
              <a:t>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Arial" panose="020B0604020202090204"/>
                <a:cs typeface="Arial" panose="020B0604020202020204" pitchFamily="34" charset="0"/>
              </a:rPr>
              <a:t>Jiang</a:t>
            </a:r>
            <a:endParaRPr sz="1100" dirty="0">
              <a:latin typeface="Arial" panose="020B0604020202020204" pitchFamily="34" charset="0"/>
              <a:ea typeface="Arial" panose="020B0604020202090204"/>
              <a:cs typeface="Arial" panose="020B0604020202020204" pitchFamily="34" charset="0"/>
            </a:endParaRPr>
          </a:p>
          <a:p>
            <a:pPr algn="ctr" rtl="0" eaLnBrk="0">
              <a:lnSpc>
                <a:spcPct val="104000"/>
              </a:lnSpc>
            </a:pPr>
            <a:endParaRPr sz="1000" dirty="0">
              <a:latin typeface="Arial" panose="020B0604020202020204" pitchFamily="34" charset="0"/>
              <a:ea typeface="Arial" panose="020B0604020202090204"/>
              <a:cs typeface="Arial" panose="020B0604020202020204" pitchFamily="34" charset="0"/>
            </a:endParaRPr>
          </a:p>
          <a:p>
            <a:pPr marL="12700" algn="ctr" rtl="0" eaLnBrk="0">
              <a:lnSpc>
                <a:spcPct val="92000"/>
              </a:lnSpc>
              <a:spcBef>
                <a:spcPts val="305"/>
              </a:spcBef>
            </a:pP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Arial" panose="020B0604020202090204"/>
                <a:cs typeface="Arial" panose="020B0604020202020204" pitchFamily="34" charset="0"/>
              </a:rPr>
              <a:t>Sun</a:t>
            </a:r>
            <a:r>
              <a:rPr sz="1000" kern="0" spc="10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Arial" panose="020B0604020202090204"/>
                <a:cs typeface="Arial" panose="020B0604020202020204" pitchFamily="34" charset="0"/>
              </a:rPr>
              <a:t>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Arial" panose="020B0604020202090204"/>
                <a:cs typeface="Arial" panose="020B0604020202020204" pitchFamily="34" charset="0"/>
              </a:rPr>
              <a:t>Yat-sen</a:t>
            </a:r>
            <a:r>
              <a:rPr sz="1000" kern="0" spc="19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Arial" panose="020B0604020202090204"/>
                <a:cs typeface="Arial" panose="020B0604020202020204" pitchFamily="34" charset="0"/>
              </a:rPr>
              <a:t>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Arial" panose="020B0604020202090204"/>
                <a:cs typeface="Arial" panose="020B0604020202020204" pitchFamily="34" charset="0"/>
              </a:rPr>
              <a:t>University</a:t>
            </a:r>
            <a:endParaRPr sz="1000" dirty="0">
              <a:latin typeface="Arial" panose="020B0604020202020204" pitchFamily="34" charset="0"/>
              <a:ea typeface="Arial" panose="020B0604020202090204"/>
              <a:cs typeface="Arial" panose="020B0604020202020204" pitchFamily="34" charset="0"/>
            </a:endParaRPr>
          </a:p>
          <a:p>
            <a:pPr algn="ctr" rtl="0" eaLnBrk="0">
              <a:lnSpc>
                <a:spcPct val="111000"/>
              </a:lnSpc>
            </a:pPr>
            <a:endParaRPr sz="1000" dirty="0">
              <a:latin typeface="Arial" panose="020B0604020202020204" pitchFamily="34" charset="0"/>
              <a:ea typeface="Arial" panose="020B0604020202090204"/>
              <a:cs typeface="Arial" panose="020B0604020202020204" pitchFamily="34" charset="0"/>
            </a:endParaRPr>
          </a:p>
          <a:p>
            <a:pPr algn="ctr" rtl="0" eaLnBrk="0">
              <a:lnSpc>
                <a:spcPct val="126000"/>
              </a:lnSpc>
            </a:pPr>
            <a:r>
              <a:rPr lang="en-US" sz="10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Arial" panose="020B0604020202090204"/>
                <a:cs typeface="Arial" panose="020B0604020202020204" pitchFamily="34" charset="0"/>
              </a:rPr>
              <a:t>Spring</a:t>
            </a:r>
            <a:r>
              <a:rPr sz="1000" kern="0" spc="12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Arial" panose="020B0604020202090204"/>
                <a:cs typeface="Arial" panose="020B0604020202020204" pitchFamily="34" charset="0"/>
              </a:rPr>
              <a:t> </a:t>
            </a:r>
            <a:r>
              <a:rPr sz="10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Arial" panose="020B0604020202090204"/>
                <a:cs typeface="Arial" panose="020B0604020202020204" pitchFamily="34" charset="0"/>
              </a:rPr>
              <a:t>202</a:t>
            </a:r>
            <a:r>
              <a:rPr lang="en-US" sz="10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Arial" panose="020B0604020202090204"/>
                <a:cs typeface="Arial" panose="020B0604020202020204" pitchFamily="34" charset="0"/>
              </a:rPr>
              <a:t>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67A3F-6FB2-1A11-AF27-3CE142154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textbox 732">
            <a:extLst>
              <a:ext uri="{FF2B5EF4-FFF2-40B4-BE49-F238E27FC236}">
                <a16:creationId xmlns:a16="http://schemas.microsoft.com/office/drawing/2014/main" id="{5BF82E00-C943-49E2-9712-6340C7B20DE4}"/>
              </a:ext>
            </a:extLst>
          </p:cNvPr>
          <p:cNvSpPr/>
          <p:nvPr/>
        </p:nvSpPr>
        <p:spPr>
          <a:xfrm>
            <a:off x="268389" y="689343"/>
            <a:ext cx="4213225" cy="23006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31"/>
              </a:lnSpc>
              <a:tabLst/>
            </a:pPr>
            <a:endParaRPr sz="100" dirty="0">
              <a:latin typeface="Arial" panose="020B0604020202020204" pitchFamily="34" charset="0"/>
              <a:ea typeface="Arial"/>
              <a:cs typeface="Arial" panose="020B0604020202020204" pitchFamily="34" charset="0"/>
            </a:endParaRPr>
          </a:p>
          <a:p>
            <a:pPr marL="77470" algn="l" rtl="0" eaLnBrk="0">
              <a:lnSpc>
                <a:spcPct val="75000"/>
              </a:lnSpc>
              <a:tabLst>
                <a:tab pos="160020" algn="l"/>
              </a:tabLst>
            </a:pPr>
            <a:r>
              <a:rPr lang="en-US" sz="1000" kern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  </a:t>
            </a:r>
            <a:r>
              <a:rPr sz="1000" kern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FRT focuses on individual treatment </a:t>
            </a:r>
            <a:r>
              <a:rPr lang="en-US" sz="1000" kern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eff</a:t>
            </a:r>
            <a:r>
              <a:rPr sz="1000" kern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ect</a:t>
            </a:r>
            <a:endParaRPr sz="1000" dirty="0">
              <a:latin typeface="Arial" panose="020B0604020202020204" pitchFamily="34" charset="0"/>
              <a:ea typeface="Arial"/>
              <a:cs typeface="Arial" panose="020B0604020202020204" pitchFamily="34" charset="0"/>
            </a:endParaRPr>
          </a:p>
          <a:p>
            <a:pPr marL="77470" algn="l" rtl="0" eaLnBrk="0">
              <a:lnSpc>
                <a:spcPct val="92000"/>
              </a:lnSpc>
              <a:spcBef>
                <a:spcPts val="693"/>
              </a:spcBef>
              <a:tabLst>
                <a:tab pos="160020" algn="l"/>
              </a:tabLst>
            </a:pPr>
            <a:r>
              <a:rPr lang="en-US" sz="1000" kern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	</a:t>
            </a:r>
            <a:r>
              <a:rPr sz="1000" kern="0" dirty="0" err="1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Neymanian</a:t>
            </a:r>
            <a:r>
              <a:rPr sz="1000" kern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 inference considers average causal </a:t>
            </a:r>
            <a:r>
              <a:rPr lang="en-US" sz="1000" kern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eff</a:t>
            </a:r>
            <a:r>
              <a:rPr sz="1000" kern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ect </a:t>
            </a:r>
            <a:r>
              <a:rPr sz="700" kern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(Neyman,</a:t>
            </a:r>
            <a:r>
              <a:rPr lang="en-US" sz="700" kern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 </a:t>
            </a:r>
            <a:r>
              <a:rPr sz="700" kern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1923,</a:t>
            </a:r>
            <a:r>
              <a:rPr lang="en-US" sz="700" kern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 </a:t>
            </a:r>
            <a:r>
              <a:rPr sz="700" kern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1990)</a:t>
            </a:r>
            <a:endParaRPr sz="700" dirty="0">
              <a:latin typeface="Arial" panose="020B0604020202020204" pitchFamily="34" charset="0"/>
              <a:ea typeface="Arial"/>
              <a:cs typeface="Arial" panose="020B0604020202020204" pitchFamily="34" charset="0"/>
            </a:endParaRPr>
          </a:p>
          <a:p>
            <a:pPr algn="l" rtl="0" eaLnBrk="0">
              <a:lnSpc>
                <a:spcPct val="130000"/>
              </a:lnSpc>
              <a:tabLst/>
            </a:pPr>
            <a:endParaRPr sz="1000" dirty="0">
              <a:latin typeface="Arial" panose="020B0604020202020204" pitchFamily="34" charset="0"/>
              <a:ea typeface="Arial"/>
              <a:cs typeface="Arial" panose="020B0604020202020204" pitchFamily="34" charset="0"/>
            </a:endParaRPr>
          </a:p>
          <a:p>
            <a:pPr marL="77470" eaLnBrk="0">
              <a:lnSpc>
                <a:spcPts val="1227"/>
              </a:lnSpc>
              <a:spcBef>
                <a:spcPts val="308"/>
              </a:spcBef>
              <a:tabLst>
                <a:tab pos="160020" algn="l"/>
              </a:tabLst>
            </a:pPr>
            <a:r>
              <a:rPr lang="en-US" sz="1000" kern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	</a:t>
            </a:r>
            <a:endParaRPr sz="1000" dirty="0">
              <a:latin typeface="Arial" panose="020B0604020202020204" pitchFamily="34" charset="0"/>
              <a:ea typeface="PingFang SC"/>
              <a:cs typeface="Arial" panose="020B0604020202020204" pitchFamily="34" charset="0"/>
            </a:endParaRPr>
          </a:p>
        </p:txBody>
      </p:sp>
      <p:pic>
        <p:nvPicPr>
          <p:cNvPr id="746" name="picture 746">
            <a:extLst>
              <a:ext uri="{FF2B5EF4-FFF2-40B4-BE49-F238E27FC236}">
                <a16:creationId xmlns:a16="http://schemas.microsoft.com/office/drawing/2014/main" id="{852BF2D1-66AB-14AB-BBF4-2D2FC74490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81089" y="941946"/>
            <a:ext cx="65265" cy="65265"/>
          </a:xfrm>
          <a:prstGeom prst="rect">
            <a:avLst/>
          </a:prstGeom>
        </p:spPr>
      </p:pic>
      <p:pic>
        <p:nvPicPr>
          <p:cNvPr id="748" name="picture 748">
            <a:extLst>
              <a:ext uri="{FF2B5EF4-FFF2-40B4-BE49-F238E27FC236}">
                <a16:creationId xmlns:a16="http://schemas.microsoft.com/office/drawing/2014/main" id="{A6B85B4C-DE93-CF59-2856-F694D4DA5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81089" y="700162"/>
            <a:ext cx="65265" cy="65265"/>
          </a:xfrm>
          <a:prstGeom prst="rect">
            <a:avLst/>
          </a:prstGeom>
        </p:spPr>
      </p:pic>
      <p:sp>
        <p:nvSpPr>
          <p:cNvPr id="750" name="textbox 750">
            <a:extLst>
              <a:ext uri="{FF2B5EF4-FFF2-40B4-BE49-F238E27FC236}">
                <a16:creationId xmlns:a16="http://schemas.microsoft.com/office/drawing/2014/main" id="{ED848431-4D58-BB6D-2B6F-733D399FD78A}"/>
              </a:ext>
            </a:extLst>
          </p:cNvPr>
          <p:cNvSpPr/>
          <p:nvPr/>
        </p:nvSpPr>
        <p:spPr>
          <a:xfrm>
            <a:off x="0" y="0"/>
            <a:ext cx="4608195" cy="350520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 anchor="ctr"/>
          <a:lstStyle/>
          <a:p>
            <a:pPr marL="12700" marR="0" lvl="0" indent="0" algn="l" defTabSz="914400" rtl="0" eaLnBrk="0" fontAlgn="auto" latinLnBrk="0" hangingPunct="1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" altLang="zh-CN" sz="1400" b="0" i="0" u="none" strike="noStrike" kern="0" cap="none" spc="-50" normalizeH="0" baseline="0" noProof="0" dirty="0">
              <a:ln>
                <a:noFill/>
              </a:ln>
              <a:solidFill>
                <a:srgbClr val="CC0000">
                  <a:alpha val="100000"/>
                </a:srgbClr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  <a:p>
            <a:pPr marL="123825" marR="0" lvl="0" indent="0" eaLnBrk="0" fontAlgn="auto">
              <a:lnSpc>
                <a:spcPct val="86000"/>
              </a:lnSpc>
              <a:spcBef>
                <a:spcPts val="6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" altLang="zh-CN" sz="1400" kern="0" dirty="0">
                <a:solidFill>
                  <a:srgbClr val="CC0000">
                    <a:alpha val="100000"/>
                  </a:srgbClr>
                </a:solidFill>
                <a:latin typeface="Arial"/>
                <a:cs typeface="Arial"/>
              </a:rPr>
              <a:t>Finite population setup</a:t>
            </a:r>
          </a:p>
          <a:p>
            <a:pPr eaLnBrk="0">
              <a:lnSpc>
                <a:spcPct val="109000"/>
              </a:lnSpc>
            </a:pPr>
            <a:endParaRPr sz="700" dirty="0">
              <a:latin typeface="Arial"/>
              <a:ea typeface="Arial"/>
              <a:cs typeface="Arial"/>
            </a:endParaRPr>
          </a:p>
        </p:txBody>
      </p:sp>
      <p:sp>
        <p:nvSpPr>
          <p:cNvPr id="752" name="textbox 752">
            <a:extLst>
              <a:ext uri="{FF2B5EF4-FFF2-40B4-BE49-F238E27FC236}">
                <a16:creationId xmlns:a16="http://schemas.microsoft.com/office/drawing/2014/main" id="{72E20454-FEA0-307D-0D6E-C23266E15370}"/>
              </a:ext>
            </a:extLst>
          </p:cNvPr>
          <p:cNvSpPr/>
          <p:nvPr/>
        </p:nvSpPr>
        <p:spPr>
          <a:xfrm>
            <a:off x="4293082" y="3341243"/>
            <a:ext cx="247015" cy="1022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604"/>
              </a:lnSpc>
              <a:tabLst/>
            </a:pPr>
            <a:r>
              <a:rPr sz="500" kern="0" spc="4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17</a:t>
            </a:r>
            <a:r>
              <a:rPr sz="500" kern="0" spc="-1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500" kern="0" spc="4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500" kern="0" spc="-1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500" kern="0" spc="4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29</a:t>
            </a:r>
            <a:endParaRPr sz="500" dirty="0"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243280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32" name="textbox 732"/>
              <p:cNvSpPr/>
              <p:nvPr/>
            </p:nvSpPr>
            <p:spPr>
              <a:xfrm>
                <a:off x="268389" y="689343"/>
                <a:ext cx="4213225" cy="2300605"/>
              </a:xfrm>
              <a:prstGeom prst="rect">
                <a:avLst/>
              </a:prstGeom>
              <a:noFill/>
              <a:ln w="0" cap="flat">
                <a:noFill/>
                <a:prstDash val="solid"/>
                <a:miter lim="0"/>
              </a:ln>
            </p:spPr>
            <p:txBody>
              <a:bodyPr vert="horz" wrap="square" lIns="0" tIns="0" rIns="0" bIns="0"/>
              <a:lstStyle/>
              <a:p>
                <a:pPr algn="l" rtl="0" eaLnBrk="0">
                  <a:lnSpc>
                    <a:spcPct val="82531"/>
                  </a:lnSpc>
                  <a:tabLst/>
                </a:pPr>
                <a:endParaRPr sz="1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77470" algn="l" rtl="0" eaLnBrk="0">
                  <a:lnSpc>
                    <a:spcPct val="75000"/>
                  </a:lnSpc>
                  <a:tabLst>
                    <a:tab pos="160020" algn="l"/>
                  </a:tabLst>
                </a:pPr>
                <a:r>
                  <a:rPr lang="en-US"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 </a:t>
                </a:r>
                <a:r>
                  <a:rPr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FRT focuses on individual treatment </a:t>
                </a:r>
                <a:r>
                  <a:rPr lang="en-US"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eff</a:t>
                </a:r>
                <a:r>
                  <a:rPr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ect</a:t>
                </a:r>
                <a:endParaRPr sz="1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77470" algn="l" rtl="0" eaLnBrk="0">
                  <a:lnSpc>
                    <a:spcPct val="92000"/>
                  </a:lnSpc>
                  <a:spcBef>
                    <a:spcPts val="693"/>
                  </a:spcBef>
                  <a:tabLst>
                    <a:tab pos="160020" algn="l"/>
                  </a:tabLst>
                </a:pPr>
                <a:r>
                  <a:rPr lang="en-US"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</a:t>
                </a:r>
                <a:r>
                  <a:rPr sz="1000" kern="0" dirty="0" err="1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Neymanian</a:t>
                </a:r>
                <a:r>
                  <a:rPr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inference considers average causal </a:t>
                </a:r>
                <a:r>
                  <a:rPr lang="en-US"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eff</a:t>
                </a:r>
                <a:r>
                  <a:rPr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ect </a:t>
                </a:r>
                <a:r>
                  <a:rPr sz="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(Neyman,</a:t>
                </a:r>
                <a:r>
                  <a:rPr lang="en-US" sz="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</a:t>
                </a:r>
                <a:r>
                  <a:rPr sz="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1923,</a:t>
                </a:r>
                <a:r>
                  <a:rPr lang="en-US" sz="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</a:t>
                </a:r>
                <a:r>
                  <a:rPr sz="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1990)</a:t>
                </a:r>
                <a:endParaRPr sz="7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algn="l" rtl="0" eaLnBrk="0">
                  <a:lnSpc>
                    <a:spcPct val="130000"/>
                  </a:lnSpc>
                  <a:tabLst/>
                </a:pPr>
                <a:endParaRPr sz="1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77470" eaLnBrk="0">
                  <a:lnSpc>
                    <a:spcPts val="1227"/>
                  </a:lnSpc>
                  <a:spcBef>
                    <a:spcPts val="308"/>
                  </a:spcBef>
                  <a:tabLst>
                    <a:tab pos="160020" algn="l"/>
                  </a:tabLst>
                </a:pPr>
                <a:r>
                  <a:rPr lang="en-US"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</a:t>
                </a:r>
                <a:r>
                  <a:rPr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Poten</a:t>
                </a:r>
                <a:r>
                  <a:rPr lang="en-US"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ti</a:t>
                </a:r>
                <a:r>
                  <a:rPr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al outcomes:</a:t>
                </a:r>
                <a:r>
                  <a:rPr lang="en-US"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(1)</m:t>
                    </m:r>
                  </m:oMath>
                </a14:m>
                <a:r>
                  <a:rPr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and</a:t>
                </a:r>
                <a:r>
                  <a:rPr lang="en-US"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(0)</m:t>
                    </m:r>
                  </m:oMath>
                </a14:m>
                <a:r>
                  <a:rPr lang="en-US"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</a:t>
                </a:r>
                <a:r>
                  <a:rPr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for</a:t>
                </a:r>
                <a:r>
                  <a:rPr lang="zh-CN" altLang="zh-CN" sz="1000" dirty="0">
                    <a:latin typeface="Arial" panose="020B0604020202020204" pitchFamily="34" charset="0"/>
                    <a:ea typeface="Georgia" panose="02040502050405020303" pitchFamily="18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000" i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=1,…,</m:t>
                    </m:r>
                    <m:r>
                      <a:rPr lang="en-US" altLang="zh-CN" sz="1000" i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zh-CN" altLang="zh-CN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sz="1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77470" eaLnBrk="0">
                  <a:lnSpc>
                    <a:spcPts val="1227"/>
                  </a:lnSpc>
                  <a:spcBef>
                    <a:spcPts val="427"/>
                  </a:spcBef>
                  <a:tabLst>
                    <a:tab pos="160020" algn="l"/>
                  </a:tabLst>
                </a:pPr>
                <a:r>
                  <a:rPr lang="en-US"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</a:t>
                </a:r>
                <a:r>
                  <a:rPr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Individual </a:t>
                </a:r>
                <a:r>
                  <a:rPr lang="en-US"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eff</a:t>
                </a:r>
                <a:r>
                  <a:rPr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ect</a:t>
                </a:r>
                <a:r>
                  <a:rPr lang="en-US"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𝜏</m:t>
                        </m:r>
                      </m:e>
                      <m:sub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(1)−</m:t>
                    </m:r>
                    <m:sSub>
                      <m:sSub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(0)</m:t>
                    </m:r>
                  </m:oMath>
                </a14:m>
                <a:r>
                  <a:rPr lang="zh-CN" altLang="zh-CN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sz="1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77470" eaLnBrk="0">
                  <a:lnSpc>
                    <a:spcPct val="99000"/>
                  </a:lnSpc>
                  <a:spcBef>
                    <a:spcPts val="430"/>
                  </a:spcBef>
                  <a:tabLst>
                    <a:tab pos="151765" algn="l"/>
                  </a:tabLst>
                </a:pPr>
                <a:r>
                  <a:rPr lang="en-US"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</a:t>
                </a:r>
                <a:r>
                  <a:rPr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Treatment</a:t>
                </a:r>
                <a:r>
                  <a:rPr lang="zh-CN" altLang="zh-CN" sz="1000" dirty="0">
                    <a:latin typeface="Arial" panose="020B0604020202020204" pitchFamily="34" charset="0"/>
                    <a:ea typeface="Georgia" panose="02040502050405020303" pitchFamily="18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000" b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𝐙</m:t>
                    </m:r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altLang="zh-CN" sz="10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zh-CN" altLang="zh-CN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altLang="zh-CN" sz="1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zh-CN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sz="1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77470" algn="l" rtl="0" eaLnBrk="0">
                  <a:lnSpc>
                    <a:spcPct val="92000"/>
                  </a:lnSpc>
                  <a:spcBef>
                    <a:spcPts val="460"/>
                  </a:spcBef>
                  <a:tabLst>
                    <a:tab pos="156210" algn="l"/>
                  </a:tabLst>
                </a:pPr>
                <a:r>
                  <a:rPr lang="en-US"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</a:t>
                </a:r>
                <a:r>
                  <a:rPr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Completely randomized experiments</a:t>
                </a:r>
                <a:endParaRPr lang="en-US" sz="10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77470" algn="ctr" eaLnBrk="0">
                  <a:lnSpc>
                    <a:spcPct val="92000"/>
                  </a:lnSpc>
                  <a:spcBef>
                    <a:spcPts val="460"/>
                  </a:spcBef>
                  <a:tabLst>
                    <a:tab pos="156210" algn="l"/>
                  </a:tabLs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pr</m:t>
                    </m:r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1000" b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𝐙</m:t>
                    </m:r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1000" b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𝐳</m:t>
                    </m:r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∣</m:t>
                    </m:r>
                    <m:r>
                      <a:rPr lang="en-US" altLang="zh-CN" sz="1000" b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𝐘</m:t>
                    </m:r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(1),</m:t>
                    </m:r>
                    <m:r>
                      <a:rPr lang="en-US" altLang="zh-CN" sz="1000" b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𝐘</m:t>
                    </m:r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(0))=</m:t>
                    </m:r>
                    <m:d>
                      <m:dPr>
                        <m:begChr m:val="{"/>
                        <m:endChr m:val=""/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zh-CN" altLang="zh-CN" sz="1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00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100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f>
                                    <m:fPr>
                                      <m:type m:val="noBar"/>
                                      <m:ctrlPr>
                                        <a:rPr lang="zh-CN" altLang="zh-CN" sz="1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1000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𝑛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zh-CN" altLang="zh-CN" sz="1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000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000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en-US" altLang="zh-CN" sz="100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)</m:t>
                                  </m:r>
                                </m:den>
                              </m:f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CN" sz="1000">
                                  <a:latin typeface="Arial" panose="020B0604020202020204" pitchFamily="34" charset="0"/>
                                  <a:cs typeface="Arial" panose="020B0604020202020204" pitchFamily="34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CN" sz="1000">
                                  <a:latin typeface="Arial" panose="020B0604020202020204" pitchFamily="34" charset="0"/>
                                  <a:ea typeface="DengXian" panose="02010600030101010101" pitchFamily="2" charset="-122"/>
                                  <a:cs typeface="Arial" panose="020B0604020202020204" pitchFamily="34" charset="0"/>
                                </a:rPr>
                                <m:t>if</m:t>
                              </m:r>
                              <m:r>
                                <m:rPr>
                                  <m:nor/>
                                </m:rPr>
                                <a:rPr lang="en-US" altLang="zh-CN" sz="1000">
                                  <a:latin typeface="Arial" panose="020B0604020202020204" pitchFamily="34" charset="0"/>
                                  <a:cs typeface="Arial" panose="020B0604020202020204" pitchFamily="34" charset="0"/>
                                </a:rPr>
                                <m:t> </m:t>
                              </m:r>
                              <m:nary>
                                <m:naryPr>
                                  <m:chr m:val="∑"/>
                                  <m:limLoc m:val="undOvr"/>
                                  <m:subHide m:val="on"/>
                                  <m:supHide m:val="on"/>
                                  <m:ctrlPr>
                                    <a:rPr lang="zh-CN" altLang="zh-CN" sz="1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r>
                                    <a:rPr lang="en-US" altLang="zh-CN" sz="1000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 </m:t>
                                  </m:r>
                                </m:e>
                              </m:nary>
                              <m:sSub>
                                <m:sSubPr>
                                  <m:ctrlPr>
                                    <a:rPr lang="zh-CN" altLang="zh-CN" sz="1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000" b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𝐳</m:t>
                                  </m:r>
                                </m:e>
                                <m:sub>
                                  <m:r>
                                    <a:rPr lang="en-US" altLang="zh-CN" sz="1000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10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zh-CN" altLang="zh-CN" sz="1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000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sz="100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altLang="zh-CN" sz="10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CN" sz="1000">
                                  <a:latin typeface="Arial" panose="020B0604020202020204" pitchFamily="34" charset="0"/>
                                  <a:cs typeface="Arial" panose="020B0604020202020204" pitchFamily="34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CN" sz="1000">
                                  <a:latin typeface="Arial" panose="020B0604020202020204" pitchFamily="34" charset="0"/>
                                  <a:ea typeface="DengXian" panose="02010600030101010101" pitchFamily="2" charset="-122"/>
                                  <a:cs typeface="Arial" panose="020B0604020202020204" pitchFamily="34" charset="0"/>
                                </a:rPr>
                                <m:t>if</m:t>
                              </m:r>
                              <m:r>
                                <m:rPr>
                                  <m:nor/>
                                </m:rPr>
                                <a:rPr lang="en-US" altLang="zh-CN" sz="1000">
                                  <a:latin typeface="Arial" panose="020B0604020202020204" pitchFamily="34" charset="0"/>
                                  <a:cs typeface="Arial" panose="020B0604020202020204" pitchFamily="34" charset="0"/>
                                </a:rPr>
                                <m:t> </m:t>
                              </m:r>
                              <m:nary>
                                <m:naryPr>
                                  <m:chr m:val="∑"/>
                                  <m:limLoc m:val="undOvr"/>
                                  <m:subHide m:val="on"/>
                                  <m:supHide m:val="on"/>
                                  <m:ctrlPr>
                                    <a:rPr lang="zh-CN" altLang="zh-CN" sz="1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r>
                                    <a:rPr lang="en-US" altLang="zh-CN" sz="1000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 </m:t>
                                  </m:r>
                                </m:e>
                              </m:nary>
                              <m:sSub>
                                <m:sSubPr>
                                  <m:ctrlPr>
                                    <a:rPr lang="zh-CN" altLang="zh-CN" sz="1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000" b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𝐳</m:t>
                                  </m:r>
                                </m:e>
                                <m:sub>
                                  <m:r>
                                    <a:rPr lang="en-US" altLang="zh-CN" sz="1000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10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≠</m:t>
                              </m:r>
                              <m:sSub>
                                <m:sSubPr>
                                  <m:ctrlPr>
                                    <a:rPr lang="zh-CN" altLang="zh-CN" sz="1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000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sz="100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</a:t>
                </a:r>
                <a:endParaRPr sz="9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77470" eaLnBrk="0">
                  <a:lnSpc>
                    <a:spcPct val="92000"/>
                  </a:lnSpc>
                  <a:spcBef>
                    <a:spcPts val="1"/>
                  </a:spcBef>
                  <a:tabLst>
                    <a:tab pos="160020" algn="l"/>
                  </a:tabLst>
                </a:pPr>
                <a:r>
                  <a:rPr lang="en-US"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Finite</a:t>
                </a:r>
                <a:r>
                  <a:rPr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population inference:  randomness comes solely from</a:t>
                </a:r>
                <a:r>
                  <a:rPr lang="en-US"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000" b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𝐙</m:t>
                    </m:r>
                  </m:oMath>
                </a14:m>
                <a:endParaRPr sz="1000" dirty="0">
                  <a:latin typeface="Arial" panose="020B0604020202020204" pitchFamily="34" charset="0"/>
                  <a:ea typeface="PingFang SC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732" name="textbox 7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389" y="689343"/>
                <a:ext cx="4213225" cy="2300605"/>
              </a:xfrm>
              <a:prstGeom prst="rect">
                <a:avLst/>
              </a:prstGeom>
              <a:blipFill>
                <a:blip r:embed="rId2"/>
                <a:stretch>
                  <a:fillRect t="-3297" b="-53297"/>
                </a:stretch>
              </a:blipFill>
              <a:ln w="0" cap="flat">
                <a:noFill/>
                <a:prstDash val="solid"/>
                <a:miter lim="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34" name="picture 7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81089" y="2578658"/>
            <a:ext cx="65265" cy="65265"/>
          </a:xfrm>
          <a:prstGeom prst="rect">
            <a:avLst/>
          </a:prstGeom>
        </p:spPr>
      </p:pic>
      <p:pic>
        <p:nvPicPr>
          <p:cNvPr id="738" name="picture 73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81089" y="1936345"/>
            <a:ext cx="65265" cy="65265"/>
          </a:xfrm>
          <a:prstGeom prst="rect">
            <a:avLst/>
          </a:prstGeom>
        </p:spPr>
      </p:pic>
      <p:pic>
        <p:nvPicPr>
          <p:cNvPr id="740" name="picture 74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81089" y="1726311"/>
            <a:ext cx="65265" cy="65265"/>
          </a:xfrm>
          <a:prstGeom prst="rect">
            <a:avLst/>
          </a:prstGeom>
        </p:spPr>
      </p:pic>
      <p:pic>
        <p:nvPicPr>
          <p:cNvPr id="742" name="picture 74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81089" y="1528990"/>
            <a:ext cx="65265" cy="65265"/>
          </a:xfrm>
          <a:prstGeom prst="rect">
            <a:avLst/>
          </a:prstGeom>
        </p:spPr>
      </p:pic>
      <p:pic>
        <p:nvPicPr>
          <p:cNvPr id="744" name="picture 74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281089" y="1318957"/>
            <a:ext cx="65265" cy="65265"/>
          </a:xfrm>
          <a:prstGeom prst="rect">
            <a:avLst/>
          </a:prstGeom>
        </p:spPr>
      </p:pic>
      <p:pic>
        <p:nvPicPr>
          <p:cNvPr id="746" name="picture 74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281089" y="941946"/>
            <a:ext cx="65265" cy="65265"/>
          </a:xfrm>
          <a:prstGeom prst="rect">
            <a:avLst/>
          </a:prstGeom>
        </p:spPr>
      </p:pic>
      <p:pic>
        <p:nvPicPr>
          <p:cNvPr id="748" name="picture 74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281089" y="700162"/>
            <a:ext cx="65265" cy="65265"/>
          </a:xfrm>
          <a:prstGeom prst="rect">
            <a:avLst/>
          </a:prstGeom>
        </p:spPr>
      </p:pic>
      <p:sp>
        <p:nvSpPr>
          <p:cNvPr id="750" name="textbox 750"/>
          <p:cNvSpPr/>
          <p:nvPr/>
        </p:nvSpPr>
        <p:spPr>
          <a:xfrm>
            <a:off x="0" y="0"/>
            <a:ext cx="4608195" cy="350520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 anchor="ctr"/>
          <a:lstStyle/>
          <a:p>
            <a:pPr marL="12700" marR="0" lvl="0" indent="0" algn="l" defTabSz="914400" rtl="0" eaLnBrk="0" fontAlgn="auto" latinLnBrk="0" hangingPunct="1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" altLang="zh-CN" sz="1400" b="0" i="0" u="none" strike="noStrike" kern="0" cap="none" spc="-50" normalizeH="0" baseline="0" noProof="0" dirty="0">
              <a:ln>
                <a:noFill/>
              </a:ln>
              <a:solidFill>
                <a:srgbClr val="CC0000">
                  <a:alpha val="100000"/>
                </a:srgbClr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  <a:p>
            <a:pPr marL="123825" marR="0" lvl="0" indent="0" eaLnBrk="0" fontAlgn="auto">
              <a:lnSpc>
                <a:spcPct val="86000"/>
              </a:lnSpc>
              <a:spcBef>
                <a:spcPts val="6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" altLang="zh-CN" sz="1400" kern="0" dirty="0">
                <a:solidFill>
                  <a:srgbClr val="CC0000">
                    <a:alpha val="100000"/>
                  </a:srgbClr>
                </a:solidFill>
                <a:latin typeface="Arial"/>
                <a:cs typeface="Arial"/>
              </a:rPr>
              <a:t>Finite population setup</a:t>
            </a:r>
          </a:p>
          <a:p>
            <a:pPr eaLnBrk="0">
              <a:lnSpc>
                <a:spcPct val="109000"/>
              </a:lnSpc>
            </a:pPr>
            <a:endParaRPr sz="700" dirty="0">
              <a:latin typeface="Arial"/>
              <a:ea typeface="Arial"/>
              <a:cs typeface="Arial"/>
            </a:endParaRPr>
          </a:p>
        </p:txBody>
      </p:sp>
      <p:sp>
        <p:nvSpPr>
          <p:cNvPr id="752" name="textbox 752"/>
          <p:cNvSpPr/>
          <p:nvPr/>
        </p:nvSpPr>
        <p:spPr>
          <a:xfrm>
            <a:off x="4293082" y="3341243"/>
            <a:ext cx="247015" cy="1022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604"/>
              </a:lnSpc>
              <a:tabLst/>
            </a:pPr>
            <a:r>
              <a:rPr sz="500" kern="0" spc="4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17</a:t>
            </a:r>
            <a:r>
              <a:rPr sz="500" kern="0" spc="-1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500" kern="0" spc="4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500" kern="0" spc="-1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500" kern="0" spc="4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29</a:t>
            </a:r>
            <a:endParaRPr sz="5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1CAB5-A90D-7ED2-0C79-08F4108CF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70" name="textbox 770">
                <a:extLst>
                  <a:ext uri="{FF2B5EF4-FFF2-40B4-BE49-F238E27FC236}">
                    <a16:creationId xmlns:a16="http://schemas.microsoft.com/office/drawing/2014/main" id="{48603996-CBFB-F816-37C0-8911D458049F}"/>
                  </a:ext>
                </a:extLst>
              </p:cNvPr>
              <p:cNvSpPr/>
              <p:nvPr/>
            </p:nvSpPr>
            <p:spPr>
              <a:xfrm>
                <a:off x="346354" y="565367"/>
                <a:ext cx="4079240" cy="2775878"/>
              </a:xfrm>
              <a:prstGeom prst="rect">
                <a:avLst/>
              </a:prstGeom>
              <a:noFill/>
              <a:ln w="0" cap="flat">
                <a:noFill/>
                <a:prstDash val="solid"/>
                <a:miter lim="0"/>
              </a:ln>
            </p:spPr>
            <p:txBody>
              <a:bodyPr vert="horz" wrap="square" lIns="0" tIns="0" rIns="0" bIns="0"/>
              <a:lstStyle/>
              <a:p>
                <a:pPr marL="77470" algn="l" rtl="0" eaLnBrk="0">
                  <a:lnSpc>
                    <a:spcPct val="92000"/>
                  </a:lnSpc>
                  <a:tabLst>
                    <a:tab pos="160020" algn="l"/>
                  </a:tabLst>
                </a:pPr>
                <a:r>
                  <a:rPr lang="en-US"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Fi</a:t>
                </a:r>
                <a:r>
                  <a:rPr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nite population means</a:t>
                </a:r>
                <a:endParaRPr lang="en-US" sz="10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77470" algn="l" rtl="0" eaLnBrk="0">
                  <a:lnSpc>
                    <a:spcPct val="92000"/>
                  </a:lnSpc>
                  <a:tabLst>
                    <a:tab pos="160020" algn="l"/>
                  </a:tabLst>
                </a:pPr>
                <a:endParaRPr lang="en-US" altLang="zh-CN" sz="1000" i="1" dirty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77470" algn="ctr" eaLnBrk="0">
                  <a:lnSpc>
                    <a:spcPct val="80000"/>
                  </a:lnSpc>
                  <a:tabLst>
                    <a:tab pos="160020" algn="l"/>
                  </a:tabLst>
                </a:pP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</m:acc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(1)=</m:t>
                    </m:r>
                    <m:f>
                      <m:f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  <m:e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 </m:t>
                        </m:r>
                      </m:e>
                    </m:nary>
                    <m:sSub>
                      <m:sSub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(1), </m:t>
                    </m:r>
                    <m:acc>
                      <m:accPr>
                        <m:chr m:val="‾"/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</m:acc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(0)=</m:t>
                    </m:r>
                    <m:f>
                      <m:f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  <m:e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 </m:t>
                        </m:r>
                      </m:e>
                    </m:nary>
                    <m:sSub>
                      <m:sSub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(0)</m:t>
                    </m:r>
                  </m:oMath>
                </a14:m>
                <a:r>
                  <a:rPr lang="zh-CN" altLang="zh-CN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en-US" altLang="zh-CN" sz="1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77470" eaLnBrk="0">
                  <a:lnSpc>
                    <a:spcPct val="92000"/>
                  </a:lnSpc>
                  <a:tabLst>
                    <a:tab pos="160020" algn="l"/>
                  </a:tabLst>
                </a:pPr>
                <a:r>
                  <a:rPr lang="en-US" altLang="zh-CN"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	</a:t>
                </a:r>
              </a:p>
              <a:p>
                <a:pPr marL="77470" eaLnBrk="0">
                  <a:lnSpc>
                    <a:spcPct val="92000"/>
                  </a:lnSpc>
                  <a:tabLst>
                    <a:tab pos="160020" algn="l"/>
                  </a:tabLst>
                </a:pPr>
                <a:r>
                  <a:rPr lang="en" altLang="zh-CN"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Quantity of interest:  </a:t>
                </a:r>
                <a14:m>
                  <m:oMath xmlns:m="http://schemas.openxmlformats.org/officeDocument/2006/math">
                    <m:r>
                      <a:rPr lang="en-US" altLang="zh-CN" sz="1000" i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𝜏</m:t>
                    </m:r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  <m:e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 </m:t>
                        </m:r>
                      </m:e>
                    </m:nary>
                    <m:sSub>
                      <m:sSub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𝜏</m:t>
                        </m:r>
                      </m:e>
                      <m:sub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acc>
                      <m:accPr>
                        <m:chr m:val="‾"/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</m:acc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(1)−</m:t>
                    </m:r>
                    <m:acc>
                      <m:accPr>
                        <m:chr m:val="‾"/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</m:acc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(0)</m:t>
                    </m:r>
                  </m:oMath>
                </a14:m>
                <a:r>
                  <a:rPr lang="zh-CN" altLang="zh-CN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en-US" sz="10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77470" algn="ctr" eaLnBrk="0">
                  <a:tabLst>
                    <a:tab pos="160020" algn="l"/>
                  </a:tabLst>
                </a:pPr>
                <a:endParaRPr lang="en-US" altLang="zh-CN" sz="1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77470" eaLnBrk="0">
                  <a:tabLst>
                    <a:tab pos="160020" algn="l"/>
                  </a:tabLst>
                </a:pPr>
                <a:endParaRPr lang="en-US" sz="10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77470" eaLnBrk="0">
                  <a:lnSpc>
                    <a:spcPct val="92000"/>
                  </a:lnSpc>
                  <a:spcBef>
                    <a:spcPts val="88"/>
                  </a:spcBef>
                  <a:tabLst>
                    <a:tab pos="160020" algn="l"/>
                  </a:tabLst>
                </a:pPr>
                <a:r>
                  <a:rPr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</a:t>
                </a:r>
                <a:endParaRPr sz="1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770" name="textbox 770">
                <a:extLst>
                  <a:ext uri="{FF2B5EF4-FFF2-40B4-BE49-F238E27FC236}">
                    <a16:creationId xmlns:a16="http://schemas.microsoft.com/office/drawing/2014/main" id="{48603996-CBFB-F816-37C0-8911D45804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354" y="565367"/>
                <a:ext cx="4079240" cy="2775878"/>
              </a:xfrm>
              <a:prstGeom prst="rect">
                <a:avLst/>
              </a:prstGeom>
              <a:blipFill>
                <a:blip r:embed="rId2"/>
                <a:stretch>
                  <a:fillRect t="-1818"/>
                </a:stretch>
              </a:blipFill>
              <a:ln w="0" cap="flat">
                <a:noFill/>
                <a:prstDash val="solid"/>
                <a:miter lim="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84" name="picture 784">
            <a:extLst>
              <a:ext uri="{FF2B5EF4-FFF2-40B4-BE49-F238E27FC236}">
                <a16:creationId xmlns:a16="http://schemas.microsoft.com/office/drawing/2014/main" id="{3DFD5606-9A9B-A6E6-96AB-4DD096D8FF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81089" y="595490"/>
            <a:ext cx="65265" cy="65265"/>
          </a:xfrm>
          <a:prstGeom prst="rect">
            <a:avLst/>
          </a:prstGeom>
        </p:spPr>
      </p:pic>
      <p:sp>
        <p:nvSpPr>
          <p:cNvPr id="786" name="rect 786">
            <a:extLst>
              <a:ext uri="{FF2B5EF4-FFF2-40B4-BE49-F238E27FC236}">
                <a16:creationId xmlns:a16="http://schemas.microsoft.com/office/drawing/2014/main" id="{D637A0FD-D653-4F49-9E4B-3C97DFB3207D}"/>
              </a:ext>
            </a:extLst>
          </p:cNvPr>
          <p:cNvSpPr/>
          <p:nvPr/>
        </p:nvSpPr>
        <p:spPr>
          <a:xfrm>
            <a:off x="0" y="0"/>
            <a:ext cx="4608004" cy="350113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88" name="textbox 788">
            <a:extLst>
              <a:ext uri="{FF2B5EF4-FFF2-40B4-BE49-F238E27FC236}">
                <a16:creationId xmlns:a16="http://schemas.microsoft.com/office/drawing/2014/main" id="{E81CE000-DE57-1988-6544-91CCACB3D743}"/>
              </a:ext>
            </a:extLst>
          </p:cNvPr>
          <p:cNvSpPr/>
          <p:nvPr/>
        </p:nvSpPr>
        <p:spPr>
          <a:xfrm>
            <a:off x="111698" y="103969"/>
            <a:ext cx="2192558" cy="209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73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400" kern="0" dirty="0">
                <a:solidFill>
                  <a:srgbClr val="CC0000">
                    <a:alpha val="100000"/>
                  </a:srgb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Finite population quantities</a:t>
            </a:r>
            <a:endParaRPr sz="1400" dirty="0">
              <a:latin typeface="Arial" panose="020B0604020202020204" pitchFamily="34" charset="0"/>
              <a:ea typeface="Arial"/>
              <a:cs typeface="Arial" panose="020B0604020202020204" pitchFamily="34" charset="0"/>
            </a:endParaRPr>
          </a:p>
        </p:txBody>
      </p:sp>
      <p:pic>
        <p:nvPicPr>
          <p:cNvPr id="2" name="picture 784">
            <a:extLst>
              <a:ext uri="{FF2B5EF4-FFF2-40B4-BE49-F238E27FC236}">
                <a16:creationId xmlns:a16="http://schemas.microsoft.com/office/drawing/2014/main" id="{18564301-8FCA-40D4-D46E-861536312E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81089" y="1213014"/>
            <a:ext cx="65265" cy="65265"/>
          </a:xfrm>
          <a:prstGeom prst="rect">
            <a:avLst/>
          </a:prstGeom>
        </p:spPr>
      </p:pic>
      <p:sp>
        <p:nvSpPr>
          <p:cNvPr id="5" name="textbox 124">
            <a:extLst>
              <a:ext uri="{FF2B5EF4-FFF2-40B4-BE49-F238E27FC236}">
                <a16:creationId xmlns:a16="http://schemas.microsoft.com/office/drawing/2014/main" id="{2F36941B-4632-5D53-1364-1093E41326A7}"/>
              </a:ext>
            </a:extLst>
          </p:cNvPr>
          <p:cNvSpPr/>
          <p:nvPr/>
        </p:nvSpPr>
        <p:spPr>
          <a:xfrm>
            <a:off x="4328698" y="3341247"/>
            <a:ext cx="211455" cy="1022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604"/>
              </a:lnSpc>
              <a:tabLst/>
            </a:pPr>
            <a:r>
              <a:rPr lang="en-US" sz="500" kern="0" spc="3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r>
              <a:rPr sz="500" kern="0" spc="3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/ 12</a:t>
            </a:r>
            <a:endParaRPr sz="500" dirty="0"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23738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011DC-47C0-62C6-FF36-AEA471EC6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70" name="textbox 770">
                <a:extLst>
                  <a:ext uri="{FF2B5EF4-FFF2-40B4-BE49-F238E27FC236}">
                    <a16:creationId xmlns:a16="http://schemas.microsoft.com/office/drawing/2014/main" id="{80C5FCC2-574C-9317-5385-873CCF600D8D}"/>
                  </a:ext>
                </a:extLst>
              </p:cNvPr>
              <p:cNvSpPr/>
              <p:nvPr/>
            </p:nvSpPr>
            <p:spPr>
              <a:xfrm>
                <a:off x="346354" y="565367"/>
                <a:ext cx="4079240" cy="2775878"/>
              </a:xfrm>
              <a:prstGeom prst="rect">
                <a:avLst/>
              </a:prstGeom>
              <a:noFill/>
              <a:ln w="0" cap="flat">
                <a:noFill/>
                <a:prstDash val="solid"/>
                <a:miter lim="0"/>
              </a:ln>
            </p:spPr>
            <p:txBody>
              <a:bodyPr vert="horz" wrap="square" lIns="0" tIns="0" rIns="0" bIns="0"/>
              <a:lstStyle/>
              <a:p>
                <a:pPr marL="77470" algn="l" rtl="0" eaLnBrk="0">
                  <a:lnSpc>
                    <a:spcPct val="92000"/>
                  </a:lnSpc>
                  <a:tabLst>
                    <a:tab pos="160020" algn="l"/>
                  </a:tabLst>
                </a:pPr>
                <a:r>
                  <a:rPr lang="en-US"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Fi</a:t>
                </a:r>
                <a:r>
                  <a:rPr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nite population means</a:t>
                </a:r>
                <a:endParaRPr lang="en-US" sz="10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77470" algn="l" rtl="0" eaLnBrk="0">
                  <a:lnSpc>
                    <a:spcPct val="92000"/>
                  </a:lnSpc>
                  <a:tabLst>
                    <a:tab pos="160020" algn="l"/>
                  </a:tabLst>
                </a:pPr>
                <a:endParaRPr lang="en-US" altLang="zh-CN" sz="1000" i="1" dirty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77470" algn="ctr" eaLnBrk="0">
                  <a:lnSpc>
                    <a:spcPct val="80000"/>
                  </a:lnSpc>
                  <a:tabLst>
                    <a:tab pos="160020" algn="l"/>
                  </a:tabLst>
                </a:pP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</m:acc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(1)=</m:t>
                    </m:r>
                    <m:f>
                      <m:f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  <m:e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 </m:t>
                        </m:r>
                      </m:e>
                    </m:nary>
                    <m:sSub>
                      <m:sSub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(1), </m:t>
                    </m:r>
                    <m:acc>
                      <m:accPr>
                        <m:chr m:val="‾"/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</m:acc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(0)=</m:t>
                    </m:r>
                    <m:f>
                      <m:f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  <m:e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 </m:t>
                        </m:r>
                      </m:e>
                    </m:nary>
                    <m:sSub>
                      <m:sSub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(0)</m:t>
                    </m:r>
                  </m:oMath>
                </a14:m>
                <a:r>
                  <a:rPr lang="zh-CN" altLang="zh-CN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en-US" altLang="zh-CN" sz="1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77470" eaLnBrk="0">
                  <a:lnSpc>
                    <a:spcPct val="92000"/>
                  </a:lnSpc>
                  <a:tabLst>
                    <a:tab pos="160020" algn="l"/>
                  </a:tabLst>
                </a:pPr>
                <a:r>
                  <a:rPr lang="en-US" altLang="zh-CN"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	</a:t>
                </a:r>
              </a:p>
              <a:p>
                <a:pPr marL="77470" eaLnBrk="0">
                  <a:lnSpc>
                    <a:spcPct val="92000"/>
                  </a:lnSpc>
                  <a:tabLst>
                    <a:tab pos="160020" algn="l"/>
                  </a:tabLst>
                </a:pPr>
                <a:r>
                  <a:rPr lang="en" altLang="zh-CN"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Quantity of interest:  </a:t>
                </a:r>
                <a14:m>
                  <m:oMath xmlns:m="http://schemas.openxmlformats.org/officeDocument/2006/math">
                    <m:r>
                      <a:rPr lang="en-US" altLang="zh-CN" sz="1000" i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𝜏</m:t>
                    </m:r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  <m:e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 </m:t>
                        </m:r>
                      </m:e>
                    </m:nary>
                    <m:sSub>
                      <m:sSub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𝜏</m:t>
                        </m:r>
                      </m:e>
                      <m:sub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acc>
                      <m:accPr>
                        <m:chr m:val="‾"/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</m:acc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(1)−</m:t>
                    </m:r>
                    <m:acc>
                      <m:accPr>
                        <m:chr m:val="‾"/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</m:acc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(0)</m:t>
                    </m:r>
                  </m:oMath>
                </a14:m>
                <a:r>
                  <a:rPr lang="zh-CN" altLang="zh-CN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en-US" sz="10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77470" algn="l" rtl="0" eaLnBrk="0">
                  <a:lnSpc>
                    <a:spcPct val="92000"/>
                  </a:lnSpc>
                  <a:spcBef>
                    <a:spcPts val="88"/>
                  </a:spcBef>
                  <a:tabLst>
                    <a:tab pos="160020" algn="l"/>
                  </a:tabLst>
                </a:pPr>
                <a:r>
                  <a:rPr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Finite population variances</a:t>
                </a:r>
                <a:endParaRPr lang="en-US" sz="10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77470" algn="ctr" eaLnBrk="0">
                  <a:lnSpc>
                    <a:spcPct val="92000"/>
                  </a:lnSpc>
                  <a:spcBef>
                    <a:spcPts val="88"/>
                  </a:spcBef>
                  <a:tabLst>
                    <a:tab pos="160020" algn="l"/>
                  </a:tabLst>
                </a:pPr>
                <a:endParaRPr lang="en-US" altLang="zh-CN" sz="1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77470" algn="ctr" eaLnBrk="0">
                  <a:lnSpc>
                    <a:spcPct val="92000"/>
                  </a:lnSpc>
                  <a:spcBef>
                    <a:spcPts val="88"/>
                  </a:spcBef>
                  <a:tabLst>
                    <a:tab pos="160020" algn="l"/>
                  </a:tabLst>
                </a:pPr>
                <a:endParaRPr lang="en-US" altLang="zh-CN" sz="1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77470" algn="ctr" eaLnBrk="0">
                  <a:lnSpc>
                    <a:spcPct val="92000"/>
                  </a:lnSpc>
                  <a:spcBef>
                    <a:spcPts val="88"/>
                  </a:spcBef>
                  <a:tabLst>
                    <a:tab pos="160020" algn="l"/>
                  </a:tabLst>
                </a:pPr>
                <a:r>
                  <a:rPr lang="zh-CN" altLang="zh-CN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en-US" sz="10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77470" algn="l" rtl="0" eaLnBrk="0">
                  <a:lnSpc>
                    <a:spcPct val="92000"/>
                  </a:lnSpc>
                  <a:spcBef>
                    <a:spcPts val="88"/>
                  </a:spcBef>
                  <a:tabLst>
                    <a:tab pos="160020" algn="l"/>
                  </a:tabLst>
                </a:pPr>
                <a:endParaRPr lang="en-US" sz="10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77470" eaLnBrk="0">
                  <a:lnSpc>
                    <a:spcPct val="92000"/>
                  </a:lnSpc>
                  <a:spcBef>
                    <a:spcPts val="88"/>
                  </a:spcBef>
                  <a:tabLst>
                    <a:tab pos="160020" algn="l"/>
                  </a:tabLst>
                </a:pPr>
                <a:endParaRPr lang="en-US" sz="10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77470" eaLnBrk="0">
                  <a:lnSpc>
                    <a:spcPct val="92000"/>
                  </a:lnSpc>
                  <a:spcBef>
                    <a:spcPts val="88"/>
                  </a:spcBef>
                  <a:tabLst>
                    <a:tab pos="160020" algn="l"/>
                  </a:tabLst>
                </a:pPr>
                <a:endParaRPr lang="en-US" sz="10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77470" eaLnBrk="0">
                  <a:lnSpc>
                    <a:spcPct val="92000"/>
                  </a:lnSpc>
                  <a:spcBef>
                    <a:spcPts val="88"/>
                  </a:spcBef>
                  <a:tabLst>
                    <a:tab pos="160020" algn="l"/>
                  </a:tabLst>
                </a:pPr>
                <a:r>
                  <a:rPr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Variance of the individual </a:t>
                </a:r>
                <a:r>
                  <a:rPr lang="en-US"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eff</a:t>
                </a:r>
                <a:r>
                  <a:rPr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ect</a:t>
                </a:r>
                <a:endParaRPr lang="en-US" sz="10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77470" eaLnBrk="0">
                  <a:lnSpc>
                    <a:spcPct val="92000"/>
                  </a:lnSpc>
                  <a:spcBef>
                    <a:spcPts val="88"/>
                  </a:spcBef>
                  <a:tabLst>
                    <a:tab pos="160020" algn="l"/>
                  </a:tabLst>
                </a:pPr>
                <a:endParaRPr lang="en-US" sz="10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77470" algn="ctr" eaLnBrk="0">
                  <a:tabLst>
                    <a:tab pos="160020" algn="l"/>
                  </a:tabLs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1000" i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𝜏</m:t>
                    </m:r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)=</m:t>
                    </m:r>
                    <m:f>
                      <m:f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−1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  <m:e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 </m:t>
                        </m:r>
                      </m:e>
                    </m:nary>
                    <m:sSup>
                      <m:sSup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zh-CN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1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0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𝜏</m:t>
                                </m:r>
                              </m:e>
                              <m:sub>
                                <m:r>
                                  <a:rPr lang="en-US" altLang="zh-CN" sz="10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sz="10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altLang="zh-CN" sz="1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𝜏</m:t>
                            </m:r>
                          </m:e>
                        </m:d>
                      </m:e>
                      <m:sup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en-US" altLang="zh-CN" sz="1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77470" algn="ctr" eaLnBrk="0">
                  <a:tabLst>
                    <a:tab pos="160020" algn="l"/>
                  </a:tabLst>
                </a:pPr>
                <a:endParaRPr lang="en-US" altLang="zh-CN" sz="1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77470" eaLnBrk="0">
                  <a:tabLst>
                    <a:tab pos="160020" algn="l"/>
                  </a:tabLst>
                </a:pPr>
                <a:endParaRPr lang="en-US" sz="10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77470" eaLnBrk="0">
                  <a:lnSpc>
                    <a:spcPct val="92000"/>
                  </a:lnSpc>
                  <a:spcBef>
                    <a:spcPts val="88"/>
                  </a:spcBef>
                  <a:tabLst>
                    <a:tab pos="160020" algn="l"/>
                  </a:tabLst>
                </a:pPr>
                <a:r>
                  <a:rPr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</a:t>
                </a:r>
                <a:endParaRPr sz="1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770" name="textbox 770">
                <a:extLst>
                  <a:ext uri="{FF2B5EF4-FFF2-40B4-BE49-F238E27FC236}">
                    <a16:creationId xmlns:a16="http://schemas.microsoft.com/office/drawing/2014/main" id="{80C5FCC2-574C-9317-5385-873CCF600D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354" y="565367"/>
                <a:ext cx="4079240" cy="2775878"/>
              </a:xfrm>
              <a:prstGeom prst="rect">
                <a:avLst/>
              </a:prstGeom>
              <a:blipFill>
                <a:blip r:embed="rId2"/>
                <a:stretch>
                  <a:fillRect t="-1818"/>
                </a:stretch>
              </a:blipFill>
              <a:ln w="0" cap="flat">
                <a:noFill/>
                <a:prstDash val="solid"/>
                <a:miter lim="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74" name="picture 774">
            <a:extLst>
              <a:ext uri="{FF2B5EF4-FFF2-40B4-BE49-F238E27FC236}">
                <a16:creationId xmlns:a16="http://schemas.microsoft.com/office/drawing/2014/main" id="{B832A601-ACE6-AE6D-9C77-54EC81CA41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81089" y="2481646"/>
            <a:ext cx="65265" cy="65265"/>
          </a:xfrm>
          <a:prstGeom prst="rect">
            <a:avLst/>
          </a:prstGeom>
        </p:spPr>
      </p:pic>
      <p:pic>
        <p:nvPicPr>
          <p:cNvPr id="778" name="picture 778">
            <a:extLst>
              <a:ext uri="{FF2B5EF4-FFF2-40B4-BE49-F238E27FC236}">
                <a16:creationId xmlns:a16="http://schemas.microsoft.com/office/drawing/2014/main" id="{CD8E3BC2-B144-CFDF-AB41-277C8610CF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84542" y="1398115"/>
            <a:ext cx="65265" cy="65265"/>
          </a:xfrm>
          <a:prstGeom prst="rect">
            <a:avLst/>
          </a:prstGeom>
        </p:spPr>
      </p:pic>
      <p:pic>
        <p:nvPicPr>
          <p:cNvPr id="784" name="picture 784">
            <a:extLst>
              <a:ext uri="{FF2B5EF4-FFF2-40B4-BE49-F238E27FC236}">
                <a16:creationId xmlns:a16="http://schemas.microsoft.com/office/drawing/2014/main" id="{DABE0CA0-03C9-53F5-1B2A-EC3BD2C11B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81089" y="595490"/>
            <a:ext cx="65265" cy="65265"/>
          </a:xfrm>
          <a:prstGeom prst="rect">
            <a:avLst/>
          </a:prstGeom>
        </p:spPr>
      </p:pic>
      <p:sp>
        <p:nvSpPr>
          <p:cNvPr id="786" name="rect 786">
            <a:extLst>
              <a:ext uri="{FF2B5EF4-FFF2-40B4-BE49-F238E27FC236}">
                <a16:creationId xmlns:a16="http://schemas.microsoft.com/office/drawing/2014/main" id="{903912F8-8FFB-4A76-4C96-1E6995C3D8F0}"/>
              </a:ext>
            </a:extLst>
          </p:cNvPr>
          <p:cNvSpPr/>
          <p:nvPr/>
        </p:nvSpPr>
        <p:spPr>
          <a:xfrm>
            <a:off x="0" y="0"/>
            <a:ext cx="4608004" cy="350113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88" name="textbox 788">
            <a:extLst>
              <a:ext uri="{FF2B5EF4-FFF2-40B4-BE49-F238E27FC236}">
                <a16:creationId xmlns:a16="http://schemas.microsoft.com/office/drawing/2014/main" id="{46E8D654-B552-3B21-2F26-E1AE40D1A595}"/>
              </a:ext>
            </a:extLst>
          </p:cNvPr>
          <p:cNvSpPr/>
          <p:nvPr/>
        </p:nvSpPr>
        <p:spPr>
          <a:xfrm>
            <a:off x="111698" y="103969"/>
            <a:ext cx="2192558" cy="209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73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400" kern="0" dirty="0">
                <a:solidFill>
                  <a:srgbClr val="CC0000">
                    <a:alpha val="100000"/>
                  </a:srgb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Finite population quantities</a:t>
            </a:r>
            <a:endParaRPr sz="1400" dirty="0">
              <a:latin typeface="Arial" panose="020B0604020202020204" pitchFamily="34" charset="0"/>
              <a:ea typeface="Arial"/>
              <a:cs typeface="Arial" panose="020B0604020202020204" pitchFamily="34" charset="0"/>
            </a:endParaRPr>
          </a:p>
        </p:txBody>
      </p:sp>
      <p:pic>
        <p:nvPicPr>
          <p:cNvPr id="2" name="picture 784">
            <a:extLst>
              <a:ext uri="{FF2B5EF4-FFF2-40B4-BE49-F238E27FC236}">
                <a16:creationId xmlns:a16="http://schemas.microsoft.com/office/drawing/2014/main" id="{EECD1F94-EC26-DECE-E7C3-B2178634C1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81089" y="1213014"/>
            <a:ext cx="65265" cy="65265"/>
          </a:xfrm>
          <a:prstGeom prst="rect">
            <a:avLst/>
          </a:prstGeom>
        </p:spPr>
      </p:pic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9A9846AF-C06E-5C52-3842-FAFFB3410C4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1572530"/>
          <a:ext cx="4815222" cy="8913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6" imgW="5486400" imgH="1016000" progId="Word.Document.12">
                  <p:embed/>
                </p:oleObj>
              </mc:Choice>
              <mc:Fallback>
                <p:oleObj name="文档" r:id="rId6" imgW="5486400" imgH="1016000" progId="Word.Document.12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3FC6CF77-A686-2189-05AB-4997D255C69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0" y="1572530"/>
                        <a:ext cx="4815222" cy="89138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124">
            <a:extLst>
              <a:ext uri="{FF2B5EF4-FFF2-40B4-BE49-F238E27FC236}">
                <a16:creationId xmlns:a16="http://schemas.microsoft.com/office/drawing/2014/main" id="{AF86CBE4-8EEA-8581-5D68-297952389A18}"/>
              </a:ext>
            </a:extLst>
          </p:cNvPr>
          <p:cNvSpPr/>
          <p:nvPr/>
        </p:nvSpPr>
        <p:spPr>
          <a:xfrm>
            <a:off x="4328698" y="3341247"/>
            <a:ext cx="211455" cy="1022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604"/>
              </a:lnSpc>
              <a:tabLst/>
            </a:pPr>
            <a:r>
              <a:rPr lang="en-US" sz="500" kern="0" spc="3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r>
              <a:rPr sz="500" kern="0" spc="3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/ 12</a:t>
            </a:r>
            <a:endParaRPr sz="500" dirty="0"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91311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70" name="textbox 770"/>
              <p:cNvSpPr/>
              <p:nvPr/>
            </p:nvSpPr>
            <p:spPr>
              <a:xfrm>
                <a:off x="346354" y="565367"/>
                <a:ext cx="4079240" cy="2775878"/>
              </a:xfrm>
              <a:prstGeom prst="rect">
                <a:avLst/>
              </a:prstGeom>
              <a:noFill/>
              <a:ln w="0" cap="flat">
                <a:noFill/>
                <a:prstDash val="solid"/>
                <a:miter lim="0"/>
              </a:ln>
            </p:spPr>
            <p:txBody>
              <a:bodyPr vert="horz" wrap="square" lIns="0" tIns="0" rIns="0" bIns="0"/>
              <a:lstStyle/>
              <a:p>
                <a:pPr marL="77470" algn="l" rtl="0" eaLnBrk="0">
                  <a:lnSpc>
                    <a:spcPct val="92000"/>
                  </a:lnSpc>
                  <a:tabLst>
                    <a:tab pos="160020" algn="l"/>
                  </a:tabLst>
                </a:pPr>
                <a:r>
                  <a:rPr lang="en-US"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Fi</a:t>
                </a:r>
                <a:r>
                  <a:rPr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nite population means</a:t>
                </a:r>
                <a:endParaRPr lang="en-US" sz="10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77470" algn="l" rtl="0" eaLnBrk="0">
                  <a:lnSpc>
                    <a:spcPct val="92000"/>
                  </a:lnSpc>
                  <a:tabLst>
                    <a:tab pos="160020" algn="l"/>
                  </a:tabLst>
                </a:pPr>
                <a:endParaRPr lang="en-US" altLang="zh-CN" sz="1000" i="1" dirty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77470" algn="ctr" eaLnBrk="0">
                  <a:lnSpc>
                    <a:spcPct val="80000"/>
                  </a:lnSpc>
                  <a:tabLst>
                    <a:tab pos="160020" algn="l"/>
                  </a:tabLst>
                </a:pP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</m:acc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(1)=</m:t>
                    </m:r>
                    <m:f>
                      <m:f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  <m:e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 </m:t>
                        </m:r>
                      </m:e>
                    </m:nary>
                    <m:sSub>
                      <m:sSub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(1), </m:t>
                    </m:r>
                    <m:acc>
                      <m:accPr>
                        <m:chr m:val="‾"/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</m:acc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(0)=</m:t>
                    </m:r>
                    <m:f>
                      <m:f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  <m:e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 </m:t>
                        </m:r>
                      </m:e>
                    </m:nary>
                    <m:sSub>
                      <m:sSub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(0)</m:t>
                    </m:r>
                  </m:oMath>
                </a14:m>
                <a:r>
                  <a:rPr lang="zh-CN" altLang="zh-CN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en-US" altLang="zh-CN" sz="1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77470" eaLnBrk="0">
                  <a:lnSpc>
                    <a:spcPct val="92000"/>
                  </a:lnSpc>
                  <a:tabLst>
                    <a:tab pos="160020" algn="l"/>
                  </a:tabLst>
                </a:pPr>
                <a:r>
                  <a:rPr lang="en-US" altLang="zh-CN"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	</a:t>
                </a:r>
              </a:p>
              <a:p>
                <a:pPr marL="77470" eaLnBrk="0">
                  <a:lnSpc>
                    <a:spcPct val="92000"/>
                  </a:lnSpc>
                  <a:tabLst>
                    <a:tab pos="160020" algn="l"/>
                  </a:tabLst>
                </a:pPr>
                <a:r>
                  <a:rPr lang="en" altLang="zh-CN"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Quantity of interest:  </a:t>
                </a:r>
                <a14:m>
                  <m:oMath xmlns:m="http://schemas.openxmlformats.org/officeDocument/2006/math">
                    <m:r>
                      <a:rPr lang="en-US" altLang="zh-CN" sz="1000" i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𝜏</m:t>
                    </m:r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  <m:e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 </m:t>
                        </m:r>
                      </m:e>
                    </m:nary>
                    <m:sSub>
                      <m:sSub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𝜏</m:t>
                        </m:r>
                      </m:e>
                      <m:sub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acc>
                      <m:accPr>
                        <m:chr m:val="‾"/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</m:acc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(1)−</m:t>
                    </m:r>
                    <m:acc>
                      <m:accPr>
                        <m:chr m:val="‾"/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</m:acc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(0)</m:t>
                    </m:r>
                  </m:oMath>
                </a14:m>
                <a:r>
                  <a:rPr lang="zh-CN" altLang="zh-CN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en-US" sz="10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77470" algn="l" rtl="0" eaLnBrk="0">
                  <a:lnSpc>
                    <a:spcPct val="92000"/>
                  </a:lnSpc>
                  <a:spcBef>
                    <a:spcPts val="88"/>
                  </a:spcBef>
                  <a:tabLst>
                    <a:tab pos="160020" algn="l"/>
                  </a:tabLst>
                </a:pPr>
                <a:r>
                  <a:rPr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Finite population variances</a:t>
                </a:r>
                <a:endParaRPr lang="en-US" sz="10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77470" algn="ctr" eaLnBrk="0">
                  <a:lnSpc>
                    <a:spcPct val="92000"/>
                  </a:lnSpc>
                  <a:spcBef>
                    <a:spcPts val="88"/>
                  </a:spcBef>
                  <a:tabLst>
                    <a:tab pos="160020" algn="l"/>
                  </a:tabLst>
                </a:pPr>
                <a:endParaRPr lang="en-US" altLang="zh-CN" sz="1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77470" algn="ctr" eaLnBrk="0">
                  <a:lnSpc>
                    <a:spcPct val="92000"/>
                  </a:lnSpc>
                  <a:spcBef>
                    <a:spcPts val="88"/>
                  </a:spcBef>
                  <a:tabLst>
                    <a:tab pos="160020" algn="l"/>
                  </a:tabLst>
                </a:pPr>
                <a:endParaRPr lang="en-US" altLang="zh-CN" sz="1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77470" algn="ctr" eaLnBrk="0">
                  <a:lnSpc>
                    <a:spcPct val="92000"/>
                  </a:lnSpc>
                  <a:spcBef>
                    <a:spcPts val="88"/>
                  </a:spcBef>
                  <a:tabLst>
                    <a:tab pos="160020" algn="l"/>
                  </a:tabLst>
                </a:pPr>
                <a:r>
                  <a:rPr lang="zh-CN" altLang="zh-CN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en-US" sz="10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77470" algn="l" rtl="0" eaLnBrk="0">
                  <a:lnSpc>
                    <a:spcPct val="92000"/>
                  </a:lnSpc>
                  <a:spcBef>
                    <a:spcPts val="88"/>
                  </a:spcBef>
                  <a:tabLst>
                    <a:tab pos="160020" algn="l"/>
                  </a:tabLst>
                </a:pPr>
                <a:endParaRPr lang="en-US" sz="10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77470" eaLnBrk="0">
                  <a:lnSpc>
                    <a:spcPct val="92000"/>
                  </a:lnSpc>
                  <a:spcBef>
                    <a:spcPts val="88"/>
                  </a:spcBef>
                  <a:tabLst>
                    <a:tab pos="160020" algn="l"/>
                  </a:tabLst>
                </a:pPr>
                <a:endParaRPr lang="en-US" sz="10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77470" eaLnBrk="0">
                  <a:lnSpc>
                    <a:spcPct val="92000"/>
                  </a:lnSpc>
                  <a:spcBef>
                    <a:spcPts val="88"/>
                  </a:spcBef>
                  <a:tabLst>
                    <a:tab pos="160020" algn="l"/>
                  </a:tabLst>
                </a:pPr>
                <a:endParaRPr lang="en-US" sz="10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77470" eaLnBrk="0">
                  <a:lnSpc>
                    <a:spcPct val="92000"/>
                  </a:lnSpc>
                  <a:spcBef>
                    <a:spcPts val="88"/>
                  </a:spcBef>
                  <a:tabLst>
                    <a:tab pos="160020" algn="l"/>
                  </a:tabLst>
                </a:pPr>
                <a:r>
                  <a:rPr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Variance of the individual </a:t>
                </a:r>
                <a:r>
                  <a:rPr lang="en-US"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eff</a:t>
                </a:r>
                <a:r>
                  <a:rPr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ect</a:t>
                </a:r>
                <a:endParaRPr lang="en-US" sz="10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77470" eaLnBrk="0">
                  <a:lnSpc>
                    <a:spcPct val="92000"/>
                  </a:lnSpc>
                  <a:spcBef>
                    <a:spcPts val="88"/>
                  </a:spcBef>
                  <a:tabLst>
                    <a:tab pos="160020" algn="l"/>
                  </a:tabLst>
                </a:pPr>
                <a:endParaRPr lang="en-US" sz="10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77470" algn="ctr" eaLnBrk="0">
                  <a:tabLst>
                    <a:tab pos="160020" algn="l"/>
                  </a:tabLs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1000" i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𝜏</m:t>
                    </m:r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)=</m:t>
                    </m:r>
                    <m:f>
                      <m:f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−1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  <m:e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 </m:t>
                        </m:r>
                      </m:e>
                    </m:nary>
                    <m:sSup>
                      <m:sSup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zh-CN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1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0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𝜏</m:t>
                                </m:r>
                              </m:e>
                              <m:sub>
                                <m:r>
                                  <a:rPr lang="en-US" altLang="zh-CN" sz="10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sz="10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altLang="zh-CN" sz="1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𝜏</m:t>
                            </m:r>
                          </m:e>
                        </m:d>
                      </m:e>
                      <m:sup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en-US" altLang="zh-CN" sz="1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77470" algn="ctr" eaLnBrk="0">
                  <a:tabLst>
                    <a:tab pos="160020" algn="l"/>
                  </a:tabLst>
                </a:pPr>
                <a:endParaRPr lang="en-US" altLang="zh-CN" sz="1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77470" algn="ctr" eaLnBrk="0">
                  <a:tabLst>
                    <a:tab pos="160020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100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US" altLang="zh-CN" sz="1000" i="1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𝑆</m:t>
                      </m:r>
                      <m:r>
                        <a:rPr lang="en-US" altLang="zh-CN" sz="100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(1,0)=</m:t>
                      </m:r>
                      <m:sSup>
                        <m:sSupPr>
                          <m:ctrlPr>
                            <a:rPr lang="zh-CN" altLang="zh-CN" sz="1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10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altLang="zh-CN" sz="10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00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(1)+</m:t>
                      </m:r>
                      <m:sSup>
                        <m:sSupPr>
                          <m:ctrlPr>
                            <a:rPr lang="zh-CN" altLang="zh-CN" sz="1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10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altLang="zh-CN" sz="10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00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(0)−</m:t>
                      </m:r>
                      <m:sSup>
                        <m:sSupPr>
                          <m:ctrlPr>
                            <a:rPr lang="zh-CN" altLang="zh-CN" sz="1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10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altLang="zh-CN" sz="10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00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1000" i="1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𝜏</m:t>
                      </m:r>
                      <m:r>
                        <a:rPr lang="en-US" altLang="zh-CN" sz="100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zh-CN" altLang="zh-CN" sz="1000" dirty="0">
                  <a:latin typeface="Georgia" panose="02040502050405020303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77470" eaLnBrk="0">
                  <a:tabLst>
                    <a:tab pos="160020" algn="l"/>
                  </a:tabLst>
                </a:pPr>
                <a:endParaRPr lang="en-US" sz="10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77470" eaLnBrk="0">
                  <a:lnSpc>
                    <a:spcPct val="92000"/>
                  </a:lnSpc>
                  <a:spcBef>
                    <a:spcPts val="88"/>
                  </a:spcBef>
                  <a:tabLst>
                    <a:tab pos="160020" algn="l"/>
                  </a:tabLst>
                </a:pPr>
                <a:r>
                  <a:rPr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</a:t>
                </a:r>
                <a:endParaRPr sz="1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770" name="textbox 77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354" y="565367"/>
                <a:ext cx="4079240" cy="2775878"/>
              </a:xfrm>
              <a:prstGeom prst="rect">
                <a:avLst/>
              </a:prstGeom>
              <a:blipFill>
                <a:blip r:embed="rId2"/>
                <a:stretch>
                  <a:fillRect t="-1818"/>
                </a:stretch>
              </a:blipFill>
              <a:ln w="0" cap="flat">
                <a:noFill/>
                <a:prstDash val="solid"/>
                <a:miter lim="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74" name="picture 77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81089" y="2481646"/>
            <a:ext cx="65265" cy="65265"/>
          </a:xfrm>
          <a:prstGeom prst="rect">
            <a:avLst/>
          </a:prstGeom>
        </p:spPr>
      </p:pic>
      <p:pic>
        <p:nvPicPr>
          <p:cNvPr id="778" name="picture 77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84542" y="1398115"/>
            <a:ext cx="65265" cy="65265"/>
          </a:xfrm>
          <a:prstGeom prst="rect">
            <a:avLst/>
          </a:prstGeom>
        </p:spPr>
      </p:pic>
      <p:pic>
        <p:nvPicPr>
          <p:cNvPr id="784" name="picture 78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81089" y="595490"/>
            <a:ext cx="65265" cy="65265"/>
          </a:xfrm>
          <a:prstGeom prst="rect">
            <a:avLst/>
          </a:prstGeom>
        </p:spPr>
      </p:pic>
      <p:sp>
        <p:nvSpPr>
          <p:cNvPr id="786" name="rect 786"/>
          <p:cNvSpPr/>
          <p:nvPr/>
        </p:nvSpPr>
        <p:spPr>
          <a:xfrm>
            <a:off x="0" y="0"/>
            <a:ext cx="4608004" cy="350113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88" name="textbox 788"/>
          <p:cNvSpPr/>
          <p:nvPr/>
        </p:nvSpPr>
        <p:spPr>
          <a:xfrm>
            <a:off x="111698" y="103969"/>
            <a:ext cx="2192558" cy="209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73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400" kern="0" dirty="0">
                <a:solidFill>
                  <a:srgbClr val="CC0000">
                    <a:alpha val="100000"/>
                  </a:srgb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Finite population quantities</a:t>
            </a:r>
            <a:endParaRPr sz="1400" dirty="0">
              <a:latin typeface="Arial" panose="020B0604020202020204" pitchFamily="34" charset="0"/>
              <a:ea typeface="Arial"/>
              <a:cs typeface="Arial" panose="020B0604020202020204" pitchFamily="34" charset="0"/>
            </a:endParaRPr>
          </a:p>
        </p:txBody>
      </p:sp>
      <p:pic>
        <p:nvPicPr>
          <p:cNvPr id="2" name="picture 784">
            <a:extLst>
              <a:ext uri="{FF2B5EF4-FFF2-40B4-BE49-F238E27FC236}">
                <a16:creationId xmlns:a16="http://schemas.microsoft.com/office/drawing/2014/main" id="{5C0E4349-A5C0-D4B3-107F-B0D08C9361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81089" y="1213014"/>
            <a:ext cx="65265" cy="65265"/>
          </a:xfrm>
          <a:prstGeom prst="rect">
            <a:avLst/>
          </a:prstGeom>
        </p:spPr>
      </p:pic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3FC6CF77-A686-2189-05AB-4997D255C6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0959313"/>
              </p:ext>
            </p:extLst>
          </p:nvPr>
        </p:nvGraphicFramePr>
        <p:xfrm>
          <a:off x="0" y="1572530"/>
          <a:ext cx="4815222" cy="8913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6" imgW="5486400" imgH="1016000" progId="Word.Document.12">
                  <p:embed/>
                </p:oleObj>
              </mc:Choice>
              <mc:Fallback>
                <p:oleObj name="文档" r:id="rId6" imgW="5486400" imgH="101600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0" y="1572530"/>
                        <a:ext cx="4815222" cy="89138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774">
            <a:extLst>
              <a:ext uri="{FF2B5EF4-FFF2-40B4-BE49-F238E27FC236}">
                <a16:creationId xmlns:a16="http://schemas.microsoft.com/office/drawing/2014/main" id="{D8E5756B-FF37-ADD7-271B-4F6597DC59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81088" y="3144877"/>
            <a:ext cx="65265" cy="65265"/>
          </a:xfrm>
          <a:prstGeom prst="rect">
            <a:avLst/>
          </a:prstGeom>
        </p:spPr>
      </p:pic>
      <p:sp>
        <p:nvSpPr>
          <p:cNvPr id="5" name="textbox 124">
            <a:extLst>
              <a:ext uri="{FF2B5EF4-FFF2-40B4-BE49-F238E27FC236}">
                <a16:creationId xmlns:a16="http://schemas.microsoft.com/office/drawing/2014/main" id="{458B1D93-0E64-6F30-600C-4923657077E8}"/>
              </a:ext>
            </a:extLst>
          </p:cNvPr>
          <p:cNvSpPr/>
          <p:nvPr/>
        </p:nvSpPr>
        <p:spPr>
          <a:xfrm>
            <a:off x="4328698" y="3341247"/>
            <a:ext cx="211455" cy="1022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604"/>
              </a:lnSpc>
              <a:tabLst/>
            </a:pPr>
            <a:r>
              <a:rPr lang="en-US" sz="500" kern="0" spc="3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r>
              <a:rPr sz="500" kern="0" spc="3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/ 12</a:t>
            </a:r>
            <a:endParaRPr sz="5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F6E61-CFFA-AAC5-BC4A-8B98A0C2D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70" name="textbox 770">
                <a:extLst>
                  <a:ext uri="{FF2B5EF4-FFF2-40B4-BE49-F238E27FC236}">
                    <a16:creationId xmlns:a16="http://schemas.microsoft.com/office/drawing/2014/main" id="{2B68438C-DC7C-38CC-6716-821D9ADAF0D0}"/>
                  </a:ext>
                </a:extLst>
              </p:cNvPr>
              <p:cNvSpPr/>
              <p:nvPr/>
            </p:nvSpPr>
            <p:spPr>
              <a:xfrm>
                <a:off x="346354" y="565367"/>
                <a:ext cx="4079240" cy="2422525"/>
              </a:xfrm>
              <a:prstGeom prst="rect">
                <a:avLst/>
              </a:prstGeom>
              <a:noFill/>
              <a:ln w="0" cap="flat">
                <a:noFill/>
                <a:prstDash val="solid"/>
                <a:miter lim="0"/>
              </a:ln>
            </p:spPr>
            <p:txBody>
              <a:bodyPr vert="horz" wrap="square" lIns="0" tIns="0" rIns="0" bIns="0"/>
              <a:lstStyle/>
              <a:p>
                <a:pPr marL="77470" marR="0" lvl="0" indent="0" algn="l" defTabSz="914400" rtl="0" eaLnBrk="0" fontAlgn="auto" latinLnBrk="0" hangingPunct="1">
                  <a:lnSpc>
                    <a:spcPct val="92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153035" algn="l"/>
                  </a:tabLst>
                  <a:defRPr/>
                </a:pPr>
                <a:r>
                  <a:rPr kumimoji="0" lang="en" altLang="zh-CN" sz="1000" b="0" i="0" u="none" strike="noStrike" kern="0" cap="none" normalizeH="0" baseline="0" noProof="0" dirty="0">
                    <a:ln>
                      <a:noFill/>
                    </a:ln>
                    <a:solidFill>
                      <a:srgbClr val="000000">
                        <a:alpha val="100000"/>
                      </a:srgb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Sample means</a:t>
                </a:r>
                <a:endParaRPr kumimoji="0" lang="en" altLang="zh-CN" sz="1000" b="0" i="0" u="none" strike="noStrike" kern="1200" cap="none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77470" algn="l" rtl="0" eaLnBrk="0">
                  <a:lnSpc>
                    <a:spcPct val="92000"/>
                  </a:lnSpc>
                  <a:tabLst>
                    <a:tab pos="160020" algn="l"/>
                  </a:tabLst>
                </a:pPr>
                <a:endParaRPr lang="en-US" altLang="zh-CN" sz="1000" i="1" dirty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77470" algn="ctr" eaLnBrk="0">
                  <a:lnSpc>
                    <a:spcPct val="92000"/>
                  </a:lnSpc>
                  <a:tabLst>
                    <a:tab pos="160020" algn="l"/>
                  </a:tabLst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</m:acc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(1)=</m:t>
                    </m:r>
                    <m:f>
                      <m:f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zh-CN" altLang="zh-CN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10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  <m:e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 </m:t>
                        </m:r>
                      </m:e>
                    </m:nary>
                    <m:sSub>
                      <m:sSub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, </m:t>
                    </m:r>
                    <m:acc>
                      <m:accPr>
                        <m:chr m:val="̂"/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</m:acc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(0)=</m:t>
                    </m:r>
                    <m:f>
                      <m:f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zh-CN" altLang="zh-CN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10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  <m:e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 </m:t>
                        </m:r>
                      </m:e>
                    </m:nary>
                    <m:d>
                      <m:d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zh-CN" altLang="zh-CN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altLang="zh-CN" sz="1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zh-CN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	</a:t>
                </a:r>
              </a:p>
              <a:p>
                <a:pPr marL="77470" algn="ctr" eaLnBrk="0">
                  <a:lnSpc>
                    <a:spcPct val="92000"/>
                  </a:lnSpc>
                  <a:tabLst>
                    <a:tab pos="160020" algn="l"/>
                  </a:tabLst>
                </a:pPr>
                <a:endParaRPr lang="en-US" altLang="zh-CN" sz="10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77470" eaLnBrk="0">
                  <a:lnSpc>
                    <a:spcPct val="92000"/>
                  </a:lnSpc>
                  <a:tabLst>
                    <a:tab pos="160020" algn="l"/>
                  </a:tabLst>
                </a:pPr>
                <a:r>
                  <a:rPr kumimoji="0" lang="en" altLang="zh-CN" sz="1000" b="0" i="0" u="none" strike="noStrike" kern="0" cap="none" normalizeH="0" baseline="0" noProof="0" dirty="0">
                    <a:ln>
                      <a:noFill/>
                    </a:ln>
                    <a:solidFill>
                      <a:srgbClr val="000000">
                        <a:alpha val="100000"/>
                      </a:srgb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Sample variances</a:t>
                </a:r>
                <a:endParaRPr kumimoji="0" lang="en" altLang="zh-CN" sz="1000" b="0" i="0" u="none" strike="noStrike" kern="1200" cap="none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77470" eaLnBrk="0">
                  <a:lnSpc>
                    <a:spcPct val="92000"/>
                  </a:lnSpc>
                  <a:tabLst>
                    <a:tab pos="160020" algn="l"/>
                  </a:tabLst>
                </a:pPr>
                <a:endParaRPr lang="en-US" altLang="zh-CN" sz="10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77470" algn="ctr" eaLnBrk="0">
                  <a:lnSpc>
                    <a:spcPct val="92000"/>
                  </a:lnSpc>
                  <a:tabLst>
                    <a:tab pos="160020" algn="l"/>
                  </a:tabLs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zh-CN" altLang="zh-CN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</m:acc>
                      </m:e>
                      <m:sup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(1)=</m:t>
                    </m:r>
                    <m:f>
                      <m:f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zh-CN" altLang="zh-CN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10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−1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  <m:e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 </m:t>
                        </m:r>
                      </m:e>
                    </m:nary>
                    <m:sSub>
                      <m:sSub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sSup>
                      <m:sSup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zh-CN" altLang="zh-CN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1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0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altLang="zh-CN" sz="10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sz="10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acc>
                              <m:accPr>
                                <m:chr m:val="̂"/>
                                <m:ctrlPr>
                                  <a:rPr lang="zh-CN" altLang="zh-CN" sz="1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10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𝑌</m:t>
                                </m:r>
                              </m:e>
                            </m:acc>
                            <m:r>
                              <a:rPr lang="en-US" altLang="zh-CN" sz="10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(1)</m:t>
                            </m:r>
                          </m:e>
                        </m:d>
                      </m:e>
                      <m:sup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, </m:t>
                    </m:r>
                    <m:sSup>
                      <m:sSup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zh-CN" altLang="zh-CN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</m:acc>
                      </m:e>
                      <m:sup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(0)=</m:t>
                    </m:r>
                    <m:f>
                      <m:f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zh-CN" altLang="zh-CN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10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−1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  <m:e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 </m:t>
                        </m:r>
                      </m:e>
                    </m:nary>
                    <m:d>
                      <m:d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zh-CN" altLang="zh-CN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altLang="zh-CN" sz="1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sSup>
                      <m:sSup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zh-CN" altLang="zh-CN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1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0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altLang="zh-CN" sz="10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sz="10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acc>
                              <m:accPr>
                                <m:chr m:val="̂"/>
                                <m:ctrlPr>
                                  <a:rPr lang="zh-CN" altLang="zh-CN" sz="1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10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𝑌</m:t>
                                </m:r>
                              </m:e>
                            </m:acc>
                            <m:r>
                              <a:rPr lang="en-US" altLang="zh-CN" sz="10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(0)</m:t>
                            </m:r>
                          </m:e>
                        </m:d>
                      </m:e>
                      <m:sup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</a:t>
                </a:r>
                <a:endParaRPr lang="en-US" sz="10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77470" eaLnBrk="0">
                  <a:lnSpc>
                    <a:spcPct val="92000"/>
                  </a:lnSpc>
                  <a:spcBef>
                    <a:spcPts val="88"/>
                  </a:spcBef>
                  <a:tabLst>
                    <a:tab pos="160020" algn="l"/>
                  </a:tabLst>
                </a:pPr>
                <a:endParaRPr lang="en-US" sz="10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77470" eaLnBrk="0">
                  <a:lnSpc>
                    <a:spcPct val="92000"/>
                  </a:lnSpc>
                  <a:spcBef>
                    <a:spcPts val="88"/>
                  </a:spcBef>
                  <a:tabLst>
                    <a:tab pos="160020" algn="l"/>
                  </a:tabLst>
                </a:pPr>
                <a:endParaRPr kumimoji="0" lang="en" altLang="zh-CN" sz="1000" b="0" i="0" u="none" strike="noStrike" kern="0" cap="none" normalizeH="0" baseline="0" noProof="0" dirty="0">
                  <a:ln>
                    <a:noFill/>
                  </a:ln>
                  <a:solidFill>
                    <a:srgbClr val="000000">
                      <a:alpha val="100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77470" eaLnBrk="0">
                  <a:lnSpc>
                    <a:spcPct val="92000"/>
                  </a:lnSpc>
                  <a:spcBef>
                    <a:spcPts val="88"/>
                  </a:spcBef>
                  <a:tabLst>
                    <a:tab pos="160020" algn="l"/>
                  </a:tabLst>
                </a:pPr>
                <a:r>
                  <a:rPr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</a:t>
                </a:r>
                <a:endParaRPr sz="1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770" name="textbox 770">
                <a:extLst>
                  <a:ext uri="{FF2B5EF4-FFF2-40B4-BE49-F238E27FC236}">
                    <a16:creationId xmlns:a16="http://schemas.microsoft.com/office/drawing/2014/main" id="{2B68438C-DC7C-38CC-6716-821D9ADAF0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354" y="565367"/>
                <a:ext cx="4079240" cy="2422525"/>
              </a:xfrm>
              <a:prstGeom prst="rect">
                <a:avLst/>
              </a:prstGeom>
              <a:blipFill>
                <a:blip r:embed="rId2"/>
                <a:stretch>
                  <a:fillRect t="-2083"/>
                </a:stretch>
              </a:blipFill>
              <a:ln w="0" cap="flat">
                <a:noFill/>
                <a:prstDash val="solid"/>
                <a:miter lim="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84" name="picture 784">
            <a:extLst>
              <a:ext uri="{FF2B5EF4-FFF2-40B4-BE49-F238E27FC236}">
                <a16:creationId xmlns:a16="http://schemas.microsoft.com/office/drawing/2014/main" id="{DB96D64B-7E26-20C4-E1A9-E86747181D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87439" y="595490"/>
            <a:ext cx="65265" cy="65265"/>
          </a:xfrm>
          <a:prstGeom prst="rect">
            <a:avLst/>
          </a:prstGeom>
        </p:spPr>
      </p:pic>
      <p:sp>
        <p:nvSpPr>
          <p:cNvPr id="786" name="rect 786">
            <a:extLst>
              <a:ext uri="{FF2B5EF4-FFF2-40B4-BE49-F238E27FC236}">
                <a16:creationId xmlns:a16="http://schemas.microsoft.com/office/drawing/2014/main" id="{41CCF8A8-08AC-97F1-359A-2D4784DF313C}"/>
              </a:ext>
            </a:extLst>
          </p:cNvPr>
          <p:cNvSpPr/>
          <p:nvPr/>
        </p:nvSpPr>
        <p:spPr>
          <a:xfrm>
            <a:off x="0" y="0"/>
            <a:ext cx="4608004" cy="350113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88" name="textbox 788">
            <a:extLst>
              <a:ext uri="{FF2B5EF4-FFF2-40B4-BE49-F238E27FC236}">
                <a16:creationId xmlns:a16="http://schemas.microsoft.com/office/drawing/2014/main" id="{F0747D01-4D46-3EE0-31AA-937D601E1029}"/>
              </a:ext>
            </a:extLst>
          </p:cNvPr>
          <p:cNvSpPr/>
          <p:nvPr/>
        </p:nvSpPr>
        <p:spPr>
          <a:xfrm>
            <a:off x="111698" y="103969"/>
            <a:ext cx="2050415" cy="209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73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eaLnBrk="0">
              <a:lnSpc>
                <a:spcPct val="86000"/>
              </a:lnSpc>
            </a:pPr>
            <a:r>
              <a:rPr lang="en" altLang="zh-CN" sz="1400" kern="0" dirty="0">
                <a:solidFill>
                  <a:srgbClr val="CC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Estimators</a:t>
            </a:r>
            <a:endParaRPr sz="1400" dirty="0">
              <a:latin typeface="Arial" panose="020B0604020202020204" pitchFamily="34" charset="0"/>
              <a:ea typeface="Arial"/>
              <a:cs typeface="Arial" panose="020B0604020202020204" pitchFamily="34" charset="0"/>
            </a:endParaRPr>
          </a:p>
        </p:txBody>
      </p:sp>
      <p:pic>
        <p:nvPicPr>
          <p:cNvPr id="2" name="picture 784">
            <a:extLst>
              <a:ext uri="{FF2B5EF4-FFF2-40B4-BE49-F238E27FC236}">
                <a16:creationId xmlns:a16="http://schemas.microsoft.com/office/drawing/2014/main" id="{84416C4D-0608-4AA6-E905-BDCD207ED2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87439" y="1232064"/>
            <a:ext cx="65265" cy="65265"/>
          </a:xfrm>
          <a:prstGeom prst="rect">
            <a:avLst/>
          </a:prstGeom>
        </p:spPr>
      </p:pic>
      <p:sp>
        <p:nvSpPr>
          <p:cNvPr id="4" name="textbox 144">
            <a:extLst>
              <a:ext uri="{FF2B5EF4-FFF2-40B4-BE49-F238E27FC236}">
                <a16:creationId xmlns:a16="http://schemas.microsoft.com/office/drawing/2014/main" id="{6C9CD23A-013F-10D2-CF4B-F09BC03E5DCC}"/>
              </a:ext>
            </a:extLst>
          </p:cNvPr>
          <p:cNvSpPr/>
          <p:nvPr/>
        </p:nvSpPr>
        <p:spPr>
          <a:xfrm>
            <a:off x="4328698" y="3341244"/>
            <a:ext cx="211455" cy="1022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604"/>
              </a:lnSpc>
              <a:tabLst/>
            </a:pPr>
            <a:r>
              <a:rPr sz="500" kern="0" spc="3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4 / 12</a:t>
            </a:r>
            <a:endParaRPr sz="500" dirty="0"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160970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9024D-A3D1-D64F-AEFF-48EF76C49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70" name="textbox 770">
                <a:extLst>
                  <a:ext uri="{FF2B5EF4-FFF2-40B4-BE49-F238E27FC236}">
                    <a16:creationId xmlns:a16="http://schemas.microsoft.com/office/drawing/2014/main" id="{8BD92F71-E427-4FFF-445D-CA8717080EB4}"/>
                  </a:ext>
                </a:extLst>
              </p:cNvPr>
              <p:cNvSpPr/>
              <p:nvPr/>
            </p:nvSpPr>
            <p:spPr>
              <a:xfrm>
                <a:off x="346354" y="565367"/>
                <a:ext cx="4079240" cy="2422525"/>
              </a:xfrm>
              <a:prstGeom prst="rect">
                <a:avLst/>
              </a:prstGeom>
              <a:noFill/>
              <a:ln w="0" cap="flat">
                <a:noFill/>
                <a:prstDash val="solid"/>
                <a:miter lim="0"/>
              </a:ln>
            </p:spPr>
            <p:txBody>
              <a:bodyPr vert="horz" wrap="square" lIns="0" tIns="0" rIns="0" bIns="0"/>
              <a:lstStyle/>
              <a:p>
                <a:pPr marL="77470" marR="0" lvl="0" indent="0" algn="l" defTabSz="914400" rtl="0" eaLnBrk="0" fontAlgn="auto" latinLnBrk="0" hangingPunct="1">
                  <a:lnSpc>
                    <a:spcPct val="92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153035" algn="l"/>
                  </a:tabLst>
                  <a:defRPr/>
                </a:pPr>
                <a:r>
                  <a:rPr kumimoji="0" lang="en" altLang="zh-CN" sz="1000" b="0" i="0" u="none" strike="noStrike" kern="0" cap="none" normalizeH="0" baseline="0" noProof="0" dirty="0">
                    <a:ln>
                      <a:noFill/>
                    </a:ln>
                    <a:solidFill>
                      <a:srgbClr val="000000">
                        <a:alpha val="100000"/>
                      </a:srgb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Sample means</a:t>
                </a:r>
                <a:endParaRPr kumimoji="0" lang="en" altLang="zh-CN" sz="1000" b="0" i="0" u="none" strike="noStrike" kern="1200" cap="none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77470" algn="l" rtl="0" eaLnBrk="0">
                  <a:lnSpc>
                    <a:spcPct val="92000"/>
                  </a:lnSpc>
                  <a:tabLst>
                    <a:tab pos="160020" algn="l"/>
                  </a:tabLst>
                </a:pPr>
                <a:endParaRPr lang="en-US" altLang="zh-CN" sz="1000" i="1" dirty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77470" algn="ctr" eaLnBrk="0">
                  <a:lnSpc>
                    <a:spcPct val="92000"/>
                  </a:lnSpc>
                  <a:tabLst>
                    <a:tab pos="160020" algn="l"/>
                  </a:tabLst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</m:acc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(1)=</m:t>
                    </m:r>
                    <m:f>
                      <m:f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zh-CN" altLang="zh-CN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10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  <m:e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 </m:t>
                        </m:r>
                      </m:e>
                    </m:nary>
                    <m:sSub>
                      <m:sSub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, </m:t>
                    </m:r>
                    <m:acc>
                      <m:accPr>
                        <m:chr m:val="̂"/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</m:acc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(0)=</m:t>
                    </m:r>
                    <m:f>
                      <m:f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zh-CN" altLang="zh-CN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10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  <m:e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 </m:t>
                        </m:r>
                      </m:e>
                    </m:nary>
                    <m:d>
                      <m:d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zh-CN" altLang="zh-CN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altLang="zh-CN" sz="1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zh-CN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	</a:t>
                </a:r>
              </a:p>
              <a:p>
                <a:pPr marL="77470" algn="ctr" eaLnBrk="0">
                  <a:lnSpc>
                    <a:spcPct val="92000"/>
                  </a:lnSpc>
                  <a:tabLst>
                    <a:tab pos="160020" algn="l"/>
                  </a:tabLst>
                </a:pPr>
                <a:endParaRPr lang="en-US" altLang="zh-CN" sz="10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77470" eaLnBrk="0">
                  <a:lnSpc>
                    <a:spcPct val="92000"/>
                  </a:lnSpc>
                  <a:tabLst>
                    <a:tab pos="160020" algn="l"/>
                  </a:tabLst>
                </a:pPr>
                <a:r>
                  <a:rPr kumimoji="0" lang="en" altLang="zh-CN" sz="1000" b="0" i="0" u="none" strike="noStrike" kern="0" cap="none" normalizeH="0" baseline="0" noProof="0" dirty="0">
                    <a:ln>
                      <a:noFill/>
                    </a:ln>
                    <a:solidFill>
                      <a:srgbClr val="000000">
                        <a:alpha val="100000"/>
                      </a:srgb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Sample variances</a:t>
                </a:r>
                <a:endParaRPr kumimoji="0" lang="en" altLang="zh-CN" sz="1000" b="0" i="0" u="none" strike="noStrike" kern="1200" cap="none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77470" eaLnBrk="0">
                  <a:lnSpc>
                    <a:spcPct val="92000"/>
                  </a:lnSpc>
                  <a:tabLst>
                    <a:tab pos="160020" algn="l"/>
                  </a:tabLst>
                </a:pPr>
                <a:endParaRPr lang="en-US" altLang="zh-CN" sz="10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77470" algn="ctr" eaLnBrk="0">
                  <a:lnSpc>
                    <a:spcPct val="92000"/>
                  </a:lnSpc>
                  <a:tabLst>
                    <a:tab pos="160020" algn="l"/>
                  </a:tabLs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zh-CN" altLang="zh-CN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</m:acc>
                      </m:e>
                      <m:sup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(1)=</m:t>
                    </m:r>
                    <m:f>
                      <m:f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zh-CN" altLang="zh-CN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10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−1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  <m:e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 </m:t>
                        </m:r>
                      </m:e>
                    </m:nary>
                    <m:sSub>
                      <m:sSub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sSup>
                      <m:sSup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zh-CN" altLang="zh-CN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1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0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altLang="zh-CN" sz="10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sz="10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acc>
                              <m:accPr>
                                <m:chr m:val="̂"/>
                                <m:ctrlPr>
                                  <a:rPr lang="zh-CN" altLang="zh-CN" sz="1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10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𝑌</m:t>
                                </m:r>
                              </m:e>
                            </m:acc>
                            <m:r>
                              <a:rPr lang="en-US" altLang="zh-CN" sz="10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(1)</m:t>
                            </m:r>
                          </m:e>
                        </m:d>
                      </m:e>
                      <m:sup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, </m:t>
                    </m:r>
                    <m:sSup>
                      <m:sSup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zh-CN" altLang="zh-CN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</m:acc>
                      </m:e>
                      <m:sup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(0)=</m:t>
                    </m:r>
                    <m:f>
                      <m:f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zh-CN" altLang="zh-CN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10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−1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  <m:e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 </m:t>
                        </m:r>
                      </m:e>
                    </m:nary>
                    <m:d>
                      <m:d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zh-CN" altLang="zh-CN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altLang="zh-CN" sz="1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sSup>
                      <m:sSup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zh-CN" altLang="zh-CN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1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0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altLang="zh-CN" sz="10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sz="10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acc>
                              <m:accPr>
                                <m:chr m:val="̂"/>
                                <m:ctrlPr>
                                  <a:rPr lang="zh-CN" altLang="zh-CN" sz="1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10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𝑌</m:t>
                                </m:r>
                              </m:e>
                            </m:acc>
                            <m:r>
                              <a:rPr lang="en-US" altLang="zh-CN" sz="10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(0)</m:t>
                            </m:r>
                          </m:e>
                        </m:d>
                      </m:e>
                      <m:sup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</a:t>
                </a:r>
                <a:endParaRPr lang="en-US" sz="10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77470" eaLnBrk="0">
                  <a:lnSpc>
                    <a:spcPct val="92000"/>
                  </a:lnSpc>
                  <a:spcBef>
                    <a:spcPts val="88"/>
                  </a:spcBef>
                  <a:tabLst>
                    <a:tab pos="160020" algn="l"/>
                  </a:tabLst>
                </a:pPr>
                <a:r>
                  <a:rPr lang="en" altLang="zh-CN"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Difference-in-means estimator:</a:t>
                </a:r>
              </a:p>
              <a:p>
                <a:pPr marL="77470" eaLnBrk="0">
                  <a:lnSpc>
                    <a:spcPct val="92000"/>
                  </a:lnSpc>
                  <a:spcBef>
                    <a:spcPts val="88"/>
                  </a:spcBef>
                  <a:tabLst>
                    <a:tab pos="160020" algn="l"/>
                  </a:tabLst>
                </a:pPr>
                <a:endParaRPr lang="en-US" sz="10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77470" algn="ctr" eaLnBrk="0">
                  <a:lnSpc>
                    <a:spcPct val="92000"/>
                  </a:lnSpc>
                  <a:spcBef>
                    <a:spcPts val="88"/>
                  </a:spcBef>
                  <a:tabLst>
                    <a:tab pos="16002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zh-CN" altLang="zh-CN" sz="1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10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𝜏</m:t>
                          </m:r>
                        </m:e>
                      </m:acc>
                      <m:r>
                        <a:rPr lang="en-US" altLang="zh-CN" sz="100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zh-CN" altLang="zh-CN" sz="1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10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𝑌</m:t>
                          </m:r>
                        </m:e>
                      </m:acc>
                      <m:r>
                        <a:rPr lang="en-US" altLang="zh-CN" sz="100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(1)−</m:t>
                      </m:r>
                      <m:acc>
                        <m:accPr>
                          <m:chr m:val="̂"/>
                          <m:ctrlPr>
                            <a:rPr lang="zh-CN" altLang="zh-CN" sz="1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10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𝑌</m:t>
                          </m:r>
                        </m:e>
                      </m:acc>
                      <m:r>
                        <a:rPr lang="en-US" altLang="zh-CN" sz="100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(0)</m:t>
                      </m:r>
                    </m:oMath>
                  </m:oMathPara>
                </a14:m>
                <a:endParaRPr lang="en-US" sz="10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77470" eaLnBrk="0">
                  <a:lnSpc>
                    <a:spcPct val="92000"/>
                  </a:lnSpc>
                  <a:spcBef>
                    <a:spcPts val="88"/>
                  </a:spcBef>
                  <a:tabLst>
                    <a:tab pos="160020" algn="l"/>
                  </a:tabLst>
                </a:pPr>
                <a:endParaRPr kumimoji="0" lang="en" altLang="zh-CN" sz="1000" b="0" i="0" u="none" strike="noStrike" kern="0" cap="none" normalizeH="0" baseline="0" noProof="0" dirty="0">
                  <a:ln>
                    <a:noFill/>
                  </a:ln>
                  <a:solidFill>
                    <a:srgbClr val="000000">
                      <a:alpha val="100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77470" eaLnBrk="0">
                  <a:lnSpc>
                    <a:spcPct val="92000"/>
                  </a:lnSpc>
                  <a:spcBef>
                    <a:spcPts val="88"/>
                  </a:spcBef>
                  <a:tabLst>
                    <a:tab pos="160020" algn="l"/>
                  </a:tabLst>
                </a:pPr>
                <a:r>
                  <a:rPr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</a:t>
                </a:r>
                <a:endParaRPr sz="1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770" name="textbox 770">
                <a:extLst>
                  <a:ext uri="{FF2B5EF4-FFF2-40B4-BE49-F238E27FC236}">
                    <a16:creationId xmlns:a16="http://schemas.microsoft.com/office/drawing/2014/main" id="{8BD92F71-E427-4FFF-445D-CA8717080E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354" y="565367"/>
                <a:ext cx="4079240" cy="2422525"/>
              </a:xfrm>
              <a:prstGeom prst="rect">
                <a:avLst/>
              </a:prstGeom>
              <a:blipFill>
                <a:blip r:embed="rId2"/>
                <a:stretch>
                  <a:fillRect t="-2083"/>
                </a:stretch>
              </a:blipFill>
              <a:ln w="0" cap="flat">
                <a:noFill/>
                <a:prstDash val="solid"/>
                <a:miter lim="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78" name="picture 778">
            <a:extLst>
              <a:ext uri="{FF2B5EF4-FFF2-40B4-BE49-F238E27FC236}">
                <a16:creationId xmlns:a16="http://schemas.microsoft.com/office/drawing/2014/main" id="{25D92419-8AEB-069C-B32F-151EC2940D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84542" y="1893415"/>
            <a:ext cx="65265" cy="65265"/>
          </a:xfrm>
          <a:prstGeom prst="rect">
            <a:avLst/>
          </a:prstGeom>
        </p:spPr>
      </p:pic>
      <p:pic>
        <p:nvPicPr>
          <p:cNvPr id="784" name="picture 784">
            <a:extLst>
              <a:ext uri="{FF2B5EF4-FFF2-40B4-BE49-F238E27FC236}">
                <a16:creationId xmlns:a16="http://schemas.microsoft.com/office/drawing/2014/main" id="{FAF279EC-492E-BAC2-B388-0DFCE6BD7D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87439" y="595490"/>
            <a:ext cx="65265" cy="65265"/>
          </a:xfrm>
          <a:prstGeom prst="rect">
            <a:avLst/>
          </a:prstGeom>
        </p:spPr>
      </p:pic>
      <p:sp>
        <p:nvSpPr>
          <p:cNvPr id="786" name="rect 786">
            <a:extLst>
              <a:ext uri="{FF2B5EF4-FFF2-40B4-BE49-F238E27FC236}">
                <a16:creationId xmlns:a16="http://schemas.microsoft.com/office/drawing/2014/main" id="{C508A460-8286-E24E-3C99-0D37C62DBECA}"/>
              </a:ext>
            </a:extLst>
          </p:cNvPr>
          <p:cNvSpPr/>
          <p:nvPr/>
        </p:nvSpPr>
        <p:spPr>
          <a:xfrm>
            <a:off x="0" y="0"/>
            <a:ext cx="4608004" cy="350113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88" name="textbox 788">
            <a:extLst>
              <a:ext uri="{FF2B5EF4-FFF2-40B4-BE49-F238E27FC236}">
                <a16:creationId xmlns:a16="http://schemas.microsoft.com/office/drawing/2014/main" id="{069B2575-0892-5290-A044-877E54CDDE03}"/>
              </a:ext>
            </a:extLst>
          </p:cNvPr>
          <p:cNvSpPr/>
          <p:nvPr/>
        </p:nvSpPr>
        <p:spPr>
          <a:xfrm>
            <a:off x="111698" y="103969"/>
            <a:ext cx="2050415" cy="209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73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eaLnBrk="0">
              <a:lnSpc>
                <a:spcPct val="86000"/>
              </a:lnSpc>
            </a:pPr>
            <a:r>
              <a:rPr lang="en" altLang="zh-CN" sz="1400" kern="0" dirty="0">
                <a:solidFill>
                  <a:srgbClr val="CC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Estimators</a:t>
            </a:r>
            <a:endParaRPr sz="1400" dirty="0">
              <a:latin typeface="Arial" panose="020B0604020202020204" pitchFamily="34" charset="0"/>
              <a:ea typeface="Arial"/>
              <a:cs typeface="Arial" panose="020B0604020202020204" pitchFamily="34" charset="0"/>
            </a:endParaRPr>
          </a:p>
        </p:txBody>
      </p:sp>
      <p:pic>
        <p:nvPicPr>
          <p:cNvPr id="2" name="picture 784">
            <a:extLst>
              <a:ext uri="{FF2B5EF4-FFF2-40B4-BE49-F238E27FC236}">
                <a16:creationId xmlns:a16="http://schemas.microsoft.com/office/drawing/2014/main" id="{C7A365BE-BBEB-7EFF-5CF8-EE3A3CF70D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87439" y="1232064"/>
            <a:ext cx="65265" cy="65265"/>
          </a:xfrm>
          <a:prstGeom prst="rect">
            <a:avLst/>
          </a:prstGeom>
        </p:spPr>
      </p:pic>
      <p:sp>
        <p:nvSpPr>
          <p:cNvPr id="4" name="textbox 144">
            <a:extLst>
              <a:ext uri="{FF2B5EF4-FFF2-40B4-BE49-F238E27FC236}">
                <a16:creationId xmlns:a16="http://schemas.microsoft.com/office/drawing/2014/main" id="{80814C0D-A6B6-5455-07FD-18268CD32183}"/>
              </a:ext>
            </a:extLst>
          </p:cNvPr>
          <p:cNvSpPr/>
          <p:nvPr/>
        </p:nvSpPr>
        <p:spPr>
          <a:xfrm>
            <a:off x="4328698" y="3341244"/>
            <a:ext cx="211455" cy="1022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604"/>
              </a:lnSpc>
              <a:tabLst/>
            </a:pPr>
            <a:r>
              <a:rPr sz="500" kern="0" spc="3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4 / 12</a:t>
            </a:r>
            <a:endParaRPr sz="500" dirty="0"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42397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A04ED-B92E-9813-2C4F-33F609F33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70" name="textbox 770">
                <a:extLst>
                  <a:ext uri="{FF2B5EF4-FFF2-40B4-BE49-F238E27FC236}">
                    <a16:creationId xmlns:a16="http://schemas.microsoft.com/office/drawing/2014/main" id="{DDEACD11-FFD5-88B8-9AE2-D2CD0FDAB6A0}"/>
                  </a:ext>
                </a:extLst>
              </p:cNvPr>
              <p:cNvSpPr/>
              <p:nvPr/>
            </p:nvSpPr>
            <p:spPr>
              <a:xfrm>
                <a:off x="346354" y="565367"/>
                <a:ext cx="4079240" cy="2422525"/>
              </a:xfrm>
              <a:prstGeom prst="rect">
                <a:avLst/>
              </a:prstGeom>
              <a:noFill/>
              <a:ln w="0" cap="flat">
                <a:noFill/>
                <a:prstDash val="solid"/>
                <a:miter lim="0"/>
              </a:ln>
            </p:spPr>
            <p:txBody>
              <a:bodyPr vert="horz" wrap="square" lIns="0" tIns="0" rIns="0" bIns="0"/>
              <a:lstStyle/>
              <a:p>
                <a:pPr marL="77470" marR="0" lvl="0" indent="0" algn="l" defTabSz="914400" rtl="0" eaLnBrk="0" fontAlgn="auto" latinLnBrk="0" hangingPunct="1">
                  <a:lnSpc>
                    <a:spcPct val="92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153035" algn="l"/>
                  </a:tabLst>
                  <a:defRPr/>
                </a:pPr>
                <a:r>
                  <a:rPr kumimoji="0" lang="en" altLang="zh-CN" sz="1000" b="0" i="0" u="none" strike="noStrike" kern="0" cap="none" normalizeH="0" baseline="0" noProof="0" dirty="0">
                    <a:ln>
                      <a:noFill/>
                    </a:ln>
                    <a:solidFill>
                      <a:srgbClr val="000000">
                        <a:alpha val="100000"/>
                      </a:srgb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Sample means</a:t>
                </a:r>
                <a:endParaRPr kumimoji="0" lang="en" altLang="zh-CN" sz="1000" b="0" i="0" u="none" strike="noStrike" kern="1200" cap="none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77470" algn="l" rtl="0" eaLnBrk="0">
                  <a:lnSpc>
                    <a:spcPct val="92000"/>
                  </a:lnSpc>
                  <a:tabLst>
                    <a:tab pos="160020" algn="l"/>
                  </a:tabLst>
                </a:pPr>
                <a:endParaRPr lang="en-US" altLang="zh-CN" sz="1000" i="1" dirty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77470" algn="ctr" eaLnBrk="0">
                  <a:lnSpc>
                    <a:spcPct val="92000"/>
                  </a:lnSpc>
                  <a:tabLst>
                    <a:tab pos="160020" algn="l"/>
                  </a:tabLst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</m:acc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(1)=</m:t>
                    </m:r>
                    <m:f>
                      <m:f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zh-CN" altLang="zh-CN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10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  <m:e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 </m:t>
                        </m:r>
                      </m:e>
                    </m:nary>
                    <m:sSub>
                      <m:sSub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, </m:t>
                    </m:r>
                    <m:acc>
                      <m:accPr>
                        <m:chr m:val="̂"/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</m:acc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(0)=</m:t>
                    </m:r>
                    <m:f>
                      <m:f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zh-CN" altLang="zh-CN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10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  <m:e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 </m:t>
                        </m:r>
                      </m:e>
                    </m:nary>
                    <m:d>
                      <m:d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zh-CN" altLang="zh-CN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altLang="zh-CN" sz="1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zh-CN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	</a:t>
                </a:r>
              </a:p>
              <a:p>
                <a:pPr marL="77470" algn="ctr" eaLnBrk="0">
                  <a:lnSpc>
                    <a:spcPct val="92000"/>
                  </a:lnSpc>
                  <a:tabLst>
                    <a:tab pos="160020" algn="l"/>
                  </a:tabLst>
                </a:pPr>
                <a:endParaRPr lang="en-US" altLang="zh-CN" sz="10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77470" eaLnBrk="0">
                  <a:lnSpc>
                    <a:spcPct val="92000"/>
                  </a:lnSpc>
                  <a:tabLst>
                    <a:tab pos="160020" algn="l"/>
                  </a:tabLst>
                </a:pPr>
                <a:r>
                  <a:rPr kumimoji="0" lang="en" altLang="zh-CN" sz="1000" b="0" i="0" u="none" strike="noStrike" kern="0" cap="none" normalizeH="0" baseline="0" noProof="0" dirty="0">
                    <a:ln>
                      <a:noFill/>
                    </a:ln>
                    <a:solidFill>
                      <a:srgbClr val="000000">
                        <a:alpha val="100000"/>
                      </a:srgb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Sample variances</a:t>
                </a:r>
                <a:endParaRPr kumimoji="0" lang="en" altLang="zh-CN" sz="1000" b="0" i="0" u="none" strike="noStrike" kern="1200" cap="none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77470" eaLnBrk="0">
                  <a:lnSpc>
                    <a:spcPct val="92000"/>
                  </a:lnSpc>
                  <a:tabLst>
                    <a:tab pos="160020" algn="l"/>
                  </a:tabLst>
                </a:pPr>
                <a:endParaRPr lang="en-US" altLang="zh-CN" sz="10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77470" algn="ctr" eaLnBrk="0">
                  <a:lnSpc>
                    <a:spcPct val="92000"/>
                  </a:lnSpc>
                  <a:tabLst>
                    <a:tab pos="160020" algn="l"/>
                  </a:tabLs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zh-CN" altLang="zh-CN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</m:acc>
                      </m:e>
                      <m:sup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(1)=</m:t>
                    </m:r>
                    <m:f>
                      <m:f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zh-CN" altLang="zh-CN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10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−1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  <m:e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 </m:t>
                        </m:r>
                      </m:e>
                    </m:nary>
                    <m:sSub>
                      <m:sSub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sSup>
                      <m:sSup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zh-CN" altLang="zh-CN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1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0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altLang="zh-CN" sz="10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sz="10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acc>
                              <m:accPr>
                                <m:chr m:val="̂"/>
                                <m:ctrlPr>
                                  <a:rPr lang="zh-CN" altLang="zh-CN" sz="1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10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𝑌</m:t>
                                </m:r>
                              </m:e>
                            </m:acc>
                            <m:r>
                              <a:rPr lang="en-US" altLang="zh-CN" sz="10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(1)</m:t>
                            </m:r>
                          </m:e>
                        </m:d>
                      </m:e>
                      <m:sup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, </m:t>
                    </m:r>
                    <m:sSup>
                      <m:sSup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zh-CN" altLang="zh-CN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</m:acc>
                      </m:e>
                      <m:sup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(0)=</m:t>
                    </m:r>
                    <m:f>
                      <m:f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zh-CN" altLang="zh-CN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10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−1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  <m:e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 </m:t>
                        </m:r>
                      </m:e>
                    </m:nary>
                    <m:d>
                      <m:d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zh-CN" altLang="zh-CN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altLang="zh-CN" sz="1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sSup>
                      <m:sSup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zh-CN" altLang="zh-CN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1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0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altLang="zh-CN" sz="10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sz="10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acc>
                              <m:accPr>
                                <m:chr m:val="̂"/>
                                <m:ctrlPr>
                                  <a:rPr lang="zh-CN" altLang="zh-CN" sz="1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10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𝑌</m:t>
                                </m:r>
                              </m:e>
                            </m:acc>
                            <m:r>
                              <a:rPr lang="en-US" altLang="zh-CN" sz="10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(0)</m:t>
                            </m:r>
                          </m:e>
                        </m:d>
                      </m:e>
                      <m:sup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</a:t>
                </a:r>
                <a:endParaRPr lang="en-US" sz="10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77470" eaLnBrk="0">
                  <a:lnSpc>
                    <a:spcPct val="92000"/>
                  </a:lnSpc>
                  <a:spcBef>
                    <a:spcPts val="88"/>
                  </a:spcBef>
                  <a:tabLst>
                    <a:tab pos="160020" algn="l"/>
                  </a:tabLst>
                </a:pPr>
                <a:r>
                  <a:rPr lang="en" altLang="zh-CN"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Difference-in-means estimator:</a:t>
                </a:r>
              </a:p>
              <a:p>
                <a:pPr marL="77470" eaLnBrk="0">
                  <a:lnSpc>
                    <a:spcPct val="92000"/>
                  </a:lnSpc>
                  <a:spcBef>
                    <a:spcPts val="88"/>
                  </a:spcBef>
                  <a:tabLst>
                    <a:tab pos="160020" algn="l"/>
                  </a:tabLst>
                </a:pPr>
                <a:endParaRPr lang="en-US" sz="10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77470" algn="ctr" eaLnBrk="0">
                  <a:lnSpc>
                    <a:spcPct val="92000"/>
                  </a:lnSpc>
                  <a:spcBef>
                    <a:spcPts val="88"/>
                  </a:spcBef>
                  <a:tabLst>
                    <a:tab pos="16002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zh-CN" altLang="zh-CN" sz="1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10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𝜏</m:t>
                          </m:r>
                        </m:e>
                      </m:acc>
                      <m:r>
                        <a:rPr lang="en-US" altLang="zh-CN" sz="100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zh-CN" altLang="zh-CN" sz="1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10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𝑌</m:t>
                          </m:r>
                        </m:e>
                      </m:acc>
                      <m:r>
                        <a:rPr lang="en-US" altLang="zh-CN" sz="100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(1)−</m:t>
                      </m:r>
                      <m:acc>
                        <m:accPr>
                          <m:chr m:val="̂"/>
                          <m:ctrlPr>
                            <a:rPr lang="zh-CN" altLang="zh-CN" sz="1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10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𝑌</m:t>
                          </m:r>
                        </m:e>
                      </m:acc>
                      <m:r>
                        <a:rPr lang="en-US" altLang="zh-CN" sz="100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(0)</m:t>
                      </m:r>
                    </m:oMath>
                  </m:oMathPara>
                </a14:m>
                <a:endParaRPr lang="en-US" sz="10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77470" eaLnBrk="0">
                  <a:lnSpc>
                    <a:spcPct val="92000"/>
                  </a:lnSpc>
                  <a:spcBef>
                    <a:spcPts val="88"/>
                  </a:spcBef>
                  <a:tabLst>
                    <a:tab pos="160020" algn="l"/>
                  </a:tabLst>
                </a:pPr>
                <a:endParaRPr kumimoji="0" lang="en" altLang="zh-CN" sz="1000" b="0" i="0" u="none" strike="noStrike" kern="0" cap="none" normalizeH="0" baseline="0" noProof="0" dirty="0">
                  <a:ln>
                    <a:noFill/>
                  </a:ln>
                  <a:solidFill>
                    <a:srgbClr val="000000">
                      <a:alpha val="100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77470" eaLnBrk="0">
                  <a:lnSpc>
                    <a:spcPct val="92000"/>
                  </a:lnSpc>
                  <a:spcBef>
                    <a:spcPts val="88"/>
                  </a:spcBef>
                  <a:tabLst>
                    <a:tab pos="160020" algn="l"/>
                  </a:tabLst>
                </a:pPr>
                <a:r>
                  <a:rPr kumimoji="0" lang="en" altLang="zh-CN" sz="1000" b="0" i="0" u="none" strike="noStrike" kern="0" cap="none" normalizeH="0" baseline="0" noProof="0" dirty="0">
                    <a:ln>
                      <a:noFill/>
                    </a:ln>
                    <a:solidFill>
                      <a:srgbClr val="000000">
                        <a:alpha val="100000"/>
                      </a:srgb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Unbiasedness: </a:t>
                </a:r>
                <a14:m>
                  <m:oMath xmlns:m="http://schemas.openxmlformats.org/officeDocument/2006/math">
                    <m:r>
                      <a:rPr lang="en-US" altLang="zh-CN" sz="1000" i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𝔼</m:t>
                    </m:r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𝜏</m:t>
                        </m:r>
                      </m:e>
                    </m:acc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)=</m:t>
                    </m:r>
                    <m:r>
                      <a:rPr lang="en-US" altLang="zh-CN" sz="1000" i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𝜏</m:t>
                    </m:r>
                  </m:oMath>
                </a14:m>
                <a:r>
                  <a:rPr lang="zh-CN" altLang="zh-CN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en-US" sz="10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77470" eaLnBrk="0">
                  <a:lnSpc>
                    <a:spcPct val="92000"/>
                  </a:lnSpc>
                  <a:spcBef>
                    <a:spcPts val="88"/>
                  </a:spcBef>
                  <a:tabLst>
                    <a:tab pos="160020" algn="l"/>
                  </a:tabLst>
                </a:pPr>
                <a:r>
                  <a:rPr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</a:t>
                </a:r>
                <a:endParaRPr sz="1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770" name="textbox 770">
                <a:extLst>
                  <a:ext uri="{FF2B5EF4-FFF2-40B4-BE49-F238E27FC236}">
                    <a16:creationId xmlns:a16="http://schemas.microsoft.com/office/drawing/2014/main" id="{DDEACD11-FFD5-88B8-9AE2-D2CD0FDAB6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354" y="565367"/>
                <a:ext cx="4079240" cy="2422525"/>
              </a:xfrm>
              <a:prstGeom prst="rect">
                <a:avLst/>
              </a:prstGeom>
              <a:blipFill>
                <a:blip r:embed="rId2"/>
                <a:stretch>
                  <a:fillRect t="-2083"/>
                </a:stretch>
              </a:blipFill>
              <a:ln w="0" cap="flat">
                <a:noFill/>
                <a:prstDash val="solid"/>
                <a:miter lim="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74" name="picture 774">
            <a:extLst>
              <a:ext uri="{FF2B5EF4-FFF2-40B4-BE49-F238E27FC236}">
                <a16:creationId xmlns:a16="http://schemas.microsoft.com/office/drawing/2014/main" id="{ED342524-4075-FD92-35CB-1FD4C5AF6B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83660" y="2495296"/>
            <a:ext cx="65265" cy="65265"/>
          </a:xfrm>
          <a:prstGeom prst="rect">
            <a:avLst/>
          </a:prstGeom>
        </p:spPr>
      </p:pic>
      <p:pic>
        <p:nvPicPr>
          <p:cNvPr id="778" name="picture 778">
            <a:extLst>
              <a:ext uri="{FF2B5EF4-FFF2-40B4-BE49-F238E27FC236}">
                <a16:creationId xmlns:a16="http://schemas.microsoft.com/office/drawing/2014/main" id="{72A518E8-6768-9005-4CD7-53FB5606E6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84542" y="1893415"/>
            <a:ext cx="65265" cy="65265"/>
          </a:xfrm>
          <a:prstGeom prst="rect">
            <a:avLst/>
          </a:prstGeom>
        </p:spPr>
      </p:pic>
      <p:pic>
        <p:nvPicPr>
          <p:cNvPr id="784" name="picture 784">
            <a:extLst>
              <a:ext uri="{FF2B5EF4-FFF2-40B4-BE49-F238E27FC236}">
                <a16:creationId xmlns:a16="http://schemas.microsoft.com/office/drawing/2014/main" id="{4E7C773F-06ED-75F0-06A2-3C40707E67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87439" y="595490"/>
            <a:ext cx="65265" cy="65265"/>
          </a:xfrm>
          <a:prstGeom prst="rect">
            <a:avLst/>
          </a:prstGeom>
        </p:spPr>
      </p:pic>
      <p:sp>
        <p:nvSpPr>
          <p:cNvPr id="786" name="rect 786">
            <a:extLst>
              <a:ext uri="{FF2B5EF4-FFF2-40B4-BE49-F238E27FC236}">
                <a16:creationId xmlns:a16="http://schemas.microsoft.com/office/drawing/2014/main" id="{1B09883E-579F-F0C1-D4AB-F46F49A4B397}"/>
              </a:ext>
            </a:extLst>
          </p:cNvPr>
          <p:cNvSpPr/>
          <p:nvPr/>
        </p:nvSpPr>
        <p:spPr>
          <a:xfrm>
            <a:off x="0" y="0"/>
            <a:ext cx="4608004" cy="350113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88" name="textbox 788">
            <a:extLst>
              <a:ext uri="{FF2B5EF4-FFF2-40B4-BE49-F238E27FC236}">
                <a16:creationId xmlns:a16="http://schemas.microsoft.com/office/drawing/2014/main" id="{C85F9870-54E1-D8E1-F0F1-7F90A6F28C71}"/>
              </a:ext>
            </a:extLst>
          </p:cNvPr>
          <p:cNvSpPr/>
          <p:nvPr/>
        </p:nvSpPr>
        <p:spPr>
          <a:xfrm>
            <a:off x="111698" y="103969"/>
            <a:ext cx="2050415" cy="209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73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eaLnBrk="0">
              <a:lnSpc>
                <a:spcPct val="86000"/>
              </a:lnSpc>
            </a:pPr>
            <a:r>
              <a:rPr lang="en" altLang="zh-CN" sz="1400" kern="0" dirty="0">
                <a:solidFill>
                  <a:srgbClr val="CC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Estimators</a:t>
            </a:r>
            <a:endParaRPr sz="1400" dirty="0">
              <a:latin typeface="Arial" panose="020B0604020202020204" pitchFamily="34" charset="0"/>
              <a:ea typeface="Arial"/>
              <a:cs typeface="Arial" panose="020B0604020202020204" pitchFamily="34" charset="0"/>
            </a:endParaRPr>
          </a:p>
        </p:txBody>
      </p:sp>
      <p:pic>
        <p:nvPicPr>
          <p:cNvPr id="2" name="picture 784">
            <a:extLst>
              <a:ext uri="{FF2B5EF4-FFF2-40B4-BE49-F238E27FC236}">
                <a16:creationId xmlns:a16="http://schemas.microsoft.com/office/drawing/2014/main" id="{A8489F17-ECC9-2D17-C5B5-371899DD40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87439" y="1232064"/>
            <a:ext cx="65265" cy="65265"/>
          </a:xfrm>
          <a:prstGeom prst="rect">
            <a:avLst/>
          </a:prstGeom>
        </p:spPr>
      </p:pic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18A2F3BA-89EB-5B76-3DDE-089C96368E8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2919" y="2728714"/>
          <a:ext cx="4773936" cy="4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6" imgW="5486400" imgH="495300" progId="Word.Document.12">
                  <p:embed/>
                </p:oleObj>
              </mc:Choice>
              <mc:Fallback>
                <p:oleObj name="文档" r:id="rId6" imgW="5486400" imgH="495300" progId="Word.Document.12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18A2F3BA-89EB-5B76-3DDE-089C96368E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82919" y="2728714"/>
                        <a:ext cx="4773936" cy="43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144">
            <a:extLst>
              <a:ext uri="{FF2B5EF4-FFF2-40B4-BE49-F238E27FC236}">
                <a16:creationId xmlns:a16="http://schemas.microsoft.com/office/drawing/2014/main" id="{0B7A2FAD-5EAE-8C7D-E804-5D2395B5DDD1}"/>
              </a:ext>
            </a:extLst>
          </p:cNvPr>
          <p:cNvSpPr/>
          <p:nvPr/>
        </p:nvSpPr>
        <p:spPr>
          <a:xfrm>
            <a:off x="4328698" y="3341244"/>
            <a:ext cx="211455" cy="1022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604"/>
              </a:lnSpc>
              <a:tabLst/>
            </a:pPr>
            <a:r>
              <a:rPr sz="500" kern="0" spc="3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4 / 12</a:t>
            </a:r>
            <a:endParaRPr sz="500" dirty="0"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463348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74" name="textbox 174"/>
              <p:cNvSpPr/>
              <p:nvPr/>
            </p:nvSpPr>
            <p:spPr>
              <a:xfrm>
                <a:off x="268389" y="2322195"/>
                <a:ext cx="4180840" cy="655955"/>
              </a:xfrm>
              <a:prstGeom prst="rect">
                <a:avLst/>
              </a:prstGeom>
              <a:noFill/>
              <a:ln w="0" cap="flat">
                <a:noFill/>
                <a:prstDash val="solid"/>
                <a:miter lim="0"/>
              </a:ln>
            </p:spPr>
            <p:txBody>
              <a:bodyPr vert="horz" wrap="square" lIns="0" tIns="0" rIns="0" bIns="0"/>
              <a:lstStyle/>
              <a:p>
                <a:pPr algn="l" rtl="0" eaLnBrk="0">
                  <a:lnSpc>
                    <a:spcPct val="77129"/>
                  </a:lnSpc>
                  <a:tabLst/>
                </a:pPr>
                <a:endParaRPr sz="100" dirty="0">
                  <a:latin typeface="Arial"/>
                  <a:ea typeface="Arial"/>
                  <a:cs typeface="Arial"/>
                </a:endParaRPr>
              </a:p>
              <a:p>
                <a:pPr marL="157480" indent="-80010" algn="l" rtl="0" eaLnBrk="0">
                  <a:lnSpc>
                    <a:spcPct val="96000"/>
                  </a:lnSpc>
                  <a:tabLst>
                    <a:tab pos="151765" algn="l"/>
                  </a:tabLst>
                </a:pPr>
                <a:r>
                  <a:rPr sz="1000" kern="0" dirty="0"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	The expecta</a:t>
                </a:r>
                <a:r>
                  <a:rPr lang="en-US" sz="1000" kern="0" dirty="0"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ti</a:t>
                </a:r>
                <a:r>
                  <a:rPr sz="1000" kern="0" dirty="0"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on and variance are computed with respect to the </a:t>
                </a:r>
                <a:r>
                  <a:rPr lang="en-US" sz="1000" kern="0" dirty="0"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fi</a:t>
                </a:r>
                <a:r>
                  <a:rPr sz="1000" kern="0" dirty="0"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nite popula</a:t>
                </a:r>
                <a:r>
                  <a:rPr lang="en-US" sz="1000" kern="0" dirty="0"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ti</a:t>
                </a:r>
                <a:r>
                  <a:rPr sz="1000" kern="0" dirty="0"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on framework</a:t>
                </a:r>
                <a:endParaRPr sz="1000" dirty="0">
                  <a:latin typeface="Arial"/>
                  <a:ea typeface="Arial"/>
                  <a:cs typeface="Arial"/>
                </a:endParaRPr>
              </a:p>
              <a:p>
                <a:pPr marL="354965" algn="l" rtl="0" eaLnBrk="0">
                  <a:lnSpc>
                    <a:spcPct val="93000"/>
                  </a:lnSpc>
                  <a:spcBef>
                    <a:spcPts val="367"/>
                  </a:spcBef>
                  <a:tabLst>
                    <a:tab pos="434340" algn="l"/>
                  </a:tabLst>
                </a:pPr>
                <a:r>
                  <a:rPr sz="900" kern="0" dirty="0"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	potential outcomes are ﬁxed</a:t>
                </a:r>
                <a:endParaRPr sz="900" dirty="0">
                  <a:latin typeface="Arial"/>
                  <a:ea typeface="Arial"/>
                  <a:cs typeface="Arial"/>
                </a:endParaRPr>
              </a:p>
              <a:p>
                <a:pPr marL="354965" eaLnBrk="0">
                  <a:lnSpc>
                    <a:spcPts val="1106"/>
                  </a:lnSpc>
                  <a:spcBef>
                    <a:spcPts val="190"/>
                  </a:spcBef>
                  <a:tabLst>
                    <a:tab pos="434340" algn="l"/>
                  </a:tabLst>
                </a:pPr>
                <a:r>
                  <a:rPr sz="900" kern="0" dirty="0"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	repeated sampling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9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CN" sz="9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600" kern="0" dirty="0"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 </a:t>
                </a:r>
                <a:r>
                  <a:rPr sz="900" kern="0" dirty="0"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under the CRE</a:t>
                </a:r>
                <a:endParaRPr sz="900" dirty="0">
                  <a:latin typeface="Arial"/>
                  <a:ea typeface="Arial"/>
                  <a:cs typeface="Arial"/>
                </a:endParaRPr>
              </a:p>
            </p:txBody>
          </p:sp>
        </mc:Choice>
        <mc:Fallback>
          <p:sp>
            <p:nvSpPr>
              <p:cNvPr id="174" name="textbox 17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389" y="2322195"/>
                <a:ext cx="4180840" cy="655955"/>
              </a:xfrm>
              <a:prstGeom prst="rect">
                <a:avLst/>
              </a:prstGeom>
              <a:blipFill>
                <a:blip r:embed="rId2"/>
                <a:stretch>
                  <a:fillRect t="-5660" b="-7547"/>
                </a:stretch>
              </a:blipFill>
              <a:ln w="0" cap="flat">
                <a:noFill/>
                <a:prstDash val="solid"/>
                <a:miter lim="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6" name="picture 17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70865" y="2865734"/>
            <a:ext cx="52585" cy="52585"/>
          </a:xfrm>
          <a:prstGeom prst="rect">
            <a:avLst/>
          </a:prstGeom>
        </p:spPr>
      </p:pic>
      <p:pic>
        <p:nvPicPr>
          <p:cNvPr id="178" name="picture 17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70865" y="2713906"/>
            <a:ext cx="52585" cy="52585"/>
          </a:xfrm>
          <a:prstGeom prst="rect">
            <a:avLst/>
          </a:prstGeom>
        </p:spPr>
      </p:pic>
      <p:pic>
        <p:nvPicPr>
          <p:cNvPr id="180" name="picture 18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81089" y="2372259"/>
            <a:ext cx="65265" cy="65265"/>
          </a:xfrm>
          <a:prstGeom prst="rect">
            <a:avLst/>
          </a:prstGeom>
        </p:spPr>
      </p:pic>
      <p:sp>
        <p:nvSpPr>
          <p:cNvPr id="182" name="textbox 182"/>
          <p:cNvSpPr/>
          <p:nvPr/>
        </p:nvSpPr>
        <p:spPr>
          <a:xfrm>
            <a:off x="0" y="0"/>
            <a:ext cx="4608195" cy="350520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24460" algn="l" rtl="0" eaLnBrk="0">
              <a:lnSpc>
                <a:spcPct val="93000"/>
              </a:lnSpc>
              <a:tabLst/>
            </a:pPr>
            <a:r>
              <a:rPr sz="1400" kern="0" dirty="0">
                <a:solidFill>
                  <a:srgbClr val="CC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Repeated sampling inference</a:t>
            </a:r>
            <a:endParaRPr sz="1400" dirty="0">
              <a:latin typeface="Arial"/>
              <a:ea typeface="Arial"/>
              <a:cs typeface="Arial"/>
            </a:endParaRPr>
          </a:p>
        </p:txBody>
      </p:sp>
      <p:sp>
        <p:nvSpPr>
          <p:cNvPr id="184" name="textbox 184"/>
          <p:cNvSpPr/>
          <p:nvPr/>
        </p:nvSpPr>
        <p:spPr>
          <a:xfrm>
            <a:off x="4329457" y="3341242"/>
            <a:ext cx="210820" cy="1022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604"/>
              </a:lnSpc>
              <a:tabLst/>
            </a:pPr>
            <a:r>
              <a:rPr sz="500" kern="0" spc="3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5 / 12</a:t>
            </a:r>
            <a:endParaRPr sz="500" dirty="0">
              <a:latin typeface="Arial"/>
              <a:ea typeface="Arial"/>
              <a:cs typeface="Arial"/>
            </a:endParaRPr>
          </a:p>
        </p:txBody>
      </p:sp>
      <p:pic>
        <p:nvPicPr>
          <p:cNvPr id="3" name="图片 2" descr="图表, 雷达图&#10;&#10;AI 生成的内容可能不正确。">
            <a:extLst>
              <a:ext uri="{FF2B5EF4-FFF2-40B4-BE49-F238E27FC236}">
                <a16:creationId xmlns:a16="http://schemas.microsoft.com/office/drawing/2014/main" id="{4346185C-B747-EFAF-B4CB-EDD95A5A125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4" y="499032"/>
            <a:ext cx="3984745" cy="167268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20F66-AC9F-356A-9B33-B8290E884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906" name="textbox 906">
                <a:extLst>
                  <a:ext uri="{FF2B5EF4-FFF2-40B4-BE49-F238E27FC236}">
                    <a16:creationId xmlns:a16="http://schemas.microsoft.com/office/drawing/2014/main" id="{88B4E386-7473-9942-D2FA-A7750A4ED2CF}"/>
                  </a:ext>
                </a:extLst>
              </p:cNvPr>
              <p:cNvSpPr/>
              <p:nvPr/>
            </p:nvSpPr>
            <p:spPr>
              <a:xfrm>
                <a:off x="268389" y="473863"/>
                <a:ext cx="3352165" cy="2700020"/>
              </a:xfrm>
              <a:prstGeom prst="rect">
                <a:avLst/>
              </a:prstGeom>
              <a:noFill/>
              <a:ln w="0" cap="flat">
                <a:noFill/>
                <a:prstDash val="solid"/>
                <a:miter lim="0"/>
              </a:ln>
            </p:spPr>
            <p:txBody>
              <a:bodyPr vert="horz" wrap="square" lIns="0" tIns="0" rIns="0" bIns="0"/>
              <a:lstStyle/>
              <a:p>
                <a:pPr algn="l" rtl="0" eaLnBrk="0">
                  <a:lnSpc>
                    <a:spcPct val="112000"/>
                  </a:lnSpc>
                  <a:tabLst/>
                </a:pPr>
                <a:endParaRPr sz="3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77470" eaLnBrk="0">
                  <a:lnSpc>
                    <a:spcPct val="88000"/>
                  </a:lnSpc>
                  <a:spcBef>
                    <a:spcPts val="1"/>
                  </a:spcBef>
                  <a:tabLst>
                    <a:tab pos="148590" algn="l"/>
                  </a:tabLst>
                </a:pPr>
                <a:r>
                  <a:rPr lang="en" sz="1000" dirty="0"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var</m:t>
                    </m:r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𝜏</m:t>
                        </m:r>
                      </m:e>
                    </m:acc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)=</m:t>
                    </m:r>
                    <m:r>
                      <m:rPr>
                        <m:sty m:val="p"/>
                      </m:rP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var</m:t>
                    </m:r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{</m:t>
                    </m:r>
                    <m:acc>
                      <m:accPr>
                        <m:chr m:val="̂"/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</m:acc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(1)}+</m:t>
                    </m:r>
                    <m:r>
                      <m:rPr>
                        <m:sty m:val="p"/>
                      </m:rP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var</m:t>
                    </m:r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{</m:t>
                    </m:r>
                    <m:acc>
                      <m:accPr>
                        <m:chr m:val="̂"/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</m:acc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(0)}−2</m:t>
                    </m:r>
                    <m:r>
                      <m:rPr>
                        <m:sty m:val="p"/>
                      </m:rP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cov</m:t>
                    </m:r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{</m:t>
                    </m:r>
                    <m:acc>
                      <m:accPr>
                        <m:chr m:val="̂"/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</m:acc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(1),</m:t>
                    </m:r>
                    <m:acc>
                      <m:accPr>
                        <m:chr m:val="̂"/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</m:acc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(0)</m:t>
                    </m:r>
                    <m:r>
                      <a:rPr lang="en-US" altLang="zh-CN" sz="1000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}</m:t>
                    </m:r>
                  </m:oMath>
                </a14:m>
                <a:endParaRPr sz="1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algn="ctr" eaLnBrk="0">
                  <a:lnSpc>
                    <a:spcPct val="139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var</m:t>
                    </m:r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𝜏</m:t>
                        </m:r>
                      </m:e>
                    </m:acc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)=</m:t>
                    </m:r>
                    <m:f>
                      <m:f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zh-CN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p>
                            <m:r>
                              <a:rPr lang="en-US" altLang="zh-CN" sz="10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(1)</m:t>
                        </m:r>
                      </m:num>
                      <m:den>
                        <m:sSub>
                          <m:sSubPr>
                            <m:ctrlPr>
                              <a:rPr lang="zh-CN" altLang="zh-CN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10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f>
                      <m:f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zh-CN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p>
                            <m:r>
                              <a:rPr lang="en-US" altLang="zh-CN" sz="10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(0)</m:t>
                        </m:r>
                      </m:num>
                      <m:den>
                        <m:sSub>
                          <m:sSubPr>
                            <m:ctrlPr>
                              <a:rPr lang="zh-CN" altLang="zh-CN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10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zh-CN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p>
                            <m:r>
                              <a:rPr lang="en-US" altLang="zh-CN" sz="10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𝜏</m:t>
                        </m:r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zh-CN" altLang="zh-CN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sz="1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153035" eaLnBrk="0">
                  <a:lnSpc>
                    <a:spcPct val="92000"/>
                  </a:lnSpc>
                  <a:spcBef>
                    <a:spcPts val="308"/>
                  </a:spcBef>
                </a:pPr>
                <a:endParaRPr lang="en-US" altLang="zh-CN" sz="10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153035" eaLnBrk="0">
                  <a:lnSpc>
                    <a:spcPct val="92000"/>
                  </a:lnSpc>
                  <a:spcBef>
                    <a:spcPts val="308"/>
                  </a:spcBef>
                </a:pPr>
                <a:endParaRPr lang="en-US" altLang="zh-CN" sz="10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153035" eaLnBrk="0">
                  <a:lnSpc>
                    <a:spcPct val="92000"/>
                  </a:lnSpc>
                  <a:spcBef>
                    <a:spcPts val="308"/>
                  </a:spcBef>
                </a:pPr>
                <a:endParaRPr lang="en-US" altLang="zh-CN" sz="10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153035" eaLnBrk="0">
                  <a:lnSpc>
                    <a:spcPct val="92000"/>
                  </a:lnSpc>
                  <a:spcBef>
                    <a:spcPts val="308"/>
                  </a:spcBef>
                </a:pPr>
                <a:endParaRPr lang="en-US" altLang="zh-CN" sz="10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153035" eaLnBrk="0">
                  <a:lnSpc>
                    <a:spcPct val="92000"/>
                  </a:lnSpc>
                  <a:spcBef>
                    <a:spcPts val="308"/>
                  </a:spcBef>
                </a:pPr>
                <a:endParaRPr lang="en-US" altLang="zh-CN" sz="10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153035" eaLnBrk="0">
                  <a:lnSpc>
                    <a:spcPct val="92000"/>
                  </a:lnSpc>
                  <a:spcBef>
                    <a:spcPts val="308"/>
                  </a:spcBef>
                </a:pPr>
                <a:endParaRPr lang="en" altLang="zh-CN" sz="10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153035" eaLnBrk="0">
                  <a:lnSpc>
                    <a:spcPct val="92000"/>
                  </a:lnSpc>
                  <a:spcBef>
                    <a:spcPts val="308"/>
                  </a:spcBef>
                </a:pPr>
                <a:endParaRPr lang="en" altLang="zh-CN" sz="10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153035" eaLnBrk="0">
                  <a:lnSpc>
                    <a:spcPct val="92000"/>
                  </a:lnSpc>
                  <a:spcBef>
                    <a:spcPts val="308"/>
                  </a:spcBef>
                </a:pPr>
                <a:r>
                  <a:rPr lang="zh-CN" altLang="en-US"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</a:t>
                </a:r>
                <a:endParaRPr lang="zh-CN" altLang="en-US" sz="1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906" name="textbox 906">
                <a:extLst>
                  <a:ext uri="{FF2B5EF4-FFF2-40B4-BE49-F238E27FC236}">
                    <a16:creationId xmlns:a16="http://schemas.microsoft.com/office/drawing/2014/main" id="{88B4E386-7473-9942-D2FA-A7750A4ED2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389" y="473863"/>
                <a:ext cx="3352165" cy="2700020"/>
              </a:xfrm>
              <a:prstGeom prst="rect">
                <a:avLst/>
              </a:prstGeom>
              <a:blipFill>
                <a:blip r:embed="rId2"/>
                <a:stretch>
                  <a:fillRect t="-467"/>
                </a:stretch>
              </a:blipFill>
              <a:ln w="0" cap="flat">
                <a:noFill/>
                <a:prstDash val="solid"/>
                <a:miter lim="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22" name="picture 922">
            <a:extLst>
              <a:ext uri="{FF2B5EF4-FFF2-40B4-BE49-F238E27FC236}">
                <a16:creationId xmlns:a16="http://schemas.microsoft.com/office/drawing/2014/main" id="{237F4EE0-0A58-6823-257A-A6CC573F7C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87439" y="562278"/>
            <a:ext cx="65265" cy="65265"/>
          </a:xfrm>
          <a:prstGeom prst="rect">
            <a:avLst/>
          </a:prstGeom>
        </p:spPr>
      </p:pic>
      <p:sp>
        <p:nvSpPr>
          <p:cNvPr id="932" name="rect 932">
            <a:extLst>
              <a:ext uri="{FF2B5EF4-FFF2-40B4-BE49-F238E27FC236}">
                <a16:creationId xmlns:a16="http://schemas.microsoft.com/office/drawing/2014/main" id="{FDC8B36E-8B63-7800-6EF7-FA975CC32F61}"/>
              </a:ext>
            </a:extLst>
          </p:cNvPr>
          <p:cNvSpPr/>
          <p:nvPr/>
        </p:nvSpPr>
        <p:spPr>
          <a:xfrm>
            <a:off x="0" y="0"/>
            <a:ext cx="4608004" cy="350113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34" name="textbox 934">
            <a:extLst>
              <a:ext uri="{FF2B5EF4-FFF2-40B4-BE49-F238E27FC236}">
                <a16:creationId xmlns:a16="http://schemas.microsoft.com/office/drawing/2014/main" id="{EC651E49-8AD7-3046-A5A7-33F68ADD30E2}"/>
              </a:ext>
            </a:extLst>
          </p:cNvPr>
          <p:cNvSpPr/>
          <p:nvPr/>
        </p:nvSpPr>
        <p:spPr>
          <a:xfrm>
            <a:off x="1287074" y="2843523"/>
            <a:ext cx="2061210" cy="5257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90805" algn="l" rtl="0" eaLnBrk="0">
              <a:lnSpc>
                <a:spcPts val="1962"/>
              </a:lnSpc>
              <a:tabLst>
                <a:tab pos="128270" algn="l"/>
              </a:tabLst>
            </a:pPr>
            <a:r>
              <a:rPr sz="10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endParaRPr sz="1600" baseline="-11305" dirty="0">
              <a:latin typeface="Arial"/>
              <a:ea typeface="Arial"/>
              <a:cs typeface="Arial"/>
            </a:endParaRPr>
          </a:p>
        </p:txBody>
      </p:sp>
      <p:sp>
        <p:nvSpPr>
          <p:cNvPr id="952" name="textbox 952">
            <a:extLst>
              <a:ext uri="{FF2B5EF4-FFF2-40B4-BE49-F238E27FC236}">
                <a16:creationId xmlns:a16="http://schemas.microsoft.com/office/drawing/2014/main" id="{633B87B4-A218-859A-FA50-EF4D589400D9}"/>
              </a:ext>
            </a:extLst>
          </p:cNvPr>
          <p:cNvSpPr/>
          <p:nvPr/>
        </p:nvSpPr>
        <p:spPr>
          <a:xfrm>
            <a:off x="97850" y="115630"/>
            <a:ext cx="746700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88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3000"/>
              </a:lnSpc>
              <a:tabLst/>
            </a:pPr>
            <a:r>
              <a:rPr sz="1400" kern="0" dirty="0">
                <a:solidFill>
                  <a:srgbClr val="CC0000">
                    <a:alpha val="100000"/>
                  </a:srgb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Variance</a:t>
            </a:r>
            <a:endParaRPr sz="1400" dirty="0">
              <a:latin typeface="Arial" panose="020B0604020202020204" pitchFamily="34" charset="0"/>
              <a:ea typeface="Arial"/>
              <a:cs typeface="Arial" panose="020B0604020202020204" pitchFamily="34" charset="0"/>
            </a:endParaRPr>
          </a:p>
        </p:txBody>
      </p:sp>
      <p:sp>
        <p:nvSpPr>
          <p:cNvPr id="5" name="textbox 288">
            <a:extLst>
              <a:ext uri="{FF2B5EF4-FFF2-40B4-BE49-F238E27FC236}">
                <a16:creationId xmlns:a16="http://schemas.microsoft.com/office/drawing/2014/main" id="{AEB7ABD0-47DD-7A8E-EA24-4F1EE6CC9800}"/>
              </a:ext>
            </a:extLst>
          </p:cNvPr>
          <p:cNvSpPr/>
          <p:nvPr/>
        </p:nvSpPr>
        <p:spPr>
          <a:xfrm>
            <a:off x="4329761" y="3341244"/>
            <a:ext cx="210184" cy="1022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604"/>
              </a:lnSpc>
              <a:tabLst/>
            </a:pPr>
            <a:r>
              <a:rPr lang="en-US" sz="500" kern="0" spc="3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5</a:t>
            </a:r>
            <a:r>
              <a:rPr sz="500" kern="0" spc="2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500" kern="0" spc="3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 12</a:t>
            </a:r>
            <a:endParaRPr sz="500" dirty="0"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707156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183E5-6622-27A6-0032-2DF666047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906" name="textbox 906">
                <a:extLst>
                  <a:ext uri="{FF2B5EF4-FFF2-40B4-BE49-F238E27FC236}">
                    <a16:creationId xmlns:a16="http://schemas.microsoft.com/office/drawing/2014/main" id="{C3D81AE7-97D8-897E-42F8-2E3122722078}"/>
                  </a:ext>
                </a:extLst>
              </p:cNvPr>
              <p:cNvSpPr/>
              <p:nvPr/>
            </p:nvSpPr>
            <p:spPr>
              <a:xfrm>
                <a:off x="268389" y="473863"/>
                <a:ext cx="3352165" cy="2700020"/>
              </a:xfrm>
              <a:prstGeom prst="rect">
                <a:avLst/>
              </a:prstGeom>
              <a:noFill/>
              <a:ln w="0" cap="flat">
                <a:noFill/>
                <a:prstDash val="solid"/>
                <a:miter lim="0"/>
              </a:ln>
            </p:spPr>
            <p:txBody>
              <a:bodyPr vert="horz" wrap="square" lIns="0" tIns="0" rIns="0" bIns="0"/>
              <a:lstStyle/>
              <a:p>
                <a:pPr algn="l" rtl="0" eaLnBrk="0">
                  <a:lnSpc>
                    <a:spcPct val="112000"/>
                  </a:lnSpc>
                  <a:tabLst/>
                </a:pPr>
                <a:endParaRPr sz="3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77470" eaLnBrk="0">
                  <a:lnSpc>
                    <a:spcPct val="88000"/>
                  </a:lnSpc>
                  <a:spcBef>
                    <a:spcPts val="1"/>
                  </a:spcBef>
                  <a:tabLst>
                    <a:tab pos="148590" algn="l"/>
                  </a:tabLst>
                </a:pPr>
                <a:r>
                  <a:rPr lang="en" sz="1000" dirty="0"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var</m:t>
                    </m:r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𝜏</m:t>
                        </m:r>
                      </m:e>
                    </m:acc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)=</m:t>
                    </m:r>
                    <m:r>
                      <m:rPr>
                        <m:sty m:val="p"/>
                      </m:rP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var</m:t>
                    </m:r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{</m:t>
                    </m:r>
                    <m:acc>
                      <m:accPr>
                        <m:chr m:val="̂"/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</m:acc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(1)}+</m:t>
                    </m:r>
                    <m:r>
                      <m:rPr>
                        <m:sty m:val="p"/>
                      </m:rP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var</m:t>
                    </m:r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{</m:t>
                    </m:r>
                    <m:acc>
                      <m:accPr>
                        <m:chr m:val="̂"/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</m:acc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(0)}−2</m:t>
                    </m:r>
                    <m:r>
                      <m:rPr>
                        <m:sty m:val="p"/>
                      </m:rP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cov</m:t>
                    </m:r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{</m:t>
                    </m:r>
                    <m:acc>
                      <m:accPr>
                        <m:chr m:val="̂"/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</m:acc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(1),</m:t>
                    </m:r>
                    <m:acc>
                      <m:accPr>
                        <m:chr m:val="̂"/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</m:acc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(0)</m:t>
                    </m:r>
                    <m:r>
                      <a:rPr lang="en-US" altLang="zh-CN" sz="1000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}</m:t>
                    </m:r>
                  </m:oMath>
                </a14:m>
                <a:endParaRPr sz="1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algn="ctr" eaLnBrk="0">
                  <a:lnSpc>
                    <a:spcPct val="139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var</m:t>
                    </m:r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𝜏</m:t>
                        </m:r>
                      </m:e>
                    </m:acc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)=</m:t>
                    </m:r>
                    <m:f>
                      <m:f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zh-CN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p>
                            <m:r>
                              <a:rPr lang="en-US" altLang="zh-CN" sz="10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(1)</m:t>
                        </m:r>
                      </m:num>
                      <m:den>
                        <m:sSub>
                          <m:sSubPr>
                            <m:ctrlPr>
                              <a:rPr lang="zh-CN" altLang="zh-CN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10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f>
                      <m:f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zh-CN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p>
                            <m:r>
                              <a:rPr lang="en-US" altLang="zh-CN" sz="10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(0)</m:t>
                        </m:r>
                      </m:num>
                      <m:den>
                        <m:sSub>
                          <m:sSubPr>
                            <m:ctrlPr>
                              <a:rPr lang="zh-CN" altLang="zh-CN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10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zh-CN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p>
                            <m:r>
                              <a:rPr lang="en-US" altLang="zh-CN" sz="10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𝜏</m:t>
                        </m:r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zh-CN" altLang="zh-CN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sz="1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153035" eaLnBrk="0">
                  <a:lnSpc>
                    <a:spcPct val="92000"/>
                  </a:lnSpc>
                  <a:spcBef>
                    <a:spcPts val="308"/>
                  </a:spcBef>
                </a:pPr>
                <a:r>
                  <a:rPr lang="en-US" altLang="zh-CN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Variance estimator</a:t>
                </a:r>
              </a:p>
              <a:p>
                <a:pPr marL="153035" eaLnBrk="0">
                  <a:lnSpc>
                    <a:spcPct val="92000"/>
                  </a:lnSpc>
                  <a:spcBef>
                    <a:spcPts val="308"/>
                  </a:spcBef>
                </a:pPr>
                <a:endParaRPr lang="en-US" altLang="zh-CN" sz="10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153035" eaLnBrk="0">
                  <a:lnSpc>
                    <a:spcPct val="92000"/>
                  </a:lnSpc>
                  <a:spcBef>
                    <a:spcPts val="308"/>
                  </a:spcBef>
                </a:pPr>
                <a:endParaRPr lang="en-US" altLang="zh-CN" sz="10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153035" eaLnBrk="0">
                  <a:lnSpc>
                    <a:spcPct val="92000"/>
                  </a:lnSpc>
                  <a:spcBef>
                    <a:spcPts val="308"/>
                  </a:spcBef>
                </a:pPr>
                <a:endParaRPr lang="en-US" altLang="zh-CN" sz="10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153035" eaLnBrk="0">
                  <a:lnSpc>
                    <a:spcPct val="92000"/>
                  </a:lnSpc>
                  <a:spcBef>
                    <a:spcPts val="308"/>
                  </a:spcBef>
                </a:pPr>
                <a:endParaRPr lang="en-US" altLang="zh-CN" sz="10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153035" eaLnBrk="0">
                  <a:lnSpc>
                    <a:spcPct val="92000"/>
                  </a:lnSpc>
                  <a:spcBef>
                    <a:spcPts val="308"/>
                  </a:spcBef>
                </a:pPr>
                <a:endParaRPr lang="en-US" altLang="zh-CN" sz="10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153035" eaLnBrk="0">
                  <a:lnSpc>
                    <a:spcPct val="92000"/>
                  </a:lnSpc>
                  <a:spcBef>
                    <a:spcPts val="308"/>
                  </a:spcBef>
                </a:pPr>
                <a:endParaRPr lang="en" altLang="zh-CN" sz="10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153035" eaLnBrk="0">
                  <a:lnSpc>
                    <a:spcPct val="92000"/>
                  </a:lnSpc>
                  <a:spcBef>
                    <a:spcPts val="308"/>
                  </a:spcBef>
                </a:pPr>
                <a:endParaRPr lang="en" altLang="zh-CN" sz="10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153035" eaLnBrk="0">
                  <a:lnSpc>
                    <a:spcPct val="92000"/>
                  </a:lnSpc>
                  <a:spcBef>
                    <a:spcPts val="308"/>
                  </a:spcBef>
                </a:pPr>
                <a:r>
                  <a:rPr lang="zh-CN" altLang="en-US"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</a:t>
                </a:r>
                <a:endParaRPr lang="zh-CN" altLang="en-US" sz="1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906" name="textbox 906">
                <a:extLst>
                  <a:ext uri="{FF2B5EF4-FFF2-40B4-BE49-F238E27FC236}">
                    <a16:creationId xmlns:a16="http://schemas.microsoft.com/office/drawing/2014/main" id="{C3D81AE7-97D8-897E-42F8-2E31227220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389" y="473863"/>
                <a:ext cx="3352165" cy="2700020"/>
              </a:xfrm>
              <a:prstGeom prst="rect">
                <a:avLst/>
              </a:prstGeom>
              <a:blipFill>
                <a:blip r:embed="rId2"/>
                <a:stretch>
                  <a:fillRect t="-467"/>
                </a:stretch>
              </a:blipFill>
              <a:ln w="0" cap="flat">
                <a:noFill/>
                <a:prstDash val="solid"/>
                <a:miter lim="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22" name="picture 922">
            <a:extLst>
              <a:ext uri="{FF2B5EF4-FFF2-40B4-BE49-F238E27FC236}">
                <a16:creationId xmlns:a16="http://schemas.microsoft.com/office/drawing/2014/main" id="{156265BE-04E3-4DBE-F1CE-EB4B2BC8AA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87439" y="562278"/>
            <a:ext cx="65265" cy="65265"/>
          </a:xfrm>
          <a:prstGeom prst="rect">
            <a:avLst/>
          </a:prstGeom>
        </p:spPr>
      </p:pic>
      <p:sp>
        <p:nvSpPr>
          <p:cNvPr id="932" name="rect 932">
            <a:extLst>
              <a:ext uri="{FF2B5EF4-FFF2-40B4-BE49-F238E27FC236}">
                <a16:creationId xmlns:a16="http://schemas.microsoft.com/office/drawing/2014/main" id="{BA46C0A1-23EE-119A-49CB-B6701033BA6E}"/>
              </a:ext>
            </a:extLst>
          </p:cNvPr>
          <p:cNvSpPr/>
          <p:nvPr/>
        </p:nvSpPr>
        <p:spPr>
          <a:xfrm>
            <a:off x="0" y="0"/>
            <a:ext cx="4608004" cy="350113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34" name="textbox 934">
            <a:extLst>
              <a:ext uri="{FF2B5EF4-FFF2-40B4-BE49-F238E27FC236}">
                <a16:creationId xmlns:a16="http://schemas.microsoft.com/office/drawing/2014/main" id="{B2CFDF0D-79D8-3C48-0EAB-C6CF61D493AC}"/>
              </a:ext>
            </a:extLst>
          </p:cNvPr>
          <p:cNvSpPr/>
          <p:nvPr/>
        </p:nvSpPr>
        <p:spPr>
          <a:xfrm>
            <a:off x="1287074" y="2843523"/>
            <a:ext cx="2061210" cy="5257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90805" algn="l" rtl="0" eaLnBrk="0">
              <a:lnSpc>
                <a:spcPts val="1962"/>
              </a:lnSpc>
              <a:tabLst>
                <a:tab pos="128270" algn="l"/>
              </a:tabLst>
            </a:pPr>
            <a:r>
              <a:rPr sz="10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endParaRPr sz="1600" baseline="-11305" dirty="0">
              <a:latin typeface="Arial"/>
              <a:ea typeface="Arial"/>
              <a:cs typeface="Arial"/>
            </a:endParaRPr>
          </a:p>
        </p:txBody>
      </p:sp>
      <p:sp>
        <p:nvSpPr>
          <p:cNvPr id="952" name="textbox 952">
            <a:extLst>
              <a:ext uri="{FF2B5EF4-FFF2-40B4-BE49-F238E27FC236}">
                <a16:creationId xmlns:a16="http://schemas.microsoft.com/office/drawing/2014/main" id="{DE31A6C0-98C6-CF6A-1EBB-FC97342B0E63}"/>
              </a:ext>
            </a:extLst>
          </p:cNvPr>
          <p:cNvSpPr/>
          <p:nvPr/>
        </p:nvSpPr>
        <p:spPr>
          <a:xfrm>
            <a:off x="97850" y="115630"/>
            <a:ext cx="746700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88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3000"/>
              </a:lnSpc>
              <a:tabLst/>
            </a:pPr>
            <a:r>
              <a:rPr sz="1400" kern="0" dirty="0">
                <a:solidFill>
                  <a:srgbClr val="CC0000">
                    <a:alpha val="100000"/>
                  </a:srgb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Variance</a:t>
            </a:r>
            <a:endParaRPr sz="1400" dirty="0">
              <a:latin typeface="Arial" panose="020B0604020202020204" pitchFamily="34" charset="0"/>
              <a:ea typeface="Arial"/>
              <a:cs typeface="Arial" panose="020B0604020202020204" pitchFamily="34" charset="0"/>
            </a:endParaRP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C6181A6C-B980-7680-B36C-6BDF228B17E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-759413" y="1349155"/>
          <a:ext cx="5616033" cy="7532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4" imgW="5486400" imgH="736600" progId="Word.Document.12">
                  <p:embed/>
                </p:oleObj>
              </mc:Choice>
              <mc:Fallback>
                <p:oleObj name="文档" r:id="rId4" imgW="5486400" imgH="736600" progId="Word.Document.12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01FD5746-1228-049C-9B49-7814FC52EBE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-759413" y="1349155"/>
                        <a:ext cx="5616033" cy="7532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922">
            <a:extLst>
              <a:ext uri="{FF2B5EF4-FFF2-40B4-BE49-F238E27FC236}">
                <a16:creationId xmlns:a16="http://schemas.microsoft.com/office/drawing/2014/main" id="{1A3F3514-DAFF-DCA8-2455-5A723E5509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90893" y="1089664"/>
            <a:ext cx="65265" cy="65265"/>
          </a:xfrm>
          <a:prstGeom prst="rect">
            <a:avLst/>
          </a:prstGeom>
        </p:spPr>
      </p:pic>
      <p:sp>
        <p:nvSpPr>
          <p:cNvPr id="5" name="textbox 288">
            <a:extLst>
              <a:ext uri="{FF2B5EF4-FFF2-40B4-BE49-F238E27FC236}">
                <a16:creationId xmlns:a16="http://schemas.microsoft.com/office/drawing/2014/main" id="{4C7C15C8-C6D3-6513-3623-ABFE0E751D68}"/>
              </a:ext>
            </a:extLst>
          </p:cNvPr>
          <p:cNvSpPr/>
          <p:nvPr/>
        </p:nvSpPr>
        <p:spPr>
          <a:xfrm>
            <a:off x="4329761" y="3341244"/>
            <a:ext cx="210184" cy="1022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604"/>
              </a:lnSpc>
              <a:tabLst/>
            </a:pPr>
            <a:r>
              <a:rPr lang="en-US" sz="500" kern="0" spc="3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5</a:t>
            </a:r>
            <a:r>
              <a:rPr sz="500" kern="0" spc="2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500" kern="0" spc="3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 12</a:t>
            </a:r>
            <a:endParaRPr sz="500" dirty="0"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29029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906" name="textbox 906"/>
              <p:cNvSpPr/>
              <p:nvPr/>
            </p:nvSpPr>
            <p:spPr>
              <a:xfrm>
                <a:off x="268389" y="473863"/>
                <a:ext cx="3352165" cy="2700020"/>
              </a:xfrm>
              <a:prstGeom prst="rect">
                <a:avLst/>
              </a:prstGeom>
              <a:noFill/>
              <a:ln w="0" cap="flat">
                <a:noFill/>
                <a:prstDash val="solid"/>
                <a:miter lim="0"/>
              </a:ln>
            </p:spPr>
            <p:txBody>
              <a:bodyPr vert="horz" wrap="square" lIns="0" tIns="0" rIns="0" bIns="0"/>
              <a:lstStyle/>
              <a:p>
                <a:pPr algn="l" rtl="0" eaLnBrk="0">
                  <a:lnSpc>
                    <a:spcPct val="112000"/>
                  </a:lnSpc>
                  <a:tabLst/>
                </a:pPr>
                <a:endParaRPr sz="3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77470" eaLnBrk="0">
                  <a:lnSpc>
                    <a:spcPct val="88000"/>
                  </a:lnSpc>
                  <a:spcBef>
                    <a:spcPts val="1"/>
                  </a:spcBef>
                  <a:tabLst>
                    <a:tab pos="148590" algn="l"/>
                  </a:tabLst>
                </a:pPr>
                <a:r>
                  <a:rPr lang="en" sz="1000" dirty="0"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var</m:t>
                    </m:r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𝜏</m:t>
                        </m:r>
                      </m:e>
                    </m:acc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)=</m:t>
                    </m:r>
                    <m:r>
                      <m:rPr>
                        <m:sty m:val="p"/>
                      </m:rP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var</m:t>
                    </m:r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{</m:t>
                    </m:r>
                    <m:acc>
                      <m:accPr>
                        <m:chr m:val="̂"/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</m:acc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(1)}+</m:t>
                    </m:r>
                    <m:r>
                      <m:rPr>
                        <m:sty m:val="p"/>
                      </m:rP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var</m:t>
                    </m:r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{</m:t>
                    </m:r>
                    <m:acc>
                      <m:accPr>
                        <m:chr m:val="̂"/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</m:acc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(0)}−2</m:t>
                    </m:r>
                    <m:r>
                      <m:rPr>
                        <m:sty m:val="p"/>
                      </m:rP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cov</m:t>
                    </m:r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{</m:t>
                    </m:r>
                    <m:acc>
                      <m:accPr>
                        <m:chr m:val="̂"/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</m:acc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(1),</m:t>
                    </m:r>
                    <m:acc>
                      <m:accPr>
                        <m:chr m:val="̂"/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</m:acc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(0)</m:t>
                    </m:r>
                    <m:r>
                      <a:rPr lang="en-US" altLang="zh-CN" sz="1000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}</m:t>
                    </m:r>
                  </m:oMath>
                </a14:m>
                <a:endParaRPr sz="1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algn="ctr" eaLnBrk="0">
                  <a:lnSpc>
                    <a:spcPct val="139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var</m:t>
                    </m:r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𝜏</m:t>
                        </m:r>
                      </m:e>
                    </m:acc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)=</m:t>
                    </m:r>
                    <m:f>
                      <m:f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zh-CN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p>
                            <m:r>
                              <a:rPr lang="en-US" altLang="zh-CN" sz="10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(1)</m:t>
                        </m:r>
                      </m:num>
                      <m:den>
                        <m:sSub>
                          <m:sSubPr>
                            <m:ctrlPr>
                              <a:rPr lang="zh-CN" altLang="zh-CN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10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f>
                      <m:f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zh-CN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p>
                            <m:r>
                              <a:rPr lang="en-US" altLang="zh-CN" sz="10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(0)</m:t>
                        </m:r>
                      </m:num>
                      <m:den>
                        <m:sSub>
                          <m:sSubPr>
                            <m:ctrlPr>
                              <a:rPr lang="zh-CN" altLang="zh-CN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10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zh-CN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p>
                            <m:r>
                              <a:rPr lang="en-US" altLang="zh-CN" sz="10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𝜏</m:t>
                        </m:r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zh-CN" altLang="zh-CN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sz="1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153035" eaLnBrk="0">
                  <a:lnSpc>
                    <a:spcPct val="92000"/>
                  </a:lnSpc>
                  <a:spcBef>
                    <a:spcPts val="308"/>
                  </a:spcBef>
                </a:pPr>
                <a:r>
                  <a:rPr lang="en-US" altLang="zh-CN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Variance estimator</a:t>
                </a:r>
              </a:p>
              <a:p>
                <a:pPr marL="153035" eaLnBrk="0">
                  <a:lnSpc>
                    <a:spcPct val="92000"/>
                  </a:lnSpc>
                  <a:spcBef>
                    <a:spcPts val="308"/>
                  </a:spcBef>
                </a:pPr>
                <a:endParaRPr lang="en-US" altLang="zh-CN" sz="10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153035" eaLnBrk="0">
                  <a:lnSpc>
                    <a:spcPct val="92000"/>
                  </a:lnSpc>
                  <a:spcBef>
                    <a:spcPts val="308"/>
                  </a:spcBef>
                </a:pPr>
                <a:endParaRPr lang="en-US" altLang="zh-CN" sz="10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153035" eaLnBrk="0">
                  <a:lnSpc>
                    <a:spcPct val="92000"/>
                  </a:lnSpc>
                  <a:spcBef>
                    <a:spcPts val="308"/>
                  </a:spcBef>
                </a:pPr>
                <a:endParaRPr lang="en-US" altLang="zh-CN" sz="10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153035" eaLnBrk="0">
                  <a:lnSpc>
                    <a:spcPct val="92000"/>
                  </a:lnSpc>
                  <a:spcBef>
                    <a:spcPts val="308"/>
                  </a:spcBef>
                </a:pPr>
                <a:endParaRPr lang="en-US" altLang="zh-CN" sz="10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153035" eaLnBrk="0">
                  <a:lnSpc>
                    <a:spcPct val="92000"/>
                  </a:lnSpc>
                  <a:spcBef>
                    <a:spcPts val="308"/>
                  </a:spcBef>
                </a:pPr>
                <a:endParaRPr lang="en-US" altLang="zh-CN" sz="10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153035" eaLnBrk="0">
                  <a:lnSpc>
                    <a:spcPct val="92000"/>
                  </a:lnSpc>
                  <a:spcBef>
                    <a:spcPts val="308"/>
                  </a:spcBef>
                </a:pPr>
                <a:endParaRPr lang="en" altLang="zh-CN" sz="10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153035" eaLnBrk="0">
                  <a:lnSpc>
                    <a:spcPct val="92000"/>
                  </a:lnSpc>
                  <a:spcBef>
                    <a:spcPts val="308"/>
                  </a:spcBef>
                </a:pPr>
                <a:r>
                  <a:rPr lang="en" altLang="zh-CN"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A conservative 95% confidence interval based on normal approximation</a:t>
                </a:r>
              </a:p>
              <a:p>
                <a:pPr marL="153035" algn="ctr" eaLnBrk="0">
                  <a:lnSpc>
                    <a:spcPct val="92000"/>
                  </a:lnSpc>
                  <a:spcBef>
                    <a:spcPts val="308"/>
                  </a:spcBef>
                </a:pPr>
                <a14:m>
                  <m:oMath xmlns:m="http://schemas.openxmlformats.org/officeDocument/2006/math"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𝜏</m:t>
                        </m:r>
                      </m:e>
                    </m:acc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−1.96</m:t>
                    </m:r>
                    <m:rad>
                      <m:radPr>
                        <m:degHide m:val="on"/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acc>
                          <m:accPr>
                            <m:chr m:val="̂"/>
                            <m:ctrlPr>
                              <a:rPr lang="zh-CN" altLang="zh-CN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10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var</m:t>
                            </m:r>
                          </m:e>
                        </m:acc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(</m:t>
                        </m:r>
                        <m:acc>
                          <m:accPr>
                            <m:chr m:val="̂"/>
                            <m:ctrlPr>
                              <a:rPr lang="zh-CN" altLang="zh-CN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𝜏</m:t>
                            </m:r>
                          </m:e>
                        </m:acc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rad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acc>
                      <m:accPr>
                        <m:chr m:val="̂"/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𝜏</m:t>
                        </m:r>
                      </m:e>
                    </m:acc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+1.96</m:t>
                    </m:r>
                    <m:rad>
                      <m:radPr>
                        <m:degHide m:val="on"/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acc>
                          <m:accPr>
                            <m:chr m:val="̂"/>
                            <m:ctrlPr>
                              <a:rPr lang="zh-CN" altLang="zh-CN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10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var</m:t>
                            </m:r>
                          </m:e>
                        </m:acc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(</m:t>
                        </m:r>
                        <m:acc>
                          <m:accPr>
                            <m:chr m:val="̂"/>
                            <m:ctrlPr>
                              <a:rPr lang="zh-CN" altLang="zh-CN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𝜏</m:t>
                            </m:r>
                          </m:e>
                        </m:acc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rad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zh-CN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en" altLang="zh-CN" sz="10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153035" eaLnBrk="0">
                  <a:lnSpc>
                    <a:spcPct val="92000"/>
                  </a:lnSpc>
                  <a:spcBef>
                    <a:spcPts val="308"/>
                  </a:spcBef>
                </a:pPr>
                <a:r>
                  <a:rPr lang="zh-CN" altLang="en-US"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</a:t>
                </a:r>
                <a:endParaRPr lang="zh-CN" altLang="en-US" sz="1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906" name="textbox 90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389" y="473863"/>
                <a:ext cx="3352165" cy="2700020"/>
              </a:xfrm>
              <a:prstGeom prst="rect">
                <a:avLst/>
              </a:prstGeom>
              <a:blipFill>
                <a:blip r:embed="rId2"/>
                <a:stretch>
                  <a:fillRect t="-467" r="-2642"/>
                </a:stretch>
              </a:blipFill>
              <a:ln w="0" cap="flat">
                <a:noFill/>
                <a:prstDash val="solid"/>
                <a:miter lim="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22" name="picture 9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87439" y="562278"/>
            <a:ext cx="65265" cy="65265"/>
          </a:xfrm>
          <a:prstGeom prst="rect">
            <a:avLst/>
          </a:prstGeom>
        </p:spPr>
      </p:pic>
      <p:sp>
        <p:nvSpPr>
          <p:cNvPr id="932" name="rect 932"/>
          <p:cNvSpPr/>
          <p:nvPr/>
        </p:nvSpPr>
        <p:spPr>
          <a:xfrm>
            <a:off x="0" y="0"/>
            <a:ext cx="4608004" cy="350113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34" name="textbox 934"/>
          <p:cNvSpPr/>
          <p:nvPr/>
        </p:nvSpPr>
        <p:spPr>
          <a:xfrm>
            <a:off x="1287074" y="2843523"/>
            <a:ext cx="2061210" cy="5257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90805" algn="l" rtl="0" eaLnBrk="0">
              <a:lnSpc>
                <a:spcPts val="1962"/>
              </a:lnSpc>
              <a:tabLst>
                <a:tab pos="128270" algn="l"/>
              </a:tabLst>
            </a:pPr>
            <a:r>
              <a:rPr sz="10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endParaRPr sz="1600" baseline="-11305" dirty="0">
              <a:latin typeface="Arial"/>
              <a:ea typeface="Arial"/>
              <a:cs typeface="Arial"/>
            </a:endParaRPr>
          </a:p>
        </p:txBody>
      </p:sp>
      <p:sp>
        <p:nvSpPr>
          <p:cNvPr id="952" name="textbox 952"/>
          <p:cNvSpPr/>
          <p:nvPr/>
        </p:nvSpPr>
        <p:spPr>
          <a:xfrm>
            <a:off x="97850" y="115630"/>
            <a:ext cx="746700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88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3000"/>
              </a:lnSpc>
              <a:tabLst/>
            </a:pPr>
            <a:r>
              <a:rPr sz="1400" kern="0" dirty="0">
                <a:solidFill>
                  <a:srgbClr val="CC0000">
                    <a:alpha val="100000"/>
                  </a:srgb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Variance</a:t>
            </a:r>
            <a:endParaRPr sz="1400" dirty="0">
              <a:latin typeface="Arial" panose="020B0604020202020204" pitchFamily="34" charset="0"/>
              <a:ea typeface="Arial"/>
              <a:cs typeface="Arial" panose="020B0604020202020204" pitchFamily="34" charset="0"/>
            </a:endParaRP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01FD5746-1228-049C-9B49-7814FC52EB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-759413" y="1349155"/>
          <a:ext cx="5616033" cy="7532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4" imgW="5486400" imgH="736600" progId="Word.Document.12">
                  <p:embed/>
                </p:oleObj>
              </mc:Choice>
              <mc:Fallback>
                <p:oleObj name="文档" r:id="rId4" imgW="5486400" imgH="736600" progId="Word.Document.12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01FD5746-1228-049C-9B49-7814FC52EBE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-759413" y="1349155"/>
                        <a:ext cx="5616033" cy="7532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922">
            <a:extLst>
              <a:ext uri="{FF2B5EF4-FFF2-40B4-BE49-F238E27FC236}">
                <a16:creationId xmlns:a16="http://schemas.microsoft.com/office/drawing/2014/main" id="{BFCE2928-6441-9AB2-7350-DB37C1030C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90893" y="1089664"/>
            <a:ext cx="65265" cy="65265"/>
          </a:xfrm>
          <a:prstGeom prst="rect">
            <a:avLst/>
          </a:prstGeom>
        </p:spPr>
      </p:pic>
      <p:pic>
        <p:nvPicPr>
          <p:cNvPr id="4" name="picture 922">
            <a:extLst>
              <a:ext uri="{FF2B5EF4-FFF2-40B4-BE49-F238E27FC236}">
                <a16:creationId xmlns:a16="http://schemas.microsoft.com/office/drawing/2014/main" id="{BE432ED1-05CA-9921-3AE1-15697B312C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87439" y="2347689"/>
            <a:ext cx="65265" cy="65265"/>
          </a:xfrm>
          <a:prstGeom prst="rect">
            <a:avLst/>
          </a:prstGeom>
        </p:spPr>
      </p:pic>
      <p:sp>
        <p:nvSpPr>
          <p:cNvPr id="5" name="textbox 288">
            <a:extLst>
              <a:ext uri="{FF2B5EF4-FFF2-40B4-BE49-F238E27FC236}">
                <a16:creationId xmlns:a16="http://schemas.microsoft.com/office/drawing/2014/main" id="{40D08AB3-7058-EC2E-48ED-94E230314259}"/>
              </a:ext>
            </a:extLst>
          </p:cNvPr>
          <p:cNvSpPr/>
          <p:nvPr/>
        </p:nvSpPr>
        <p:spPr>
          <a:xfrm>
            <a:off x="4329761" y="3341244"/>
            <a:ext cx="210184" cy="1022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604"/>
              </a:lnSpc>
              <a:tabLst/>
            </a:pPr>
            <a:r>
              <a:rPr lang="en-US" sz="500" kern="0" spc="3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5</a:t>
            </a:r>
            <a:r>
              <a:rPr sz="500" kern="0" spc="2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500" kern="0" spc="3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 12</a:t>
            </a:r>
            <a:endParaRPr sz="5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AA5F4-D26D-EDDD-340E-67845F5C5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textbox 336">
            <a:extLst>
              <a:ext uri="{FF2B5EF4-FFF2-40B4-BE49-F238E27FC236}">
                <a16:creationId xmlns:a16="http://schemas.microsoft.com/office/drawing/2014/main" id="{D8018A64-D164-465F-F88B-36098E4DCEE0}"/>
              </a:ext>
            </a:extLst>
          </p:cNvPr>
          <p:cNvSpPr/>
          <p:nvPr/>
        </p:nvSpPr>
        <p:spPr>
          <a:xfrm>
            <a:off x="268389" y="699553"/>
            <a:ext cx="3820159" cy="23139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703"/>
              </a:lnSpc>
              <a:tabLst/>
            </a:pPr>
            <a:endParaRPr sz="100" dirty="0">
              <a:latin typeface="Arial" panose="020B0604020202020204" pitchFamily="34" charset="0"/>
              <a:ea typeface="Arial"/>
              <a:cs typeface="Arial" panose="020B0604020202020204" pitchFamily="34" charset="0"/>
            </a:endParaRPr>
          </a:p>
          <a:p>
            <a:pPr marL="77470" algn="l" rtl="0" eaLnBrk="0">
              <a:lnSpc>
                <a:spcPct val="92000"/>
              </a:lnSpc>
              <a:tabLst>
                <a:tab pos="156210" algn="l"/>
              </a:tabLst>
            </a:pPr>
            <a:r>
              <a:rPr sz="1000" kern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	Can we run a linear regression to obtain the ACE estimator</a:t>
            </a:r>
            <a:endParaRPr sz="1000" dirty="0">
              <a:latin typeface="Arial" panose="020B0604020202020204" pitchFamily="34" charset="0"/>
              <a:ea typeface="Arial"/>
              <a:cs typeface="Arial" panose="020B0604020202020204" pitchFamily="34" charset="0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1000" dirty="0">
              <a:latin typeface="Arial" panose="020B0604020202020204" pitchFamily="34" charset="0"/>
              <a:ea typeface="Arial"/>
              <a:cs typeface="Arial" panose="020B0604020202020204" pitchFamily="34" charset="0"/>
            </a:endParaRPr>
          </a:p>
          <a:p>
            <a:pPr marL="77470" eaLnBrk="0">
              <a:lnSpc>
                <a:spcPts val="1524"/>
              </a:lnSpc>
              <a:spcBef>
                <a:spcPts val="308"/>
              </a:spcBef>
              <a:tabLst>
                <a:tab pos="154940" algn="l"/>
              </a:tabLst>
            </a:pPr>
            <a:r>
              <a:rPr sz="1000" kern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	</a:t>
            </a:r>
            <a:r>
              <a:rPr lang="en-US" sz="1000" kern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	</a:t>
            </a:r>
            <a:r>
              <a:rPr sz="1000" kern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	</a:t>
            </a:r>
            <a:endParaRPr sz="1000" dirty="0">
              <a:latin typeface="Arial" panose="020B0604020202020204" pitchFamily="34" charset="0"/>
              <a:ea typeface="Arial"/>
              <a:cs typeface="Arial" panose="020B0604020202020204" pitchFamily="34" charset="0"/>
            </a:endParaRPr>
          </a:p>
          <a:p>
            <a:pPr marL="1342390" algn="l" rtl="0" eaLnBrk="0">
              <a:lnSpc>
                <a:spcPts val="2686"/>
              </a:lnSpc>
              <a:spcBef>
                <a:spcPts val="259"/>
              </a:spcBef>
              <a:tabLst>
                <a:tab pos="2354580" algn="l"/>
              </a:tabLst>
            </a:pPr>
            <a:r>
              <a:rPr sz="1000" kern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	</a:t>
            </a:r>
            <a:endParaRPr sz="1000" dirty="0">
              <a:latin typeface="Arial" panose="020B0604020202020204" pitchFamily="34" charset="0"/>
              <a:ea typeface="Arial"/>
              <a:cs typeface="Arial" panose="020B0604020202020204" pitchFamily="34" charset="0"/>
            </a:endParaRPr>
          </a:p>
          <a:p>
            <a:pPr algn="l" rtl="0" eaLnBrk="0">
              <a:lnSpc>
                <a:spcPct val="173000"/>
              </a:lnSpc>
              <a:tabLst/>
            </a:pPr>
            <a:endParaRPr sz="1000" dirty="0">
              <a:latin typeface="Arial" panose="020B0604020202020204" pitchFamily="34" charset="0"/>
              <a:ea typeface="Arial"/>
              <a:cs typeface="Arial" panose="020B0604020202020204" pitchFamily="34" charset="0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200" dirty="0">
              <a:latin typeface="Arial" panose="020B0604020202020204" pitchFamily="34" charset="0"/>
              <a:ea typeface="Arial"/>
              <a:cs typeface="Arial" panose="020B0604020202020204" pitchFamily="34" charset="0"/>
            </a:endParaRPr>
          </a:p>
          <a:p>
            <a:pPr marL="428625" indent="-73660" algn="l" rtl="0" eaLnBrk="0">
              <a:lnSpc>
                <a:spcPct val="112000"/>
              </a:lnSpc>
              <a:spcBef>
                <a:spcPts val="2"/>
              </a:spcBef>
              <a:tabLst>
                <a:tab pos="426085" algn="l"/>
              </a:tabLst>
            </a:pPr>
            <a:r>
              <a:rPr sz="900" kern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	</a:t>
            </a:r>
            <a:endParaRPr sz="900" dirty="0">
              <a:latin typeface="Arial" panose="020B0604020202020204" pitchFamily="34" charset="0"/>
              <a:ea typeface="Arial"/>
              <a:cs typeface="Arial" panose="020B0604020202020204" pitchFamily="34" charset="0"/>
            </a:endParaRPr>
          </a:p>
        </p:txBody>
      </p:sp>
      <p:pic>
        <p:nvPicPr>
          <p:cNvPr id="366" name="picture 366">
            <a:extLst>
              <a:ext uri="{FF2B5EF4-FFF2-40B4-BE49-F238E27FC236}">
                <a16:creationId xmlns:a16="http://schemas.microsoft.com/office/drawing/2014/main" id="{297F2B12-EBB3-2DF9-E2D3-597603DDB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81089" y="749617"/>
            <a:ext cx="65265" cy="65265"/>
          </a:xfrm>
          <a:prstGeom prst="rect">
            <a:avLst/>
          </a:prstGeom>
        </p:spPr>
      </p:pic>
      <p:sp>
        <p:nvSpPr>
          <p:cNvPr id="368" name="rect 368">
            <a:extLst>
              <a:ext uri="{FF2B5EF4-FFF2-40B4-BE49-F238E27FC236}">
                <a16:creationId xmlns:a16="http://schemas.microsoft.com/office/drawing/2014/main" id="{316F1A39-9B38-4DE5-AA18-183AE90B5E7F}"/>
              </a:ext>
            </a:extLst>
          </p:cNvPr>
          <p:cNvSpPr/>
          <p:nvPr/>
        </p:nvSpPr>
        <p:spPr>
          <a:xfrm>
            <a:off x="0" y="0"/>
            <a:ext cx="4608004" cy="350113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70" name="textbox 370">
            <a:extLst>
              <a:ext uri="{FF2B5EF4-FFF2-40B4-BE49-F238E27FC236}">
                <a16:creationId xmlns:a16="http://schemas.microsoft.com/office/drawing/2014/main" id="{C8D8D9F2-B2CF-A157-55F5-A87BE19E2056}"/>
              </a:ext>
            </a:extLst>
          </p:cNvPr>
          <p:cNvSpPr/>
          <p:nvPr/>
        </p:nvSpPr>
        <p:spPr>
          <a:xfrm>
            <a:off x="111880" y="103969"/>
            <a:ext cx="2269370" cy="209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73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rtl="0" eaLnBrk="0">
              <a:lnSpc>
                <a:spcPct val="93000"/>
              </a:lnSpc>
              <a:tabLst/>
            </a:pPr>
            <a:r>
              <a:rPr sz="1400" kern="0" dirty="0">
                <a:solidFill>
                  <a:srgbClr val="CC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Regression analysis of CRE</a:t>
            </a:r>
            <a:endParaRPr sz="1400" dirty="0">
              <a:latin typeface="Arial"/>
              <a:ea typeface="Arial"/>
              <a:cs typeface="Arial"/>
            </a:endParaRPr>
          </a:p>
        </p:txBody>
      </p:sp>
      <p:sp>
        <p:nvSpPr>
          <p:cNvPr id="372" name="textbox 372">
            <a:extLst>
              <a:ext uri="{FF2B5EF4-FFF2-40B4-BE49-F238E27FC236}">
                <a16:creationId xmlns:a16="http://schemas.microsoft.com/office/drawing/2014/main" id="{2DCBC90D-6EA3-5554-E640-4162CFCC0762}"/>
              </a:ext>
            </a:extLst>
          </p:cNvPr>
          <p:cNvSpPr/>
          <p:nvPr/>
        </p:nvSpPr>
        <p:spPr>
          <a:xfrm>
            <a:off x="4329761" y="3341242"/>
            <a:ext cx="210184" cy="1022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604"/>
              </a:lnSpc>
              <a:tabLst/>
            </a:pPr>
            <a:r>
              <a:rPr sz="500" kern="0" spc="3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7</a:t>
            </a:r>
            <a:r>
              <a:rPr sz="500" kern="0" spc="2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500" kern="0" spc="3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 12</a:t>
            </a:r>
            <a:endParaRPr sz="500" dirty="0"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962274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81D51-4021-CD08-D541-D2F41F1B0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36" name="textbox 336">
                <a:extLst>
                  <a:ext uri="{FF2B5EF4-FFF2-40B4-BE49-F238E27FC236}">
                    <a16:creationId xmlns:a16="http://schemas.microsoft.com/office/drawing/2014/main" id="{4948D22E-156A-57F4-DE87-FF84D4EE7A8E}"/>
                  </a:ext>
                </a:extLst>
              </p:cNvPr>
              <p:cNvSpPr/>
              <p:nvPr/>
            </p:nvSpPr>
            <p:spPr>
              <a:xfrm>
                <a:off x="268389" y="699553"/>
                <a:ext cx="3820159" cy="2313940"/>
              </a:xfrm>
              <a:prstGeom prst="rect">
                <a:avLst/>
              </a:prstGeom>
              <a:noFill/>
              <a:ln w="0" cap="flat">
                <a:noFill/>
                <a:prstDash val="solid"/>
                <a:miter lim="0"/>
              </a:ln>
            </p:spPr>
            <p:txBody>
              <a:bodyPr vert="horz" wrap="square" lIns="0" tIns="0" rIns="0" bIns="0"/>
              <a:lstStyle/>
              <a:p>
                <a:pPr algn="l" rtl="0" eaLnBrk="0">
                  <a:lnSpc>
                    <a:spcPct val="80703"/>
                  </a:lnSpc>
                  <a:tabLst/>
                </a:pPr>
                <a:endParaRPr sz="1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77470" algn="l" rtl="0" eaLnBrk="0">
                  <a:lnSpc>
                    <a:spcPct val="92000"/>
                  </a:lnSpc>
                  <a:tabLst>
                    <a:tab pos="156210" algn="l"/>
                  </a:tabLst>
                </a:pPr>
                <a:r>
                  <a:rPr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Can we run a linear regression to obtain the ACE estimator</a:t>
                </a:r>
                <a:endParaRPr sz="1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algn="l" rtl="0" eaLnBrk="0">
                  <a:lnSpc>
                    <a:spcPct val="126000"/>
                  </a:lnSpc>
                  <a:tabLst/>
                </a:pPr>
                <a:endParaRPr sz="1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77470" eaLnBrk="0">
                  <a:lnSpc>
                    <a:spcPts val="1524"/>
                  </a:lnSpc>
                  <a:spcBef>
                    <a:spcPts val="308"/>
                  </a:spcBef>
                  <a:tabLst>
                    <a:tab pos="154940" algn="l"/>
                  </a:tabLst>
                </a:pPr>
                <a:r>
                  <a:rPr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OLS:</a:t>
                </a:r>
                <a:r>
                  <a:rPr lang="en-US"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acc>
                      <m:accPr>
                        <m:chr m:val="ˆ"/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</m:acc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acc>
                      <m:accPr>
                        <m:chr m:val="ˆ"/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</m:acc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)=</m:t>
                    </m:r>
                    <m:sSub>
                      <m:sSub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argmin</m:t>
                        </m:r>
                      </m:e>
                      <m:sub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𝑏</m:t>
                        </m:r>
                      </m:sub>
                    </m:sSub>
                    <m:nary>
                      <m:naryPr>
                        <m:chr m:val="∑"/>
                        <m:limLoc m:val="undOvr"/>
                        <m:grow m:val="on"/>
                        <m:supHide m:val="on"/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/>
                      <m:e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 </m:t>
                        </m:r>
                      </m:e>
                    </m:nary>
                    <m:sSup>
                      <m:sSup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zh-CN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1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0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altLang="zh-CN" sz="10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sz="10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altLang="zh-CN" sz="1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𝑎</m:t>
                            </m:r>
                            <m:r>
                              <a:rPr lang="en-US" altLang="zh-CN" sz="10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altLang="zh-CN" sz="1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𝑏</m:t>
                            </m:r>
                            <m:sSub>
                              <m:sSubPr>
                                <m:ctrlPr>
                                  <a:rPr lang="zh-CN" altLang="zh-CN" sz="1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0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en-US" altLang="zh-CN" sz="10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en-US" altLang="zh-CN" sz="10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77470" eaLnBrk="0">
                  <a:tabLst>
                    <a:tab pos="154940" algn="l"/>
                  </a:tabLst>
                </a:pPr>
                <a:r>
                  <a:rPr lang="en-US"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        </a:t>
                </a:r>
                <a14:m>
                  <m:oMath xmlns:m="http://schemas.openxmlformats.org/officeDocument/2006/math">
                    <m:acc>
                      <m:accPr>
                        <m:chr m:val="ˆ"/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</m:acc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acc>
                      <m:accPr>
                        <m:chr m:val="ˆ"/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𝜏</m:t>
                        </m:r>
                      </m:e>
                    </m:acc>
                  </m:oMath>
                </a14:m>
                <a:r>
                  <a:rPr lang="zh-CN" altLang="zh-CN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en-US" sz="10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77470" eaLnBrk="0">
                  <a:tabLst>
                    <a:tab pos="154940" algn="l"/>
                  </a:tabLst>
                </a:pPr>
                <a:r>
                  <a:rPr lang="en-US"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        </a:t>
                </a:r>
                <a:r>
                  <a:rPr sz="9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but the OLS variance es</a:t>
                </a:r>
                <a:r>
                  <a:rPr lang="en-US" sz="9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ti</a:t>
                </a:r>
                <a:r>
                  <a:rPr sz="9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mator from </a:t>
                </a:r>
                <a:r>
                  <a:rPr sz="900" i="1" kern="0" dirty="0" err="1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lm</a:t>
                </a:r>
                <a:r>
                  <a:rPr sz="9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func</a:t>
                </a:r>
                <a:r>
                  <a:rPr lang="en-US" sz="9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ti</a:t>
                </a:r>
                <a:r>
                  <a:rPr sz="9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on in </a:t>
                </a:r>
                <a:r>
                  <a:rPr sz="900" i="1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R</a:t>
                </a:r>
                <a:r>
                  <a:rPr sz="9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</a:t>
                </a:r>
                <a:r>
                  <a:rPr sz="900" kern="0" dirty="0" err="1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i</a:t>
                </a:r>
                <a:r>
                  <a:rPr lang="en" sz="9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s</a:t>
                </a:r>
                <a:r>
                  <a:rPr lang="en-US" sz="9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</a:t>
                </a:r>
                <a:r>
                  <a:rPr lang="zh-CN" altLang="zh-CN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en-US" sz="9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1032510" algn="l" rtl="0" eaLnBrk="0">
                  <a:lnSpc>
                    <a:spcPts val="2437"/>
                  </a:lnSpc>
                  <a:spcBef>
                    <a:spcPts val="838"/>
                  </a:spcBef>
                  <a:tabLst>
                    <a:tab pos="3611880" algn="l"/>
                  </a:tabLst>
                </a:pPr>
                <a:r>
                  <a:rPr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</a:t>
                </a:r>
                <a:endParaRPr sz="1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1342390" algn="l" rtl="0" eaLnBrk="0">
                  <a:lnSpc>
                    <a:spcPts val="2686"/>
                  </a:lnSpc>
                  <a:spcBef>
                    <a:spcPts val="259"/>
                  </a:spcBef>
                  <a:tabLst>
                    <a:tab pos="2354580" algn="l"/>
                  </a:tabLst>
                </a:pPr>
                <a:r>
                  <a:rPr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</a:t>
                </a:r>
                <a:endParaRPr sz="1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algn="l" rtl="0" eaLnBrk="0">
                  <a:lnSpc>
                    <a:spcPct val="173000"/>
                  </a:lnSpc>
                  <a:tabLst/>
                </a:pPr>
                <a:endParaRPr sz="1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algn="l" rtl="0" eaLnBrk="0">
                  <a:lnSpc>
                    <a:spcPct val="115000"/>
                  </a:lnSpc>
                  <a:tabLst/>
                </a:pPr>
                <a:endParaRPr sz="2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428625" indent="-73660" algn="l" rtl="0" eaLnBrk="0">
                  <a:lnSpc>
                    <a:spcPct val="112000"/>
                  </a:lnSpc>
                  <a:spcBef>
                    <a:spcPts val="2"/>
                  </a:spcBef>
                  <a:tabLst>
                    <a:tab pos="426085" algn="l"/>
                  </a:tabLst>
                </a:pPr>
                <a:r>
                  <a:rPr sz="9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</a:t>
                </a:r>
                <a:endParaRPr sz="9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36" name="textbox 336">
                <a:extLst>
                  <a:ext uri="{FF2B5EF4-FFF2-40B4-BE49-F238E27FC236}">
                    <a16:creationId xmlns:a16="http://schemas.microsoft.com/office/drawing/2014/main" id="{4948D22E-156A-57F4-DE87-FF84D4EE7A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389" y="699553"/>
                <a:ext cx="3820159" cy="2313940"/>
              </a:xfrm>
              <a:prstGeom prst="rect">
                <a:avLst/>
              </a:prstGeom>
              <a:blipFill>
                <a:blip r:embed="rId2"/>
                <a:stretch>
                  <a:fillRect t="-2186"/>
                </a:stretch>
              </a:blipFill>
              <a:ln w="0" cap="flat">
                <a:noFill/>
                <a:prstDash val="solid"/>
                <a:miter lim="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44" name="picture 344">
            <a:extLst>
              <a:ext uri="{FF2B5EF4-FFF2-40B4-BE49-F238E27FC236}">
                <a16:creationId xmlns:a16="http://schemas.microsoft.com/office/drawing/2014/main" id="{2172EF77-CD38-E5EA-EEC6-768C494DA8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70865" y="1498527"/>
            <a:ext cx="52585" cy="52585"/>
          </a:xfrm>
          <a:prstGeom prst="rect">
            <a:avLst/>
          </a:prstGeom>
        </p:spPr>
      </p:pic>
      <p:pic>
        <p:nvPicPr>
          <p:cNvPr id="354" name="picture 354">
            <a:extLst>
              <a:ext uri="{FF2B5EF4-FFF2-40B4-BE49-F238E27FC236}">
                <a16:creationId xmlns:a16="http://schemas.microsoft.com/office/drawing/2014/main" id="{BF035A5C-82B5-CF9E-7C0D-48BCB88C09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70865" y="1340349"/>
            <a:ext cx="52585" cy="52585"/>
          </a:xfrm>
          <a:prstGeom prst="rect">
            <a:avLst/>
          </a:prstGeom>
        </p:spPr>
      </p:pic>
      <p:pic>
        <p:nvPicPr>
          <p:cNvPr id="364" name="picture 364">
            <a:extLst>
              <a:ext uri="{FF2B5EF4-FFF2-40B4-BE49-F238E27FC236}">
                <a16:creationId xmlns:a16="http://schemas.microsoft.com/office/drawing/2014/main" id="{8B42E2FB-3408-1FE6-1E16-622420E1FF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81089" y="1142668"/>
            <a:ext cx="65265" cy="65265"/>
          </a:xfrm>
          <a:prstGeom prst="rect">
            <a:avLst/>
          </a:prstGeom>
        </p:spPr>
      </p:pic>
      <p:pic>
        <p:nvPicPr>
          <p:cNvPr id="366" name="picture 366">
            <a:extLst>
              <a:ext uri="{FF2B5EF4-FFF2-40B4-BE49-F238E27FC236}">
                <a16:creationId xmlns:a16="http://schemas.microsoft.com/office/drawing/2014/main" id="{4D15826A-0646-2EBF-E6B5-8BAE7370F7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81089" y="749617"/>
            <a:ext cx="65265" cy="65265"/>
          </a:xfrm>
          <a:prstGeom prst="rect">
            <a:avLst/>
          </a:prstGeom>
        </p:spPr>
      </p:pic>
      <p:sp>
        <p:nvSpPr>
          <p:cNvPr id="368" name="rect 368">
            <a:extLst>
              <a:ext uri="{FF2B5EF4-FFF2-40B4-BE49-F238E27FC236}">
                <a16:creationId xmlns:a16="http://schemas.microsoft.com/office/drawing/2014/main" id="{E5959382-D25A-925E-0C9D-0A6D5B97E61D}"/>
              </a:ext>
            </a:extLst>
          </p:cNvPr>
          <p:cNvSpPr/>
          <p:nvPr/>
        </p:nvSpPr>
        <p:spPr>
          <a:xfrm>
            <a:off x="0" y="0"/>
            <a:ext cx="4608004" cy="350113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70" name="textbox 370">
            <a:extLst>
              <a:ext uri="{FF2B5EF4-FFF2-40B4-BE49-F238E27FC236}">
                <a16:creationId xmlns:a16="http://schemas.microsoft.com/office/drawing/2014/main" id="{910E85E6-2997-0149-6355-3F6EC559239A}"/>
              </a:ext>
            </a:extLst>
          </p:cNvPr>
          <p:cNvSpPr/>
          <p:nvPr/>
        </p:nvSpPr>
        <p:spPr>
          <a:xfrm>
            <a:off x="111880" y="103969"/>
            <a:ext cx="2269370" cy="209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73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rtl="0" eaLnBrk="0">
              <a:lnSpc>
                <a:spcPct val="93000"/>
              </a:lnSpc>
              <a:tabLst/>
            </a:pPr>
            <a:r>
              <a:rPr sz="1400" kern="0" dirty="0">
                <a:solidFill>
                  <a:srgbClr val="CC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Regression analysis of CRE</a:t>
            </a:r>
            <a:endParaRPr sz="1400" dirty="0">
              <a:latin typeface="Arial"/>
              <a:ea typeface="Arial"/>
              <a:cs typeface="Arial"/>
            </a:endParaRPr>
          </a:p>
        </p:txBody>
      </p:sp>
      <p:sp>
        <p:nvSpPr>
          <p:cNvPr id="372" name="textbox 372">
            <a:extLst>
              <a:ext uri="{FF2B5EF4-FFF2-40B4-BE49-F238E27FC236}">
                <a16:creationId xmlns:a16="http://schemas.microsoft.com/office/drawing/2014/main" id="{5D6E0766-8727-87C4-BF58-1F62B7C8C86A}"/>
              </a:ext>
            </a:extLst>
          </p:cNvPr>
          <p:cNvSpPr/>
          <p:nvPr/>
        </p:nvSpPr>
        <p:spPr>
          <a:xfrm>
            <a:off x="4329761" y="3341242"/>
            <a:ext cx="210184" cy="1022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604"/>
              </a:lnSpc>
              <a:tabLst/>
            </a:pPr>
            <a:r>
              <a:rPr sz="500" kern="0" spc="3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7</a:t>
            </a:r>
            <a:r>
              <a:rPr sz="500" kern="0" spc="2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500" kern="0" spc="3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 12</a:t>
            </a:r>
            <a:endParaRPr sz="500" dirty="0">
              <a:latin typeface="Arial"/>
              <a:ea typeface="Arial"/>
              <a:cs typeface="Arial"/>
            </a:endParaRP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B73A9ABA-9F53-2A5C-8082-54C80D01CE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-333555" y="1716061"/>
          <a:ext cx="5275113" cy="7947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7" imgW="5486400" imgH="825500" progId="Word.Document.12">
                  <p:embed/>
                </p:oleObj>
              </mc:Choice>
              <mc:Fallback>
                <p:oleObj name="文档" r:id="rId7" imgW="5486400" imgH="825500" progId="Word.Document.12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87012DF5-C92A-61DC-ED32-A357C90E3C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-333555" y="1716061"/>
                        <a:ext cx="5275113" cy="79478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614185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36" name="textbox 336"/>
              <p:cNvSpPr/>
              <p:nvPr/>
            </p:nvSpPr>
            <p:spPr>
              <a:xfrm>
                <a:off x="268389" y="699553"/>
                <a:ext cx="3820159" cy="2313940"/>
              </a:xfrm>
              <a:prstGeom prst="rect">
                <a:avLst/>
              </a:prstGeom>
              <a:noFill/>
              <a:ln w="0" cap="flat">
                <a:noFill/>
                <a:prstDash val="solid"/>
                <a:miter lim="0"/>
              </a:ln>
            </p:spPr>
            <p:txBody>
              <a:bodyPr vert="horz" wrap="square" lIns="0" tIns="0" rIns="0" bIns="0"/>
              <a:lstStyle/>
              <a:p>
                <a:pPr algn="l" rtl="0" eaLnBrk="0">
                  <a:lnSpc>
                    <a:spcPct val="80703"/>
                  </a:lnSpc>
                  <a:tabLst/>
                </a:pPr>
                <a:endParaRPr sz="1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77470" algn="l" rtl="0" eaLnBrk="0">
                  <a:lnSpc>
                    <a:spcPct val="92000"/>
                  </a:lnSpc>
                  <a:tabLst>
                    <a:tab pos="156210" algn="l"/>
                  </a:tabLst>
                </a:pPr>
                <a:r>
                  <a:rPr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Can we run a linear regression to obtain the ACE estimator</a:t>
                </a:r>
                <a:endParaRPr sz="1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algn="l" rtl="0" eaLnBrk="0">
                  <a:lnSpc>
                    <a:spcPct val="126000"/>
                  </a:lnSpc>
                  <a:tabLst/>
                </a:pPr>
                <a:endParaRPr sz="1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77470" eaLnBrk="0">
                  <a:lnSpc>
                    <a:spcPts val="1524"/>
                  </a:lnSpc>
                  <a:spcBef>
                    <a:spcPts val="308"/>
                  </a:spcBef>
                  <a:tabLst>
                    <a:tab pos="154940" algn="l"/>
                  </a:tabLst>
                </a:pPr>
                <a:r>
                  <a:rPr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OLS:</a:t>
                </a:r>
                <a:r>
                  <a:rPr lang="en-US"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acc>
                      <m:accPr>
                        <m:chr m:val="ˆ"/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</m:acc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acc>
                      <m:accPr>
                        <m:chr m:val="ˆ"/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</m:acc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)=</m:t>
                    </m:r>
                    <m:sSub>
                      <m:sSub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argmin</m:t>
                        </m:r>
                      </m:e>
                      <m:sub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𝑏</m:t>
                        </m:r>
                      </m:sub>
                    </m:sSub>
                    <m:nary>
                      <m:naryPr>
                        <m:chr m:val="∑"/>
                        <m:limLoc m:val="undOvr"/>
                        <m:grow m:val="on"/>
                        <m:supHide m:val="on"/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/>
                      <m:e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 </m:t>
                        </m:r>
                      </m:e>
                    </m:nary>
                    <m:sSup>
                      <m:sSup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zh-CN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1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0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altLang="zh-CN" sz="10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sz="10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altLang="zh-CN" sz="1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𝑎</m:t>
                            </m:r>
                            <m:r>
                              <a:rPr lang="en-US" altLang="zh-CN" sz="10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altLang="zh-CN" sz="1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𝑏</m:t>
                            </m:r>
                            <m:sSub>
                              <m:sSubPr>
                                <m:ctrlPr>
                                  <a:rPr lang="zh-CN" altLang="zh-CN" sz="1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0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en-US" altLang="zh-CN" sz="10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en-US" altLang="zh-CN" sz="10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77470" eaLnBrk="0">
                  <a:tabLst>
                    <a:tab pos="154940" algn="l"/>
                  </a:tabLst>
                </a:pPr>
                <a:r>
                  <a:rPr lang="en-US"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        </a:t>
                </a:r>
                <a14:m>
                  <m:oMath xmlns:m="http://schemas.openxmlformats.org/officeDocument/2006/math">
                    <m:acc>
                      <m:accPr>
                        <m:chr m:val="ˆ"/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</m:acc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acc>
                      <m:accPr>
                        <m:chr m:val="ˆ"/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𝜏</m:t>
                        </m:r>
                      </m:e>
                    </m:acc>
                  </m:oMath>
                </a14:m>
                <a:r>
                  <a:rPr lang="zh-CN" altLang="zh-CN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en-US" sz="10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77470" eaLnBrk="0">
                  <a:tabLst>
                    <a:tab pos="154940" algn="l"/>
                  </a:tabLst>
                </a:pPr>
                <a:r>
                  <a:rPr lang="en-US"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        </a:t>
                </a:r>
                <a:r>
                  <a:rPr sz="9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but the OLS variance es</a:t>
                </a:r>
                <a:r>
                  <a:rPr lang="en-US" sz="9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ti</a:t>
                </a:r>
                <a:r>
                  <a:rPr sz="9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mator from </a:t>
                </a:r>
                <a:r>
                  <a:rPr sz="900" i="1" kern="0" dirty="0" err="1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lm</a:t>
                </a:r>
                <a:r>
                  <a:rPr sz="9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func</a:t>
                </a:r>
                <a:r>
                  <a:rPr lang="en-US" sz="9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ti</a:t>
                </a:r>
                <a:r>
                  <a:rPr sz="9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on in </a:t>
                </a:r>
                <a:r>
                  <a:rPr sz="900" i="1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R</a:t>
                </a:r>
                <a:r>
                  <a:rPr sz="9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</a:t>
                </a:r>
                <a:r>
                  <a:rPr sz="900" kern="0" dirty="0" err="1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i</a:t>
                </a:r>
                <a:r>
                  <a:rPr lang="en" sz="9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s</a:t>
                </a:r>
                <a:r>
                  <a:rPr lang="en-US" sz="9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</a:t>
                </a:r>
                <a:r>
                  <a:rPr lang="zh-CN" altLang="zh-CN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en-US" sz="9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1032510" algn="l" rtl="0" eaLnBrk="0">
                  <a:lnSpc>
                    <a:spcPts val="2437"/>
                  </a:lnSpc>
                  <a:spcBef>
                    <a:spcPts val="838"/>
                  </a:spcBef>
                  <a:tabLst>
                    <a:tab pos="3611880" algn="l"/>
                  </a:tabLst>
                </a:pPr>
                <a:r>
                  <a:rPr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</a:t>
                </a:r>
                <a:endParaRPr sz="1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1342390" algn="l" rtl="0" eaLnBrk="0">
                  <a:lnSpc>
                    <a:spcPts val="2686"/>
                  </a:lnSpc>
                  <a:spcBef>
                    <a:spcPts val="259"/>
                  </a:spcBef>
                  <a:tabLst>
                    <a:tab pos="2354580" algn="l"/>
                  </a:tabLst>
                </a:pPr>
                <a:r>
                  <a:rPr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</a:t>
                </a:r>
                <a:endParaRPr sz="1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algn="l" rtl="0" eaLnBrk="0">
                  <a:lnSpc>
                    <a:spcPct val="173000"/>
                  </a:lnSpc>
                  <a:tabLst/>
                </a:pPr>
                <a:endParaRPr sz="1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algn="l" rtl="0" eaLnBrk="0">
                  <a:lnSpc>
                    <a:spcPct val="115000"/>
                  </a:lnSpc>
                  <a:tabLst/>
                </a:pPr>
                <a:endParaRPr sz="2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428625" indent="-73660" algn="l" rtl="0" eaLnBrk="0">
                  <a:lnSpc>
                    <a:spcPct val="112000"/>
                  </a:lnSpc>
                  <a:spcBef>
                    <a:spcPts val="2"/>
                  </a:spcBef>
                  <a:tabLst>
                    <a:tab pos="426085" algn="l"/>
                  </a:tabLst>
                </a:pPr>
                <a:r>
                  <a:rPr sz="9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We need to use the Eicker-Huber-White (EHW) robust variance estimator</a:t>
                </a:r>
                <a:endParaRPr sz="9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36" name="textbox 3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389" y="699553"/>
                <a:ext cx="3820159" cy="2313940"/>
              </a:xfrm>
              <a:prstGeom prst="rect">
                <a:avLst/>
              </a:prstGeom>
              <a:blipFill>
                <a:blip r:embed="rId2"/>
                <a:stretch>
                  <a:fillRect t="-2186" b="-1639"/>
                </a:stretch>
              </a:blipFill>
              <a:ln w="0" cap="flat">
                <a:noFill/>
                <a:prstDash val="solid"/>
                <a:miter lim="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38" name="picture 3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70865" y="2723175"/>
            <a:ext cx="52585" cy="52585"/>
          </a:xfrm>
          <a:prstGeom prst="rect">
            <a:avLst/>
          </a:prstGeom>
        </p:spPr>
      </p:pic>
      <p:pic>
        <p:nvPicPr>
          <p:cNvPr id="344" name="picture 34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70865" y="1498527"/>
            <a:ext cx="52585" cy="52585"/>
          </a:xfrm>
          <a:prstGeom prst="rect">
            <a:avLst/>
          </a:prstGeom>
        </p:spPr>
      </p:pic>
      <p:pic>
        <p:nvPicPr>
          <p:cNvPr id="354" name="picture 35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70865" y="1340349"/>
            <a:ext cx="52585" cy="52585"/>
          </a:xfrm>
          <a:prstGeom prst="rect">
            <a:avLst/>
          </a:prstGeom>
        </p:spPr>
      </p:pic>
      <p:pic>
        <p:nvPicPr>
          <p:cNvPr id="364" name="picture 36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81089" y="1142668"/>
            <a:ext cx="65265" cy="65265"/>
          </a:xfrm>
          <a:prstGeom prst="rect">
            <a:avLst/>
          </a:prstGeom>
        </p:spPr>
      </p:pic>
      <p:pic>
        <p:nvPicPr>
          <p:cNvPr id="366" name="picture 36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281089" y="749617"/>
            <a:ext cx="65265" cy="65265"/>
          </a:xfrm>
          <a:prstGeom prst="rect">
            <a:avLst/>
          </a:prstGeom>
        </p:spPr>
      </p:pic>
      <p:sp>
        <p:nvSpPr>
          <p:cNvPr id="368" name="rect 368"/>
          <p:cNvSpPr/>
          <p:nvPr/>
        </p:nvSpPr>
        <p:spPr>
          <a:xfrm>
            <a:off x="0" y="0"/>
            <a:ext cx="4608004" cy="350113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70" name="textbox 370"/>
          <p:cNvSpPr/>
          <p:nvPr/>
        </p:nvSpPr>
        <p:spPr>
          <a:xfrm>
            <a:off x="111880" y="103969"/>
            <a:ext cx="2269370" cy="209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73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rtl="0" eaLnBrk="0">
              <a:lnSpc>
                <a:spcPct val="93000"/>
              </a:lnSpc>
              <a:tabLst/>
            </a:pPr>
            <a:r>
              <a:rPr sz="1400" kern="0" dirty="0">
                <a:solidFill>
                  <a:srgbClr val="CC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Regression analysis of CRE</a:t>
            </a:r>
            <a:endParaRPr sz="1400" dirty="0">
              <a:latin typeface="Arial"/>
              <a:ea typeface="Arial"/>
              <a:cs typeface="Arial"/>
            </a:endParaRPr>
          </a:p>
        </p:txBody>
      </p:sp>
      <p:sp>
        <p:nvSpPr>
          <p:cNvPr id="372" name="textbox 372"/>
          <p:cNvSpPr/>
          <p:nvPr/>
        </p:nvSpPr>
        <p:spPr>
          <a:xfrm>
            <a:off x="4329761" y="3341242"/>
            <a:ext cx="210184" cy="1022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604"/>
              </a:lnSpc>
              <a:tabLst/>
            </a:pPr>
            <a:r>
              <a:rPr sz="500" kern="0" spc="3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7</a:t>
            </a:r>
            <a:r>
              <a:rPr sz="500" kern="0" spc="2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500" kern="0" spc="3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 12</a:t>
            </a:r>
            <a:endParaRPr sz="500" dirty="0">
              <a:latin typeface="Arial"/>
              <a:ea typeface="Arial"/>
              <a:cs typeface="Arial"/>
            </a:endParaRP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87012DF5-C92A-61DC-ED32-A357C90E3C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2997112"/>
              </p:ext>
            </p:extLst>
          </p:nvPr>
        </p:nvGraphicFramePr>
        <p:xfrm>
          <a:off x="-333555" y="1716061"/>
          <a:ext cx="5275113" cy="7947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8" imgW="5486400" imgH="825500" progId="Word.Document.12">
                  <p:embed/>
                </p:oleObj>
              </mc:Choice>
              <mc:Fallback>
                <p:oleObj name="文档" r:id="rId8" imgW="5486400" imgH="82550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-333555" y="1716061"/>
                        <a:ext cx="5275113" cy="79478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5A4FB-DE82-4CEF-B66D-162886618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04" name="textbox 404">
                <a:extLst>
                  <a:ext uri="{FF2B5EF4-FFF2-40B4-BE49-F238E27FC236}">
                    <a16:creationId xmlns:a16="http://schemas.microsoft.com/office/drawing/2014/main" id="{5BCD4EE2-43B7-44AD-6959-9CA9832BBACD}"/>
                  </a:ext>
                </a:extLst>
              </p:cNvPr>
              <p:cNvSpPr/>
              <p:nvPr/>
            </p:nvSpPr>
            <p:spPr>
              <a:xfrm>
                <a:off x="268389" y="463993"/>
                <a:ext cx="3940809" cy="2803525"/>
              </a:xfrm>
              <a:prstGeom prst="rect">
                <a:avLst/>
              </a:prstGeom>
              <a:noFill/>
              <a:ln w="0" cap="flat">
                <a:noFill/>
                <a:prstDash val="solid"/>
                <a:miter lim="0"/>
              </a:ln>
            </p:spPr>
            <p:txBody>
              <a:bodyPr vert="horz" wrap="square" lIns="0" tIns="0" rIns="0" bIns="0"/>
              <a:lstStyle/>
              <a:p>
                <a:pPr algn="l" rtl="0" eaLnBrk="0">
                  <a:lnSpc>
                    <a:spcPct val="80703"/>
                  </a:lnSpc>
                  <a:tabLst/>
                </a:pPr>
                <a:endParaRPr sz="1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77470" algn="l" rtl="0" eaLnBrk="0">
                  <a:lnSpc>
                    <a:spcPct val="92000"/>
                  </a:lnSpc>
                  <a:tabLst>
                    <a:tab pos="160020" algn="l"/>
                  </a:tabLst>
                </a:pPr>
                <a:r>
                  <a:rPr sz="1000" kern="0" dirty="0">
                    <a:solidFill>
                      <a:srgbClr val="BD1A1A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Eicker-Huber-White robust variance estimator</a:t>
                </a:r>
                <a:r>
                  <a:rPr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:</a:t>
                </a:r>
                <a:endParaRPr lang="en-US" sz="10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77470" algn="l" rtl="0" eaLnBrk="0">
                  <a:lnSpc>
                    <a:spcPct val="92000"/>
                  </a:lnSpc>
                  <a:tabLst>
                    <a:tab pos="160020" algn="l"/>
                  </a:tabLst>
                </a:pPr>
                <a:endParaRPr lang="en-US" sz="10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77470" algn="l" rtl="0" eaLnBrk="0">
                  <a:lnSpc>
                    <a:spcPct val="92000"/>
                  </a:lnSpc>
                  <a:tabLst>
                    <a:tab pos="160020" algn="l"/>
                  </a:tabLst>
                </a:pPr>
                <a:endParaRPr lang="en-US" sz="10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77470" algn="l" rtl="0" eaLnBrk="0">
                  <a:lnSpc>
                    <a:spcPct val="92000"/>
                  </a:lnSpc>
                  <a:tabLst>
                    <a:tab pos="160020" algn="l"/>
                  </a:tabLst>
                </a:pPr>
                <a:endParaRPr sz="1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1165860" algn="l" rtl="0" eaLnBrk="0">
                  <a:lnSpc>
                    <a:spcPts val="3394"/>
                  </a:lnSpc>
                  <a:spcBef>
                    <a:spcPts val="251"/>
                  </a:spcBef>
                  <a:tabLst>
                    <a:tab pos="3927475" algn="l"/>
                  </a:tabLst>
                </a:pPr>
                <a:r>
                  <a:rPr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</a:t>
                </a:r>
                <a:endParaRPr sz="1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>
                  <a:buNone/>
                </a:pPr>
                <a:r>
                  <a:rPr lang="en-US" altLang="zh-CN" sz="1000" dirty="0">
                    <a:latin typeface="Arial" panose="020B060402020202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    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000" b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𝐗</m:t>
                        </m:r>
                      </m:e>
                      <m:sub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zh-CN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0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1,</m:t>
                            </m:r>
                            <m:sSub>
                              <m:sSubPr>
                                <m:ctrlPr>
                                  <a:rPr lang="zh-CN" altLang="zh-CN" sz="1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0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en-US" altLang="zh-CN" sz="10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⊤</m:t>
                        </m:r>
                      </m:sup>
                    </m:sSup>
                  </m:oMath>
                </a14:m>
                <a:r>
                  <a:rPr lang="en-US" altLang="zh-CN" sz="1000" dirty="0">
                    <a:latin typeface="Arial" panose="020B060402020202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CN" sz="1000" b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𝐗</m:t>
                    </m:r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zh-CN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1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000" b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𝐗</m:t>
                                </m:r>
                              </m:e>
                              <m:sub>
                                <m:r>
                                  <a:rPr lang="en-US" altLang="zh-CN" sz="1000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10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zh-CN" altLang="zh-CN" sz="1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000" b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𝐗</m:t>
                                </m:r>
                              </m:e>
                              <m:sub>
                                <m:r>
                                  <a:rPr lang="en-US" altLang="zh-CN" sz="10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⊤</m:t>
                        </m:r>
                      </m:sup>
                    </m:sSup>
                  </m:oMath>
                </a14:m>
                <a:endParaRPr lang="zh-CN" altLang="zh-CN" sz="1000" dirty="0">
                  <a:latin typeface="Arial" panose="020B0604020202020204" pitchFamily="34" charset="0"/>
                  <a:ea typeface="DengXian" panose="02010600030101010101" pitchFamily="2" charset="-122"/>
                  <a:cs typeface="Arial" panose="020B0604020202020204" pitchFamily="34" charset="0"/>
                </a:endParaRPr>
              </a:p>
              <a:p>
                <a:pPr algn="l" rtl="0" eaLnBrk="0">
                  <a:lnSpc>
                    <a:spcPct val="116000"/>
                  </a:lnSpc>
                  <a:tabLst/>
                </a:pPr>
                <a:endParaRPr sz="1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905510" algn="l" rtl="0" eaLnBrk="0">
                  <a:lnSpc>
                    <a:spcPts val="2949"/>
                  </a:lnSpc>
                  <a:spcBef>
                    <a:spcPts val="305"/>
                  </a:spcBef>
                  <a:tabLst>
                    <a:tab pos="3449320" algn="l"/>
                  </a:tabLst>
                </a:pPr>
                <a:r>
                  <a:rPr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</a:t>
                </a:r>
                <a:endParaRPr sz="1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1552575" algn="l" rtl="0" eaLnBrk="0">
                  <a:lnSpc>
                    <a:spcPts val="2949"/>
                  </a:lnSpc>
                  <a:spcBef>
                    <a:spcPts val="129"/>
                  </a:spcBef>
                  <a:tabLst>
                    <a:tab pos="2647950" algn="l"/>
                  </a:tabLst>
                </a:pPr>
                <a:r>
                  <a:rPr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</a:t>
                </a:r>
                <a:endParaRPr sz="1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algn="l" rtl="0" eaLnBrk="0">
                  <a:lnSpc>
                    <a:spcPct val="108000"/>
                  </a:lnSpc>
                  <a:tabLst/>
                </a:pPr>
                <a:endParaRPr sz="9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77470" eaLnBrk="0">
                  <a:lnSpc>
                    <a:spcPct val="123000"/>
                  </a:lnSpc>
                  <a:spcBef>
                    <a:spcPts val="4"/>
                  </a:spcBef>
                  <a:tabLst>
                    <a:tab pos="160020" algn="l"/>
                  </a:tabLst>
                </a:pPr>
                <a:r>
                  <a:rPr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</a:t>
                </a:r>
                <a:endParaRPr sz="1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404" name="textbox 404">
                <a:extLst>
                  <a:ext uri="{FF2B5EF4-FFF2-40B4-BE49-F238E27FC236}">
                    <a16:creationId xmlns:a16="http://schemas.microsoft.com/office/drawing/2014/main" id="{5BCD4EE2-43B7-44AD-6959-9CA9832BBA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389" y="463993"/>
                <a:ext cx="3940809" cy="2803525"/>
              </a:xfrm>
              <a:prstGeom prst="rect">
                <a:avLst/>
              </a:prstGeom>
              <a:blipFill>
                <a:blip r:embed="rId2"/>
                <a:stretch>
                  <a:fillRect t="-1351"/>
                </a:stretch>
              </a:blipFill>
              <a:ln w="0" cap="flat">
                <a:noFill/>
                <a:prstDash val="solid"/>
                <a:miter lim="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22" name="picture 422">
            <a:extLst>
              <a:ext uri="{FF2B5EF4-FFF2-40B4-BE49-F238E27FC236}">
                <a16:creationId xmlns:a16="http://schemas.microsoft.com/office/drawing/2014/main" id="{16DCF871-4F23-121C-14C7-BD71C31064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81089" y="514044"/>
            <a:ext cx="65265" cy="65265"/>
          </a:xfrm>
          <a:prstGeom prst="rect">
            <a:avLst/>
          </a:prstGeom>
        </p:spPr>
      </p:pic>
      <p:sp>
        <p:nvSpPr>
          <p:cNvPr id="424" name="rect 424">
            <a:extLst>
              <a:ext uri="{FF2B5EF4-FFF2-40B4-BE49-F238E27FC236}">
                <a16:creationId xmlns:a16="http://schemas.microsoft.com/office/drawing/2014/main" id="{C292776C-73B0-1BAB-4E2F-8D0B8F782FD6}"/>
              </a:ext>
            </a:extLst>
          </p:cNvPr>
          <p:cNvSpPr/>
          <p:nvPr/>
        </p:nvSpPr>
        <p:spPr>
          <a:xfrm>
            <a:off x="0" y="0"/>
            <a:ext cx="4608004" cy="350113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26" name="textbox 426">
            <a:extLst>
              <a:ext uri="{FF2B5EF4-FFF2-40B4-BE49-F238E27FC236}">
                <a16:creationId xmlns:a16="http://schemas.microsoft.com/office/drawing/2014/main" id="{D334DA78-D3E0-9493-7438-71782F688AB5}"/>
              </a:ext>
            </a:extLst>
          </p:cNvPr>
          <p:cNvSpPr/>
          <p:nvPr/>
        </p:nvSpPr>
        <p:spPr>
          <a:xfrm>
            <a:off x="111697" y="103969"/>
            <a:ext cx="3672903" cy="209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73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400" kern="0" dirty="0">
                <a:solidFill>
                  <a:srgbClr val="CC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Heteroskedasticity Robust Variance Estimator</a:t>
            </a:r>
            <a:endParaRPr sz="1400" dirty="0">
              <a:latin typeface="Arial"/>
              <a:ea typeface="Arial"/>
              <a:cs typeface="Arial"/>
            </a:endParaRPr>
          </a:p>
        </p:txBody>
      </p:sp>
      <p:sp>
        <p:nvSpPr>
          <p:cNvPr id="428" name="textbox 428">
            <a:extLst>
              <a:ext uri="{FF2B5EF4-FFF2-40B4-BE49-F238E27FC236}">
                <a16:creationId xmlns:a16="http://schemas.microsoft.com/office/drawing/2014/main" id="{04E5C7AC-2384-9D4C-68A6-9DFD361BBB1A}"/>
              </a:ext>
            </a:extLst>
          </p:cNvPr>
          <p:cNvSpPr/>
          <p:nvPr/>
        </p:nvSpPr>
        <p:spPr>
          <a:xfrm>
            <a:off x="4329762" y="3341241"/>
            <a:ext cx="210184" cy="1022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604"/>
              </a:lnSpc>
              <a:tabLst/>
            </a:pPr>
            <a:r>
              <a:rPr sz="500" kern="0" spc="3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8</a:t>
            </a:r>
            <a:r>
              <a:rPr sz="500" kern="0" spc="2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500" kern="0" spc="3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 12</a:t>
            </a:r>
            <a:endParaRPr sz="500" dirty="0">
              <a:latin typeface="Arial"/>
              <a:ea typeface="Arial"/>
              <a:cs typeface="Arial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EAB81FFE-3A9A-49D9-DFA4-406C0FC8E7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8787" y="723160"/>
          <a:ext cx="2640011" cy="73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4" imgW="5270500" imgH="1460500" progId="Word.Document.12">
                  <p:embed/>
                </p:oleObj>
              </mc:Choice>
              <mc:Fallback>
                <p:oleObj name="文档" r:id="rId4" imgW="5270500" imgH="1460500" progId="Word.Document.12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17418F65-448F-E7D1-B712-364748874E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18787" y="723160"/>
                        <a:ext cx="2640011" cy="73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023941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C82EA-5F17-C266-B2CE-AC3BA57ED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04" name="textbox 404">
                <a:extLst>
                  <a:ext uri="{FF2B5EF4-FFF2-40B4-BE49-F238E27FC236}">
                    <a16:creationId xmlns:a16="http://schemas.microsoft.com/office/drawing/2014/main" id="{BB25CF52-7241-C031-7C7D-8BCEC931AF9C}"/>
                  </a:ext>
                </a:extLst>
              </p:cNvPr>
              <p:cNvSpPr/>
              <p:nvPr/>
            </p:nvSpPr>
            <p:spPr>
              <a:xfrm>
                <a:off x="268389" y="463993"/>
                <a:ext cx="3940809" cy="2803525"/>
              </a:xfrm>
              <a:prstGeom prst="rect">
                <a:avLst/>
              </a:prstGeom>
              <a:noFill/>
              <a:ln w="0" cap="flat">
                <a:noFill/>
                <a:prstDash val="solid"/>
                <a:miter lim="0"/>
              </a:ln>
            </p:spPr>
            <p:txBody>
              <a:bodyPr vert="horz" wrap="square" lIns="0" tIns="0" rIns="0" bIns="0"/>
              <a:lstStyle/>
              <a:p>
                <a:pPr algn="l" rtl="0" eaLnBrk="0">
                  <a:lnSpc>
                    <a:spcPct val="80703"/>
                  </a:lnSpc>
                  <a:tabLst/>
                </a:pPr>
                <a:endParaRPr sz="1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77470" algn="l" rtl="0" eaLnBrk="0">
                  <a:lnSpc>
                    <a:spcPct val="92000"/>
                  </a:lnSpc>
                  <a:tabLst>
                    <a:tab pos="160020" algn="l"/>
                  </a:tabLst>
                </a:pPr>
                <a:r>
                  <a:rPr sz="1000" kern="0" dirty="0">
                    <a:solidFill>
                      <a:srgbClr val="BD1A1A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Eicker-Huber-White robust variance estimator</a:t>
                </a:r>
                <a:r>
                  <a:rPr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:</a:t>
                </a:r>
                <a:endParaRPr lang="en-US" sz="10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77470" algn="l" rtl="0" eaLnBrk="0">
                  <a:lnSpc>
                    <a:spcPct val="92000"/>
                  </a:lnSpc>
                  <a:tabLst>
                    <a:tab pos="160020" algn="l"/>
                  </a:tabLst>
                </a:pPr>
                <a:endParaRPr lang="en-US" sz="10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77470" algn="l" rtl="0" eaLnBrk="0">
                  <a:lnSpc>
                    <a:spcPct val="92000"/>
                  </a:lnSpc>
                  <a:tabLst>
                    <a:tab pos="160020" algn="l"/>
                  </a:tabLst>
                </a:pPr>
                <a:endParaRPr lang="en-US" sz="10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77470" algn="l" rtl="0" eaLnBrk="0">
                  <a:lnSpc>
                    <a:spcPct val="92000"/>
                  </a:lnSpc>
                  <a:tabLst>
                    <a:tab pos="160020" algn="l"/>
                  </a:tabLst>
                </a:pPr>
                <a:endParaRPr sz="1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1165860" algn="l" rtl="0" eaLnBrk="0">
                  <a:lnSpc>
                    <a:spcPts val="3394"/>
                  </a:lnSpc>
                  <a:spcBef>
                    <a:spcPts val="251"/>
                  </a:spcBef>
                  <a:tabLst>
                    <a:tab pos="3927475" algn="l"/>
                  </a:tabLst>
                </a:pPr>
                <a:r>
                  <a:rPr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</a:t>
                </a:r>
                <a:endParaRPr sz="1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>
                  <a:buNone/>
                </a:pPr>
                <a:r>
                  <a:rPr lang="en-US" altLang="zh-CN" sz="1000" dirty="0">
                    <a:latin typeface="Arial" panose="020B060402020202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    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000" b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𝐗</m:t>
                        </m:r>
                      </m:e>
                      <m:sub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zh-CN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0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1,</m:t>
                            </m:r>
                            <m:sSub>
                              <m:sSubPr>
                                <m:ctrlPr>
                                  <a:rPr lang="zh-CN" altLang="zh-CN" sz="1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0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en-US" altLang="zh-CN" sz="10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⊤</m:t>
                        </m:r>
                      </m:sup>
                    </m:sSup>
                  </m:oMath>
                </a14:m>
                <a:r>
                  <a:rPr lang="en-US" altLang="zh-CN" sz="1000" dirty="0">
                    <a:latin typeface="Arial" panose="020B060402020202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CN" sz="1000" b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𝐗</m:t>
                    </m:r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zh-CN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1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000" b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𝐗</m:t>
                                </m:r>
                              </m:e>
                              <m:sub>
                                <m:r>
                                  <a:rPr lang="en-US" altLang="zh-CN" sz="1000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10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zh-CN" altLang="zh-CN" sz="1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000" b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𝐗</m:t>
                                </m:r>
                              </m:e>
                              <m:sub>
                                <m:r>
                                  <a:rPr lang="en-US" altLang="zh-CN" sz="10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⊤</m:t>
                        </m:r>
                      </m:sup>
                    </m:sSup>
                  </m:oMath>
                </a14:m>
                <a:endParaRPr lang="zh-CN" altLang="zh-CN" sz="1000" dirty="0">
                  <a:latin typeface="Arial" panose="020B0604020202020204" pitchFamily="34" charset="0"/>
                  <a:ea typeface="DengXian" panose="02010600030101010101" pitchFamily="2" charset="-122"/>
                  <a:cs typeface="Arial" panose="020B0604020202020204" pitchFamily="34" charset="0"/>
                </a:endParaRPr>
              </a:p>
              <a:p>
                <a:pPr algn="l" rtl="0" eaLnBrk="0">
                  <a:lnSpc>
                    <a:spcPct val="116000"/>
                  </a:lnSpc>
                  <a:tabLst/>
                </a:pPr>
                <a:endParaRPr sz="1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905510" algn="l" rtl="0" eaLnBrk="0">
                  <a:lnSpc>
                    <a:spcPts val="2949"/>
                  </a:lnSpc>
                  <a:spcBef>
                    <a:spcPts val="305"/>
                  </a:spcBef>
                  <a:tabLst>
                    <a:tab pos="3449320" algn="l"/>
                  </a:tabLst>
                </a:pPr>
                <a:r>
                  <a:rPr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</a:t>
                </a:r>
                <a:endParaRPr sz="1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1552575" algn="l" rtl="0" eaLnBrk="0">
                  <a:lnSpc>
                    <a:spcPts val="2949"/>
                  </a:lnSpc>
                  <a:spcBef>
                    <a:spcPts val="129"/>
                  </a:spcBef>
                  <a:tabLst>
                    <a:tab pos="2647950" algn="l"/>
                  </a:tabLst>
                </a:pPr>
                <a:r>
                  <a:rPr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</a:t>
                </a:r>
                <a:endParaRPr sz="1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algn="l" rtl="0" eaLnBrk="0">
                  <a:lnSpc>
                    <a:spcPct val="108000"/>
                  </a:lnSpc>
                  <a:tabLst/>
                </a:pPr>
                <a:endParaRPr sz="9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77470" eaLnBrk="0">
                  <a:lnSpc>
                    <a:spcPct val="123000"/>
                  </a:lnSpc>
                  <a:spcBef>
                    <a:spcPts val="4"/>
                  </a:spcBef>
                  <a:tabLst>
                    <a:tab pos="160020" algn="l"/>
                  </a:tabLst>
                </a:pPr>
                <a:r>
                  <a:rPr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</a:t>
                </a:r>
                <a:endParaRPr sz="1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404" name="textbox 404">
                <a:extLst>
                  <a:ext uri="{FF2B5EF4-FFF2-40B4-BE49-F238E27FC236}">
                    <a16:creationId xmlns:a16="http://schemas.microsoft.com/office/drawing/2014/main" id="{BB25CF52-7241-C031-7C7D-8BCEC931AF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389" y="463993"/>
                <a:ext cx="3940809" cy="2803525"/>
              </a:xfrm>
              <a:prstGeom prst="rect">
                <a:avLst/>
              </a:prstGeom>
              <a:blipFill>
                <a:blip r:embed="rId2"/>
                <a:stretch>
                  <a:fillRect t="-1351"/>
                </a:stretch>
              </a:blipFill>
              <a:ln w="0" cap="flat">
                <a:noFill/>
                <a:prstDash val="solid"/>
                <a:miter lim="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22" name="picture 422">
            <a:extLst>
              <a:ext uri="{FF2B5EF4-FFF2-40B4-BE49-F238E27FC236}">
                <a16:creationId xmlns:a16="http://schemas.microsoft.com/office/drawing/2014/main" id="{0B926FD1-3A0E-14DB-7AFF-AA76140FF7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81089" y="514044"/>
            <a:ext cx="65265" cy="65265"/>
          </a:xfrm>
          <a:prstGeom prst="rect">
            <a:avLst/>
          </a:prstGeom>
        </p:spPr>
      </p:pic>
      <p:sp>
        <p:nvSpPr>
          <p:cNvPr id="424" name="rect 424">
            <a:extLst>
              <a:ext uri="{FF2B5EF4-FFF2-40B4-BE49-F238E27FC236}">
                <a16:creationId xmlns:a16="http://schemas.microsoft.com/office/drawing/2014/main" id="{F58FB1C5-6214-9143-C5F9-64E1549E76FF}"/>
              </a:ext>
            </a:extLst>
          </p:cNvPr>
          <p:cNvSpPr/>
          <p:nvPr/>
        </p:nvSpPr>
        <p:spPr>
          <a:xfrm>
            <a:off x="0" y="0"/>
            <a:ext cx="4608004" cy="350113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26" name="textbox 426">
            <a:extLst>
              <a:ext uri="{FF2B5EF4-FFF2-40B4-BE49-F238E27FC236}">
                <a16:creationId xmlns:a16="http://schemas.microsoft.com/office/drawing/2014/main" id="{06892961-6709-37EF-4D3C-501A98B7C821}"/>
              </a:ext>
            </a:extLst>
          </p:cNvPr>
          <p:cNvSpPr/>
          <p:nvPr/>
        </p:nvSpPr>
        <p:spPr>
          <a:xfrm>
            <a:off x="111697" y="103969"/>
            <a:ext cx="3672903" cy="209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73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400" kern="0" dirty="0">
                <a:solidFill>
                  <a:srgbClr val="CC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Heteroskedasticity Robust Variance Estimator</a:t>
            </a:r>
            <a:endParaRPr sz="1400" dirty="0">
              <a:latin typeface="Arial"/>
              <a:ea typeface="Arial"/>
              <a:cs typeface="Arial"/>
            </a:endParaRPr>
          </a:p>
        </p:txBody>
      </p:sp>
      <p:sp>
        <p:nvSpPr>
          <p:cNvPr id="428" name="textbox 428">
            <a:extLst>
              <a:ext uri="{FF2B5EF4-FFF2-40B4-BE49-F238E27FC236}">
                <a16:creationId xmlns:a16="http://schemas.microsoft.com/office/drawing/2014/main" id="{90D75574-A287-74F5-AF04-4EA9ED980B41}"/>
              </a:ext>
            </a:extLst>
          </p:cNvPr>
          <p:cNvSpPr/>
          <p:nvPr/>
        </p:nvSpPr>
        <p:spPr>
          <a:xfrm>
            <a:off x="4329762" y="3341241"/>
            <a:ext cx="210184" cy="1022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604"/>
              </a:lnSpc>
              <a:tabLst/>
            </a:pPr>
            <a:r>
              <a:rPr sz="500" kern="0" spc="3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8</a:t>
            </a:r>
            <a:r>
              <a:rPr sz="500" kern="0" spc="2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500" kern="0" spc="3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 12</a:t>
            </a:r>
            <a:endParaRPr sz="500" dirty="0">
              <a:latin typeface="Arial"/>
              <a:ea typeface="Arial"/>
              <a:cs typeface="Arial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AC384E23-86BB-922B-6140-F32BEC3EF34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8926" y="1817688"/>
          <a:ext cx="2979731" cy="73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4" imgW="5486400" imgH="1346200" progId="Word.Document.12">
                  <p:embed/>
                </p:oleObj>
              </mc:Choice>
              <mc:Fallback>
                <p:oleObj name="文档" r:id="rId4" imgW="5486400" imgH="1346200" progId="Word.Document.12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500250EE-8CB2-7387-75CC-40C5D1A44E3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48926" y="1817688"/>
                        <a:ext cx="2979731" cy="730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17418F65-448F-E7D1-B712-364748874EE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8787" y="723160"/>
          <a:ext cx="2640011" cy="73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6" imgW="5270500" imgH="1460500" progId="Word.Document.12">
                  <p:embed/>
                </p:oleObj>
              </mc:Choice>
              <mc:Fallback>
                <p:oleObj name="文档" r:id="rId6" imgW="5270500" imgH="1460500" progId="Word.Document.12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A446BB0E-8CF0-F849-6674-4175059DCC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18787" y="723160"/>
                        <a:ext cx="2640011" cy="73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98410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04" name="textbox 404"/>
              <p:cNvSpPr/>
              <p:nvPr/>
            </p:nvSpPr>
            <p:spPr>
              <a:xfrm>
                <a:off x="268389" y="463993"/>
                <a:ext cx="3940809" cy="2803525"/>
              </a:xfrm>
              <a:prstGeom prst="rect">
                <a:avLst/>
              </a:prstGeom>
              <a:noFill/>
              <a:ln w="0" cap="flat">
                <a:noFill/>
                <a:prstDash val="solid"/>
                <a:miter lim="0"/>
              </a:ln>
            </p:spPr>
            <p:txBody>
              <a:bodyPr vert="horz" wrap="square" lIns="0" tIns="0" rIns="0" bIns="0"/>
              <a:lstStyle/>
              <a:p>
                <a:pPr algn="l" rtl="0" eaLnBrk="0">
                  <a:lnSpc>
                    <a:spcPct val="80703"/>
                  </a:lnSpc>
                  <a:tabLst/>
                </a:pPr>
                <a:endParaRPr sz="1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77470" algn="l" rtl="0" eaLnBrk="0">
                  <a:lnSpc>
                    <a:spcPct val="92000"/>
                  </a:lnSpc>
                  <a:tabLst>
                    <a:tab pos="160020" algn="l"/>
                  </a:tabLst>
                </a:pPr>
                <a:r>
                  <a:rPr sz="1000" kern="0" dirty="0">
                    <a:solidFill>
                      <a:srgbClr val="BD1A1A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Eicker-Huber-White robust variance estimator</a:t>
                </a:r>
                <a:r>
                  <a:rPr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:</a:t>
                </a:r>
                <a:endParaRPr lang="en-US" sz="10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77470" algn="l" rtl="0" eaLnBrk="0">
                  <a:lnSpc>
                    <a:spcPct val="92000"/>
                  </a:lnSpc>
                  <a:tabLst>
                    <a:tab pos="160020" algn="l"/>
                  </a:tabLst>
                </a:pPr>
                <a:endParaRPr lang="en-US" sz="10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77470" algn="l" rtl="0" eaLnBrk="0">
                  <a:lnSpc>
                    <a:spcPct val="92000"/>
                  </a:lnSpc>
                  <a:tabLst>
                    <a:tab pos="160020" algn="l"/>
                  </a:tabLst>
                </a:pPr>
                <a:endParaRPr lang="en-US" sz="10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77470" algn="l" rtl="0" eaLnBrk="0">
                  <a:lnSpc>
                    <a:spcPct val="92000"/>
                  </a:lnSpc>
                  <a:tabLst>
                    <a:tab pos="160020" algn="l"/>
                  </a:tabLst>
                </a:pPr>
                <a:endParaRPr sz="1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1165860" algn="l" rtl="0" eaLnBrk="0">
                  <a:lnSpc>
                    <a:spcPts val="3394"/>
                  </a:lnSpc>
                  <a:spcBef>
                    <a:spcPts val="251"/>
                  </a:spcBef>
                  <a:tabLst>
                    <a:tab pos="3927475" algn="l"/>
                  </a:tabLst>
                </a:pPr>
                <a:r>
                  <a:rPr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</a:t>
                </a:r>
                <a:endParaRPr sz="1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>
                  <a:buNone/>
                </a:pPr>
                <a:r>
                  <a:rPr lang="en-US" altLang="zh-CN" sz="1000" dirty="0">
                    <a:latin typeface="Arial" panose="020B060402020202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    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000" b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𝐗</m:t>
                        </m:r>
                      </m:e>
                      <m:sub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zh-CN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0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1,</m:t>
                            </m:r>
                            <m:sSub>
                              <m:sSubPr>
                                <m:ctrlPr>
                                  <a:rPr lang="zh-CN" altLang="zh-CN" sz="1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0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en-US" altLang="zh-CN" sz="10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⊤</m:t>
                        </m:r>
                      </m:sup>
                    </m:sSup>
                  </m:oMath>
                </a14:m>
                <a:r>
                  <a:rPr lang="en-US" altLang="zh-CN" sz="1000" dirty="0">
                    <a:latin typeface="Arial" panose="020B060402020202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CN" sz="1000" b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𝐗</m:t>
                    </m:r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zh-CN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1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000" b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𝐗</m:t>
                                </m:r>
                              </m:e>
                              <m:sub>
                                <m:r>
                                  <a:rPr lang="en-US" altLang="zh-CN" sz="1000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10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zh-CN" altLang="zh-CN" sz="1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000" b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𝐗</m:t>
                                </m:r>
                              </m:e>
                              <m:sub>
                                <m:r>
                                  <a:rPr lang="en-US" altLang="zh-CN" sz="10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⊤</m:t>
                        </m:r>
                      </m:sup>
                    </m:sSup>
                  </m:oMath>
                </a14:m>
                <a:endParaRPr lang="zh-CN" altLang="zh-CN" sz="1000" dirty="0">
                  <a:latin typeface="Arial" panose="020B0604020202020204" pitchFamily="34" charset="0"/>
                  <a:ea typeface="DengXian" panose="02010600030101010101" pitchFamily="2" charset="-122"/>
                  <a:cs typeface="Arial" panose="020B0604020202020204" pitchFamily="34" charset="0"/>
                </a:endParaRPr>
              </a:p>
              <a:p>
                <a:pPr algn="l" rtl="0" eaLnBrk="0">
                  <a:lnSpc>
                    <a:spcPct val="116000"/>
                  </a:lnSpc>
                  <a:tabLst/>
                </a:pPr>
                <a:endParaRPr sz="1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905510" algn="l" rtl="0" eaLnBrk="0">
                  <a:lnSpc>
                    <a:spcPts val="2949"/>
                  </a:lnSpc>
                  <a:spcBef>
                    <a:spcPts val="305"/>
                  </a:spcBef>
                  <a:tabLst>
                    <a:tab pos="3449320" algn="l"/>
                  </a:tabLst>
                </a:pPr>
                <a:r>
                  <a:rPr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</a:t>
                </a:r>
                <a:endParaRPr sz="1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1552575" algn="l" rtl="0" eaLnBrk="0">
                  <a:lnSpc>
                    <a:spcPts val="2949"/>
                  </a:lnSpc>
                  <a:spcBef>
                    <a:spcPts val="129"/>
                  </a:spcBef>
                  <a:tabLst>
                    <a:tab pos="2647950" algn="l"/>
                  </a:tabLst>
                </a:pPr>
                <a:r>
                  <a:rPr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</a:t>
                </a:r>
                <a:endParaRPr sz="1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algn="l" rtl="0" eaLnBrk="0">
                  <a:lnSpc>
                    <a:spcPct val="108000"/>
                  </a:lnSpc>
                  <a:tabLst/>
                </a:pPr>
                <a:endParaRPr sz="9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77470" eaLnBrk="0">
                  <a:lnSpc>
                    <a:spcPct val="123000"/>
                  </a:lnSpc>
                  <a:spcBef>
                    <a:spcPts val="4"/>
                  </a:spcBef>
                  <a:tabLst>
                    <a:tab pos="160020" algn="l"/>
                  </a:tabLst>
                </a:pPr>
                <a:r>
                  <a:rPr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HC2 variant of the EHW variance estimator is ident</a:t>
                </a:r>
                <a:r>
                  <a:rPr lang="en-US"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i</a:t>
                </a:r>
                <a:r>
                  <a:rPr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cal to </a:t>
                </a:r>
                <a14:m>
                  <m:oMath xmlns:m="http://schemas.openxmlformats.org/officeDocument/2006/math">
                    <m:acc>
                      <m:accPr>
                        <m:chr m:val="ˆ"/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</m:acc>
                  </m:oMath>
                </a14:m>
                <a:r>
                  <a:rPr lang="zh-CN" altLang="zh-CN" sz="1000" dirty="0"/>
                  <a:t> </a:t>
                </a:r>
                <a:r>
                  <a:rPr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         	R code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lm</m:t>
                    </m:r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1000" i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∼</m:t>
                    </m:r>
                    <m:r>
                      <a:rPr lang="en-US" altLang="zh-CN" sz="1000" i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𝑍</m:t>
                    </m:r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zh-CN" sz="1000" dirty="0"/>
                  <a:t> </a:t>
                </a:r>
                <a:r>
                  <a:rPr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and</a:t>
                </a:r>
                <a:r>
                  <a:rPr lang="en-US" altLang="zh-CN" sz="1000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1000" dirty="0" err="1">
                    <a:latin typeface="Arial" panose="020B060402020202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hccm</a:t>
                </a:r>
                <a:r>
                  <a:rPr lang="en-US" altLang="zh-CN" sz="1000" dirty="0">
                    <a:latin typeface="Arial" panose="020B060402020202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(model, type='hc2')</a:t>
                </a:r>
                <a:r>
                  <a:rPr lang="zh-CN" altLang="zh-CN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sz="1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404" name="textbox 40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389" y="463993"/>
                <a:ext cx="3940809" cy="2803525"/>
              </a:xfrm>
              <a:prstGeom prst="rect">
                <a:avLst/>
              </a:prstGeom>
              <a:blipFill>
                <a:blip r:embed="rId2"/>
                <a:stretch>
                  <a:fillRect t="-1351"/>
                </a:stretch>
              </a:blipFill>
              <a:ln w="0" cap="flat">
                <a:noFill/>
                <a:prstDash val="solid"/>
                <a:miter lim="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6" name="picture 40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81089" y="3027386"/>
            <a:ext cx="65265" cy="65265"/>
          </a:xfrm>
          <a:prstGeom prst="rect">
            <a:avLst/>
          </a:prstGeom>
        </p:spPr>
      </p:pic>
      <p:pic>
        <p:nvPicPr>
          <p:cNvPr id="412" name="picture 4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81089" y="2837280"/>
            <a:ext cx="65265" cy="65265"/>
          </a:xfrm>
          <a:prstGeom prst="rect">
            <a:avLst/>
          </a:prstGeom>
        </p:spPr>
      </p:pic>
      <p:pic>
        <p:nvPicPr>
          <p:cNvPr id="422" name="picture 4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81089" y="514044"/>
            <a:ext cx="65265" cy="65265"/>
          </a:xfrm>
          <a:prstGeom prst="rect">
            <a:avLst/>
          </a:prstGeom>
        </p:spPr>
      </p:pic>
      <p:sp>
        <p:nvSpPr>
          <p:cNvPr id="424" name="rect 424"/>
          <p:cNvSpPr/>
          <p:nvPr/>
        </p:nvSpPr>
        <p:spPr>
          <a:xfrm>
            <a:off x="0" y="0"/>
            <a:ext cx="4608004" cy="350113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26" name="textbox 426"/>
          <p:cNvSpPr/>
          <p:nvPr/>
        </p:nvSpPr>
        <p:spPr>
          <a:xfrm>
            <a:off x="111697" y="103969"/>
            <a:ext cx="3672903" cy="209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73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400" kern="0" dirty="0">
                <a:solidFill>
                  <a:srgbClr val="CC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Heteroskedasticity Robust Variance Estimator</a:t>
            </a:r>
            <a:endParaRPr sz="1400" dirty="0">
              <a:latin typeface="Arial"/>
              <a:ea typeface="Arial"/>
              <a:cs typeface="Arial"/>
            </a:endParaRPr>
          </a:p>
        </p:txBody>
      </p:sp>
      <p:sp>
        <p:nvSpPr>
          <p:cNvPr id="428" name="textbox 428"/>
          <p:cNvSpPr/>
          <p:nvPr/>
        </p:nvSpPr>
        <p:spPr>
          <a:xfrm>
            <a:off x="4329762" y="3341241"/>
            <a:ext cx="210184" cy="1022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604"/>
              </a:lnSpc>
              <a:tabLst/>
            </a:pPr>
            <a:r>
              <a:rPr sz="500" kern="0" spc="3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8</a:t>
            </a:r>
            <a:r>
              <a:rPr sz="500" kern="0" spc="2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500" kern="0" spc="3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 12</a:t>
            </a:r>
            <a:endParaRPr sz="500" dirty="0">
              <a:latin typeface="Arial"/>
              <a:ea typeface="Arial"/>
              <a:cs typeface="Arial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500250EE-8CB2-7387-75CC-40C5D1A44E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1002146"/>
              </p:ext>
            </p:extLst>
          </p:nvPr>
        </p:nvGraphicFramePr>
        <p:xfrm>
          <a:off x="748926" y="1817688"/>
          <a:ext cx="2979731" cy="73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6" imgW="5486400" imgH="1346200" progId="Word.Document.12">
                  <p:embed/>
                </p:oleObj>
              </mc:Choice>
              <mc:Fallback>
                <p:oleObj name="文档" r:id="rId6" imgW="5486400" imgH="134620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48926" y="1817688"/>
                        <a:ext cx="2979731" cy="730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A446BB0E-8CF0-F849-6674-4175059DCC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4416366"/>
              </p:ext>
            </p:extLst>
          </p:nvPr>
        </p:nvGraphicFramePr>
        <p:xfrm>
          <a:off x="918787" y="723160"/>
          <a:ext cx="2640011" cy="73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8" imgW="5270500" imgH="1460500" progId="Word.Document.12">
                  <p:embed/>
                </p:oleObj>
              </mc:Choice>
              <mc:Fallback>
                <p:oleObj name="文档" r:id="rId8" imgW="5270500" imgH="146050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918787" y="723160"/>
                        <a:ext cx="2640011" cy="73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2" name="picture 11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10108" y="2647608"/>
            <a:ext cx="114214" cy="114214"/>
          </a:xfrm>
          <a:prstGeom prst="rect">
            <a:avLst/>
          </a:prstGeom>
        </p:spPr>
      </p:pic>
      <p:pic>
        <p:nvPicPr>
          <p:cNvPr id="1104" name="picture 110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10108" y="2343938"/>
            <a:ext cx="114214" cy="114214"/>
          </a:xfrm>
          <a:prstGeom prst="rect">
            <a:avLst/>
          </a:prstGeom>
        </p:spPr>
      </p:pic>
      <p:pic>
        <p:nvPicPr>
          <p:cNvPr id="1106" name="picture 110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10108" y="2951266"/>
            <a:ext cx="114214" cy="114214"/>
          </a:xfrm>
          <a:prstGeom prst="rect">
            <a:avLst/>
          </a:prstGeom>
        </p:spPr>
      </p:pic>
      <p:pic>
        <p:nvPicPr>
          <p:cNvPr id="1108" name="picture 110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10108" y="2495779"/>
            <a:ext cx="114214" cy="114214"/>
          </a:xfrm>
          <a:prstGeom prst="rect">
            <a:avLst/>
          </a:prstGeom>
        </p:spPr>
      </p:pic>
      <p:pic>
        <p:nvPicPr>
          <p:cNvPr id="1110" name="picture 11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10108" y="2799438"/>
            <a:ext cx="114214" cy="11421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12" name="textbox 1112"/>
              <p:cNvSpPr/>
              <p:nvPr/>
            </p:nvSpPr>
            <p:spPr>
              <a:xfrm>
                <a:off x="268389" y="631495"/>
                <a:ext cx="4168775" cy="2458085"/>
              </a:xfrm>
              <a:prstGeom prst="rect">
                <a:avLst/>
              </a:prstGeom>
              <a:noFill/>
              <a:ln w="0" cap="flat">
                <a:noFill/>
                <a:prstDash val="solid"/>
                <a:miter lim="0"/>
              </a:ln>
            </p:spPr>
            <p:txBody>
              <a:bodyPr vert="horz" wrap="square" lIns="0" tIns="0" rIns="0" bIns="0"/>
              <a:lstStyle/>
              <a:p>
                <a:pPr algn="l" rtl="0" eaLnBrk="0">
                  <a:lnSpc>
                    <a:spcPct val="14502"/>
                  </a:lnSpc>
                  <a:tabLst/>
                </a:pPr>
                <a:endParaRPr sz="1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157480" indent="-80010" eaLnBrk="0">
                  <a:lnSpc>
                    <a:spcPct val="107000"/>
                  </a:lnSpc>
                  <a:tabLst>
                    <a:tab pos="156210" algn="l"/>
                  </a:tabLst>
                </a:pPr>
                <a:r>
                  <a:rPr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Can perspective-taking </a:t>
                </a:r>
                <a14:m>
                  <m:oMath xmlns:m="http://schemas.openxmlformats.org/officeDocument/2006/math">
                    <m:r>
                      <a:rPr lang="zh-CN" altLang="en-US" sz="1000" i="1" kern="0" smtClean="0">
                        <a:solidFill>
                          <a:srgbClr val="000000">
                            <a:alpha val="100000"/>
                          </a:srgbClr>
                        </a:solidFill>
                        <a:latin typeface="Cambria Math" panose="02040503050406030204" pitchFamily="18" charset="0"/>
                        <a:ea typeface="Arial"/>
                        <a:cs typeface="Arial" panose="020B0604020202020204" pitchFamily="34" charset="0"/>
                      </a:rPr>
                      <m:t>−</m:t>
                    </m:r>
                  </m:oMath>
                </a14:m>
                <a:r>
                  <a:rPr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“imagining the world from another's           perspective” </a:t>
                </a:r>
                <a14:m>
                  <m:oMath xmlns:m="http://schemas.openxmlformats.org/officeDocument/2006/math">
                    <m:r>
                      <a:rPr lang="zh-CN" altLang="en-US" sz="1000" i="1" kern="0">
                        <a:solidFill>
                          <a:srgbClr val="000000">
                            <a:alpha val="100000"/>
                          </a:srgbClr>
                        </a:solidFill>
                        <a:latin typeface="Cambria Math" panose="02040503050406030204" pitchFamily="18" charset="0"/>
                        <a:ea typeface="Arial"/>
                        <a:cs typeface="Arial" panose="020B0604020202020204" pitchFamily="34" charset="0"/>
                      </a:rPr>
                      <m:t>−</m:t>
                    </m:r>
                  </m:oMath>
                </a14:m>
                <a:r>
                  <a:rPr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reduce transphobia?</a:t>
                </a:r>
                <a:endParaRPr sz="1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149225" indent="-71755" eaLnBrk="0">
                  <a:lnSpc>
                    <a:spcPct val="108000"/>
                  </a:lnSpc>
                  <a:spcBef>
                    <a:spcPts val="1394"/>
                  </a:spcBef>
                  <a:tabLst>
                    <a:tab pos="151765" algn="l"/>
                  </a:tabLst>
                </a:pPr>
                <a:r>
                  <a:rPr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	Treatment group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=912</m:t>
                    </m:r>
                  </m:oMath>
                </a14:m>
                <a:r>
                  <a:rPr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):  canvasser asking people to think about a time when they were judged unfairly and were guided to translate   that experience to a transgender individual's experience</a:t>
                </a:r>
                <a:endParaRPr sz="1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77470" eaLnBrk="0">
                  <a:lnSpc>
                    <a:spcPct val="99000"/>
                  </a:lnSpc>
                  <a:spcBef>
                    <a:spcPts val="527"/>
                  </a:spcBef>
                  <a:tabLst>
                    <a:tab pos="156210" algn="l"/>
                  </a:tabLst>
                </a:pPr>
                <a:r>
                  <a:rPr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Control group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1000" b="0" i="0" smtClea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=91</m:t>
                    </m:r>
                    <m:r>
                      <a:rPr lang="en-US" altLang="zh-CN" sz="1000" b="0" i="0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): canvasser asking people to recycle</a:t>
                </a:r>
                <a:endParaRPr sz="1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157480" indent="-80010" algn="l" rtl="0" eaLnBrk="0">
                  <a:lnSpc>
                    <a:spcPct val="96000"/>
                  </a:lnSpc>
                  <a:spcBef>
                    <a:spcPts val="1214"/>
                  </a:spcBef>
                  <a:tabLst>
                    <a:tab pos="154940" algn="l"/>
                  </a:tabLst>
                </a:pPr>
                <a:r>
                  <a:rPr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Outcome variable: feeling thermometer towards transgender people </a:t>
                </a:r>
                <a:r>
                  <a:rPr lang="en-US"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  </a:t>
                </a:r>
                <a:r>
                  <a:rPr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(0 - 100)</a:t>
                </a:r>
                <a:endParaRPr sz="1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285115" algn="l" rtl="0" eaLnBrk="0">
                  <a:lnSpc>
                    <a:spcPct val="93000"/>
                  </a:lnSpc>
                  <a:spcBef>
                    <a:spcPts val="367"/>
                  </a:spcBef>
                  <a:tabLst/>
                </a:pPr>
                <a:r>
                  <a:rPr sz="900" kern="0" baseline="11575" dirty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1</a:t>
                </a:r>
                <a:r>
                  <a:rPr sz="500" kern="0" dirty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   </a:t>
                </a:r>
                <a:r>
                  <a:rPr lang="zh-CN" altLang="en-US" sz="500" kern="0" dirty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 </a:t>
                </a:r>
                <a:r>
                  <a:rPr sz="9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baseline</a:t>
                </a:r>
                <a:endParaRPr sz="9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281940" algn="l" rtl="0" eaLnBrk="0">
                  <a:lnSpc>
                    <a:spcPct val="93000"/>
                  </a:lnSpc>
                  <a:spcBef>
                    <a:spcPts val="191"/>
                  </a:spcBef>
                  <a:tabLst/>
                </a:pPr>
                <a:r>
                  <a:rPr sz="900" kern="0" baseline="11575" dirty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2</a:t>
                </a:r>
                <a:r>
                  <a:rPr sz="500" kern="0" dirty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   </a:t>
                </a:r>
                <a:r>
                  <a:rPr lang="zh-CN" altLang="en-US" sz="500" kern="0" dirty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 </a:t>
                </a:r>
                <a:r>
                  <a:rPr sz="9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3 day</a:t>
                </a:r>
                <a:endParaRPr sz="9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281940" algn="l" rtl="0" eaLnBrk="0">
                  <a:lnSpc>
                    <a:spcPct val="93000"/>
                  </a:lnSpc>
                  <a:spcBef>
                    <a:spcPts val="191"/>
                  </a:spcBef>
                  <a:tabLst/>
                </a:pPr>
                <a:r>
                  <a:rPr sz="900" kern="0" baseline="11575" dirty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3</a:t>
                </a:r>
                <a:r>
                  <a:rPr sz="500" kern="0" dirty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     </a:t>
                </a:r>
                <a:r>
                  <a:rPr sz="9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3 week</a:t>
                </a:r>
                <a:endParaRPr sz="9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280670" algn="l" rtl="0" eaLnBrk="0">
                  <a:lnSpc>
                    <a:spcPct val="93000"/>
                  </a:lnSpc>
                  <a:spcBef>
                    <a:spcPts val="191"/>
                  </a:spcBef>
                  <a:tabLst/>
                </a:pPr>
                <a:r>
                  <a:rPr sz="900" kern="0" baseline="11575" dirty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4</a:t>
                </a:r>
                <a:r>
                  <a:rPr sz="500" kern="0" dirty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     </a:t>
                </a:r>
                <a:r>
                  <a:rPr sz="9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6 week</a:t>
                </a:r>
                <a:endParaRPr sz="9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281305" algn="l" rtl="0" eaLnBrk="0">
                  <a:lnSpc>
                    <a:spcPct val="93000"/>
                  </a:lnSpc>
                  <a:spcBef>
                    <a:spcPts val="191"/>
                  </a:spcBef>
                  <a:tabLst/>
                </a:pPr>
                <a:r>
                  <a:rPr sz="900" kern="0" baseline="11575" dirty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5</a:t>
                </a:r>
                <a:r>
                  <a:rPr sz="500" kern="0" dirty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     </a:t>
                </a:r>
                <a:r>
                  <a:rPr sz="9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3 month</a:t>
                </a:r>
                <a:endParaRPr sz="9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12" name="textbox 11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389" y="631495"/>
                <a:ext cx="4168775" cy="2458085"/>
              </a:xfrm>
              <a:prstGeom prst="rect">
                <a:avLst/>
              </a:prstGeom>
              <a:blipFill>
                <a:blip r:embed="rId7"/>
                <a:stretch>
                  <a:fillRect t="-1538" r="-1216" b="-2564"/>
                </a:stretch>
              </a:blipFill>
              <a:ln w="0" cap="flat">
                <a:noFill/>
                <a:prstDash val="solid"/>
                <a:miter lim="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14" name="picture 11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281089" y="2040829"/>
            <a:ext cx="65265" cy="65265"/>
          </a:xfrm>
          <a:prstGeom prst="rect">
            <a:avLst/>
          </a:prstGeom>
        </p:spPr>
      </p:pic>
      <p:pic>
        <p:nvPicPr>
          <p:cNvPr id="1116" name="picture 11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281089" y="1734441"/>
            <a:ext cx="65265" cy="65265"/>
          </a:xfrm>
          <a:prstGeom prst="rect">
            <a:avLst/>
          </a:prstGeom>
        </p:spPr>
      </p:pic>
      <p:pic>
        <p:nvPicPr>
          <p:cNvPr id="1118" name="picture 111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281089" y="1180263"/>
            <a:ext cx="65265" cy="65265"/>
          </a:xfrm>
          <a:prstGeom prst="rect">
            <a:avLst/>
          </a:prstGeom>
        </p:spPr>
      </p:pic>
      <p:pic>
        <p:nvPicPr>
          <p:cNvPr id="1120" name="picture 112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281089" y="681546"/>
            <a:ext cx="65265" cy="65265"/>
          </a:xfrm>
          <a:prstGeom prst="rect">
            <a:avLst/>
          </a:prstGeom>
        </p:spPr>
      </p:pic>
      <p:sp>
        <p:nvSpPr>
          <p:cNvPr id="1122" name="textbox 1122"/>
          <p:cNvSpPr/>
          <p:nvPr/>
        </p:nvSpPr>
        <p:spPr>
          <a:xfrm>
            <a:off x="0" y="0"/>
            <a:ext cx="4608195" cy="350520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24460" algn="l" rtl="0" eaLnBrk="0">
              <a:lnSpc>
                <a:spcPct val="86000"/>
              </a:lnSpc>
              <a:spcBef>
                <a:spcPts val="6"/>
              </a:spcBef>
              <a:tabLst/>
            </a:pPr>
            <a:r>
              <a:rPr sz="1400" kern="0" dirty="0">
                <a:solidFill>
                  <a:srgbClr val="CC0000">
                    <a:alpha val="100000"/>
                  </a:srgb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Reducing Transphobia </a:t>
            </a:r>
            <a:r>
              <a:rPr sz="900" kern="0" spc="20" dirty="0">
                <a:solidFill>
                  <a:srgbClr val="CC0000">
                    <a:alpha val="100000"/>
                  </a:srgb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(</a:t>
            </a:r>
            <a:r>
              <a:rPr sz="900" kern="0" spc="0" dirty="0">
                <a:solidFill>
                  <a:srgbClr val="CC0000">
                    <a:alpha val="100000"/>
                  </a:srgb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Brookman</a:t>
            </a:r>
            <a:r>
              <a:rPr sz="900" kern="0" spc="120" dirty="0">
                <a:solidFill>
                  <a:srgbClr val="CC0000">
                    <a:alpha val="100000"/>
                  </a:srgb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 </a:t>
            </a:r>
            <a:r>
              <a:rPr sz="900" kern="0" spc="0" dirty="0">
                <a:solidFill>
                  <a:srgbClr val="CC0000">
                    <a:alpha val="100000"/>
                  </a:srgb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and</a:t>
            </a:r>
            <a:r>
              <a:rPr sz="900" kern="0" spc="180" dirty="0">
                <a:solidFill>
                  <a:srgbClr val="CC0000">
                    <a:alpha val="100000"/>
                  </a:srgb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 </a:t>
            </a:r>
            <a:r>
              <a:rPr sz="900" kern="0" spc="0" dirty="0">
                <a:solidFill>
                  <a:srgbClr val="CC0000">
                    <a:alpha val="100000"/>
                  </a:srgb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Kalla</a:t>
            </a:r>
            <a:r>
              <a:rPr sz="900" kern="0" spc="20" dirty="0">
                <a:solidFill>
                  <a:srgbClr val="CC0000">
                    <a:alpha val="100000"/>
                  </a:srgb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,</a:t>
            </a:r>
            <a:r>
              <a:rPr sz="900" kern="0" spc="130" dirty="0">
                <a:solidFill>
                  <a:srgbClr val="CC0000">
                    <a:alpha val="100000"/>
                  </a:srgb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 </a:t>
            </a:r>
            <a:r>
              <a:rPr sz="900" kern="0" spc="20" dirty="0">
                <a:solidFill>
                  <a:srgbClr val="CC0000">
                    <a:alpha val="100000"/>
                  </a:srgb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2016,</a:t>
            </a:r>
            <a:r>
              <a:rPr sz="900" kern="0" spc="140" dirty="0">
                <a:solidFill>
                  <a:srgbClr val="CC0000">
                    <a:alpha val="100000"/>
                  </a:srgb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 </a:t>
            </a:r>
            <a:r>
              <a:rPr sz="900" kern="0" spc="0" dirty="0">
                <a:solidFill>
                  <a:srgbClr val="CC0000">
                    <a:alpha val="100000"/>
                  </a:srgb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Science</a:t>
            </a:r>
            <a:r>
              <a:rPr sz="900" kern="0" spc="20" dirty="0">
                <a:solidFill>
                  <a:srgbClr val="CC0000">
                    <a:alpha val="100000"/>
                  </a:srgb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)</a:t>
            </a:r>
            <a:endParaRPr sz="900" dirty="0">
              <a:latin typeface="Arial" panose="020B0604020202020204" pitchFamily="34" charset="0"/>
              <a:ea typeface="Arial"/>
              <a:cs typeface="Arial" panose="020B0604020202020204" pitchFamily="34" charset="0"/>
            </a:endParaRPr>
          </a:p>
        </p:txBody>
      </p:sp>
      <p:sp>
        <p:nvSpPr>
          <p:cNvPr id="2" name="textbox 428">
            <a:extLst>
              <a:ext uri="{FF2B5EF4-FFF2-40B4-BE49-F238E27FC236}">
                <a16:creationId xmlns:a16="http://schemas.microsoft.com/office/drawing/2014/main" id="{A4255361-78C2-471C-8B6A-1A1F48C7D77B}"/>
              </a:ext>
            </a:extLst>
          </p:cNvPr>
          <p:cNvSpPr/>
          <p:nvPr/>
        </p:nvSpPr>
        <p:spPr>
          <a:xfrm>
            <a:off x="4329762" y="3341241"/>
            <a:ext cx="210184" cy="1022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604"/>
              </a:lnSpc>
              <a:tabLst/>
            </a:pPr>
            <a:r>
              <a:rPr lang="en-US" sz="500" kern="0" spc="3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9</a:t>
            </a:r>
            <a:r>
              <a:rPr sz="500" kern="0" spc="2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500" kern="0" spc="3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 12</a:t>
            </a:r>
            <a:endParaRPr sz="5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126" name="textbox 1126"/>
              <p:cNvSpPr/>
              <p:nvPr/>
            </p:nvSpPr>
            <p:spPr>
              <a:xfrm>
                <a:off x="268389" y="681253"/>
                <a:ext cx="4213860" cy="2301875"/>
              </a:xfrm>
              <a:prstGeom prst="rect">
                <a:avLst/>
              </a:prstGeom>
              <a:noFill/>
              <a:ln w="0" cap="flat">
                <a:noFill/>
                <a:prstDash val="solid"/>
                <a:miter lim="0"/>
              </a:ln>
            </p:spPr>
            <p:txBody>
              <a:bodyPr vert="horz" wrap="square" lIns="0" tIns="0" rIns="0" bIns="0"/>
              <a:lstStyle/>
              <a:p>
                <a:pPr algn="l" rtl="0" eaLnBrk="0">
                  <a:lnSpc>
                    <a:spcPct val="80701"/>
                  </a:lnSpc>
                  <a:tabLst/>
                </a:pPr>
                <a:endParaRPr sz="1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77470" algn="l" rtl="0" eaLnBrk="0">
                  <a:lnSpc>
                    <a:spcPct val="92000"/>
                  </a:lnSpc>
                  <a:tabLst>
                    <a:tab pos="153035" algn="l"/>
                  </a:tabLst>
                </a:pPr>
                <a:r>
                  <a:rPr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6 week e</a:t>
                </a:r>
                <a:r>
                  <a:rPr lang="en-US"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ff</a:t>
                </a:r>
                <a:r>
                  <a:rPr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ect</a:t>
                </a:r>
                <a:endParaRPr sz="1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152400" indent="-74930" eaLnBrk="0">
                  <a:lnSpc>
                    <a:spcPct val="113000"/>
                  </a:lnSpc>
                  <a:spcBef>
                    <a:spcPts val="561"/>
                  </a:spcBef>
                  <a:tabLst>
                    <a:tab pos="160020" algn="l"/>
                  </a:tabLst>
                </a:pPr>
                <a:r>
                  <a:rPr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	Dropping additional observations with missing covariates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=278</m:t>
                    </m:r>
                  </m:oMath>
                </a14:m>
                <a:r>
                  <a:rPr lang="zh-CN" altLang="zh-CN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and</a:t>
                </a:r>
                <a:r>
                  <a:rPr lang="en-US"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=287</m:t>
                    </m:r>
                  </m:oMath>
                </a14:m>
                <a:r>
                  <a:rPr lang="zh-CN" altLang="zh-CN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en-US" altLang="zh-CN" sz="1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52400" indent="-74930" eaLnBrk="0">
                  <a:tabLst>
                    <a:tab pos="160020" algn="l"/>
                  </a:tabLst>
                </a:pPr>
                <a:endParaRPr sz="1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77470" algn="l" rtl="0" eaLnBrk="0">
                  <a:lnSpc>
                    <a:spcPct val="92000"/>
                  </a:lnSpc>
                  <a:spcBef>
                    <a:spcPts val="306"/>
                  </a:spcBef>
                  <a:tabLst>
                    <a:tab pos="160020" algn="l"/>
                  </a:tabLst>
                </a:pPr>
                <a:r>
                  <a:rPr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Di</a:t>
                </a:r>
                <a:r>
                  <a:rPr lang="en-US"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ff</a:t>
                </a:r>
                <a:r>
                  <a:rPr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erence in means: est. = 5.99, </a:t>
                </a:r>
                <a:r>
                  <a:rPr sz="1000" kern="0" dirty="0" err="1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s.e.</a:t>
                </a:r>
                <a:r>
                  <a:rPr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= 2.29, 95% CI = [1.50</a:t>
                </a:r>
                <a:r>
                  <a:rPr lang="en-US"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, </a:t>
                </a:r>
                <a:r>
                  <a:rPr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10.48]</a:t>
                </a:r>
                <a:endParaRPr sz="1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77470" algn="l" rtl="0" eaLnBrk="0">
                  <a:lnSpc>
                    <a:spcPct val="92000"/>
                  </a:lnSpc>
                  <a:spcBef>
                    <a:spcPts val="391"/>
                  </a:spcBef>
                  <a:tabLst>
                    <a:tab pos="153035" algn="l"/>
                  </a:tabLst>
                </a:pPr>
                <a:r>
                  <a:rPr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Simple regression: est. = 5.99</a:t>
                </a:r>
                <a:endParaRPr sz="1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354965" algn="l" rtl="0" eaLnBrk="0">
                  <a:lnSpc>
                    <a:spcPct val="93000"/>
                  </a:lnSpc>
                  <a:spcBef>
                    <a:spcPts val="367"/>
                  </a:spcBef>
                  <a:tabLst>
                    <a:tab pos="427355" algn="l"/>
                  </a:tabLst>
                </a:pPr>
                <a:r>
                  <a:rPr sz="9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</a:t>
                </a:r>
                <a:r>
                  <a:rPr sz="900" kern="0" dirty="0" err="1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s.e.</a:t>
                </a:r>
                <a:r>
                  <a:rPr sz="9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under homoscedasticity:  2.29</a:t>
                </a:r>
                <a:endParaRPr sz="9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354965" algn="l" rtl="0" eaLnBrk="0">
                  <a:lnSpc>
                    <a:spcPct val="93000"/>
                  </a:lnSpc>
                  <a:spcBef>
                    <a:spcPts val="191"/>
                  </a:spcBef>
                  <a:tabLst>
                    <a:tab pos="427355" algn="l"/>
                  </a:tabLst>
                </a:pPr>
                <a:r>
                  <a:rPr sz="9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</a:t>
                </a:r>
                <a:r>
                  <a:rPr sz="900" kern="0" dirty="0" err="1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s.e.</a:t>
                </a:r>
                <a:r>
                  <a:rPr lang="en-US" sz="9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</a:t>
                </a:r>
                <a:r>
                  <a:rPr sz="9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without homoscedasticity: 2.29</a:t>
                </a:r>
                <a:endParaRPr sz="9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algn="l" rtl="0" eaLnBrk="0">
                  <a:lnSpc>
                    <a:spcPct val="134000"/>
                  </a:lnSpc>
                  <a:tabLst/>
                </a:pPr>
                <a:endParaRPr sz="1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126" name="textbox 11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389" y="681253"/>
                <a:ext cx="4213860" cy="2301875"/>
              </a:xfrm>
              <a:prstGeom prst="rect">
                <a:avLst/>
              </a:prstGeom>
              <a:blipFill>
                <a:blip r:embed="rId2"/>
                <a:stretch>
                  <a:fillRect t="-1648"/>
                </a:stretch>
              </a:blipFill>
              <a:ln w="0" cap="flat">
                <a:noFill/>
                <a:prstDash val="solid"/>
                <a:miter lim="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34" name="picture 11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70865" y="2021258"/>
            <a:ext cx="52585" cy="52585"/>
          </a:xfrm>
          <a:prstGeom prst="rect">
            <a:avLst/>
          </a:prstGeom>
        </p:spPr>
      </p:pic>
      <p:pic>
        <p:nvPicPr>
          <p:cNvPr id="1136" name="picture 113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70865" y="1869431"/>
            <a:ext cx="52585" cy="52585"/>
          </a:xfrm>
          <a:prstGeom prst="rect">
            <a:avLst/>
          </a:prstGeom>
        </p:spPr>
      </p:pic>
      <p:pic>
        <p:nvPicPr>
          <p:cNvPr id="1138" name="picture 113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81089" y="1679613"/>
            <a:ext cx="65265" cy="65265"/>
          </a:xfrm>
          <a:prstGeom prst="rect">
            <a:avLst/>
          </a:prstGeom>
        </p:spPr>
      </p:pic>
      <p:pic>
        <p:nvPicPr>
          <p:cNvPr id="1140" name="picture 114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81089" y="1472571"/>
            <a:ext cx="65265" cy="65265"/>
          </a:xfrm>
          <a:prstGeom prst="rect">
            <a:avLst/>
          </a:prstGeom>
        </p:spPr>
      </p:pic>
      <p:pic>
        <p:nvPicPr>
          <p:cNvPr id="1142" name="picture 114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281089" y="958601"/>
            <a:ext cx="65265" cy="65265"/>
          </a:xfrm>
          <a:prstGeom prst="rect">
            <a:avLst/>
          </a:prstGeom>
        </p:spPr>
      </p:pic>
      <p:pic>
        <p:nvPicPr>
          <p:cNvPr id="1144" name="picture 114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281089" y="731317"/>
            <a:ext cx="65265" cy="65265"/>
          </a:xfrm>
          <a:prstGeom prst="rect">
            <a:avLst/>
          </a:prstGeom>
        </p:spPr>
      </p:pic>
      <p:sp>
        <p:nvSpPr>
          <p:cNvPr id="1146" name="textbox 1146"/>
          <p:cNvSpPr/>
          <p:nvPr/>
        </p:nvSpPr>
        <p:spPr>
          <a:xfrm>
            <a:off x="0" y="0"/>
            <a:ext cx="4608195" cy="350520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4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124460" algn="l" rtl="0" eaLnBrk="0">
              <a:lnSpc>
                <a:spcPct val="74000"/>
              </a:lnSpc>
              <a:tabLst/>
            </a:pPr>
            <a:r>
              <a:rPr sz="1400" kern="0" dirty="0">
                <a:solidFill>
                  <a:srgbClr val="CC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Durable E</a:t>
            </a:r>
            <a:r>
              <a:rPr lang="en-US" sz="1400" kern="0" dirty="0">
                <a:solidFill>
                  <a:srgbClr val="CC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</a:t>
            </a:r>
            <a:r>
              <a:rPr sz="1400" kern="0" dirty="0">
                <a:solidFill>
                  <a:srgbClr val="CC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fects</a:t>
            </a:r>
            <a:endParaRPr sz="1400" dirty="0">
              <a:latin typeface="Arial"/>
              <a:ea typeface="Arial"/>
              <a:cs typeface="Arial"/>
            </a:endParaRPr>
          </a:p>
        </p:txBody>
      </p:sp>
      <p:sp>
        <p:nvSpPr>
          <p:cNvPr id="3" name="textbox 492">
            <a:extLst>
              <a:ext uri="{FF2B5EF4-FFF2-40B4-BE49-F238E27FC236}">
                <a16:creationId xmlns:a16="http://schemas.microsoft.com/office/drawing/2014/main" id="{BA8967D4-7935-380A-44F1-EEACA4627DB0}"/>
              </a:ext>
            </a:extLst>
          </p:cNvPr>
          <p:cNvSpPr/>
          <p:nvPr/>
        </p:nvSpPr>
        <p:spPr>
          <a:xfrm>
            <a:off x="4293083" y="3341245"/>
            <a:ext cx="247015" cy="1022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604"/>
              </a:lnSpc>
              <a:tabLst/>
            </a:pPr>
            <a:r>
              <a:rPr sz="500" kern="0" spc="3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lang="en-US" sz="500" kern="0" spc="3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r>
              <a:rPr sz="500" kern="0" spc="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500" kern="0" spc="3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 12</a:t>
            </a:r>
            <a:endParaRPr sz="5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08E74-58FB-E78B-77E9-5A056502C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980" name="textbox 980">
                <a:extLst>
                  <a:ext uri="{FF2B5EF4-FFF2-40B4-BE49-F238E27FC236}">
                    <a16:creationId xmlns:a16="http://schemas.microsoft.com/office/drawing/2014/main" id="{2F86E48F-2216-5757-017A-56BB16506A4E}"/>
                  </a:ext>
                </a:extLst>
              </p:cNvPr>
              <p:cNvSpPr/>
              <p:nvPr/>
            </p:nvSpPr>
            <p:spPr>
              <a:xfrm>
                <a:off x="268388" y="607810"/>
                <a:ext cx="4206240" cy="2468245"/>
              </a:xfrm>
              <a:prstGeom prst="rect">
                <a:avLst/>
              </a:prstGeom>
              <a:noFill/>
              <a:ln w="0" cap="flat">
                <a:noFill/>
                <a:prstDash val="solid"/>
                <a:miter lim="0"/>
              </a:ln>
            </p:spPr>
            <p:txBody>
              <a:bodyPr vert="horz" wrap="square" lIns="0" tIns="0" rIns="0" bIns="0"/>
              <a:lstStyle/>
              <a:p>
                <a:pPr algn="l" rtl="0" eaLnBrk="0">
                  <a:lnSpc>
                    <a:spcPct val="77047"/>
                  </a:lnSpc>
                  <a:tabLst/>
                </a:pPr>
                <a:endParaRPr sz="1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150495" indent="-73025" eaLnBrk="0">
                  <a:lnSpc>
                    <a:spcPct val="96000"/>
                  </a:lnSpc>
                  <a:tabLst>
                    <a:tab pos="153035" algn="l"/>
                  </a:tabLst>
                </a:pPr>
                <a:r>
                  <a:rPr lang="en-US"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 </a:t>
                </a:r>
                <a:r>
                  <a:rPr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Super population inference: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(1)</m:t>
                    </m:r>
                  </m:oMath>
                </a14:m>
                <a:r>
                  <a:rPr lang="en-US" altLang="zh-CN" sz="1000" dirty="0">
                    <a:latin typeface="Arial" panose="020B060402020202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 </a:t>
                </a:r>
                <a:r>
                  <a:rPr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and</a:t>
                </a:r>
                <a:r>
                  <a:rPr lang="en-US"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1000" b="0" i="0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0</m:t>
                    </m:r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CN" sz="1000" dirty="0">
                    <a:latin typeface="Arial" panose="020B060402020202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 </a:t>
                </a:r>
                <a:r>
                  <a:rPr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are </a:t>
                </a:r>
                <a:r>
                  <a:rPr sz="1000" kern="0" dirty="0" err="1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i.i.d.</a:t>
                </a:r>
                <a:r>
                  <a:rPr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sampled from a super</a:t>
                </a:r>
                <a:r>
                  <a:rPr lang="en-US"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</a:t>
                </a:r>
                <a:r>
                  <a:rPr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population</a:t>
                </a:r>
                <a:endParaRPr sz="1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354965" algn="l" rtl="0" eaLnBrk="0">
                  <a:lnSpc>
                    <a:spcPct val="90000"/>
                  </a:lnSpc>
                  <a:spcBef>
                    <a:spcPts val="365"/>
                  </a:spcBef>
                  <a:tabLst>
                    <a:tab pos="428625" algn="l"/>
                  </a:tabLst>
                </a:pPr>
                <a:r>
                  <a:rPr sz="9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d</a:t>
                </a:r>
                <a:r>
                  <a:rPr lang="en-US" sz="9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iff</a:t>
                </a:r>
                <a:r>
                  <a:rPr sz="9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erence in means estimator</a:t>
                </a:r>
                <a:endParaRPr sz="9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354965" eaLnBrk="0">
                  <a:lnSpc>
                    <a:spcPct val="90000"/>
                  </a:lnSpc>
                  <a:spcBef>
                    <a:spcPts val="365"/>
                  </a:spcBef>
                  <a:tabLst>
                    <a:tab pos="428625" algn="l"/>
                  </a:tabLst>
                  <a:defRPr/>
                </a:pPr>
                <a:r>
                  <a:rPr kumimoji="0" lang="en" altLang="zh-CN" sz="900" b="0" i="0" u="none" strike="noStrike" kern="0" cap="none" normalizeH="0" baseline="0" noProof="0" dirty="0">
                    <a:ln>
                      <a:noFill/>
                    </a:ln>
                    <a:solidFill>
                      <a:srgbClr val="000000">
                        <a:alpha val="100000"/>
                      </a:srgb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variance: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var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zh-CN" altLang="zh-CN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1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0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altLang="zh-CN" sz="10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sz="10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(1)</m:t>
                            </m:r>
                          </m:e>
                        </m:d>
                      </m:num>
                      <m:den>
                        <m:sSub>
                          <m:sSubPr>
                            <m:ctrlPr>
                              <a:rPr lang="zh-CN" altLang="zh-CN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10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f>
                      <m:f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var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zh-CN" altLang="zh-CN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1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0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altLang="zh-CN" sz="10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sz="10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(0)</m:t>
                            </m:r>
                          </m:e>
                        </m:d>
                      </m:num>
                      <m:den>
                        <m:sSub>
                          <m:sSubPr>
                            <m:ctrlPr>
                              <a:rPr lang="zh-CN" altLang="zh-CN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10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zh-CN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</a:t>
                </a:r>
                <a:endParaRPr sz="1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77470" eaLnBrk="0">
                  <a:lnSpc>
                    <a:spcPct val="95000"/>
                  </a:lnSpc>
                  <a:spcBef>
                    <a:spcPts val="1000"/>
                  </a:spcBef>
                  <a:tabLst>
                    <a:tab pos="160020" algn="l"/>
                  </a:tabLst>
                </a:pPr>
                <a:r>
                  <a:rPr lang="en-US"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 Fi</a:t>
                </a:r>
                <a:r>
                  <a:rPr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nite population inference: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ar-AE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ar-AE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(1)</m:t>
                    </m:r>
                  </m:oMath>
                </a14:m>
                <a:r>
                  <a:rPr lang="ar-AE" altLang="zh-CN" sz="1000" dirty="0">
                    <a:latin typeface="Arial" panose="020B060402020202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 </a:t>
                </a:r>
                <a:r>
                  <a:rPr lang="en" altLang="zh-CN"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ar-AE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ar-AE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(0)</m:t>
                    </m:r>
                  </m:oMath>
                </a14:m>
                <a:r>
                  <a:rPr lang="ar-AE" altLang="zh-CN" sz="1000" dirty="0">
                    <a:latin typeface="Arial" panose="020B060402020202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 </a:t>
                </a:r>
                <a:r>
                  <a:rPr lang="en" altLang="zh-CN"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are fixed</a:t>
                </a:r>
                <a:endParaRPr sz="10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354965" marR="0" lvl="0" indent="0" algn="l" defTabSz="914400" rtl="0" eaLnBrk="0" fontAlgn="auto" latinLnBrk="0" hangingPunct="1">
                  <a:lnSpc>
                    <a:spcPct val="90000"/>
                  </a:lnSpc>
                  <a:spcBef>
                    <a:spcPts val="365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428625" algn="l"/>
                  </a:tabLst>
                  <a:defRPr/>
                </a:pPr>
                <a:r>
                  <a:rPr kumimoji="0" lang="en" altLang="zh-CN" sz="900" b="0" i="0" u="none" strike="noStrike" kern="0" cap="none" normalizeH="0" baseline="0" noProof="0" dirty="0">
                    <a:ln>
                      <a:noFill/>
                    </a:ln>
                    <a:solidFill>
                      <a:srgbClr val="000000">
                        <a:alpha val="100000"/>
                      </a:srgb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difference in means estimator</a:t>
                </a:r>
                <a:endParaRPr kumimoji="0" lang="en" altLang="zh-CN" sz="900" b="0" i="0" u="none" strike="noStrike" kern="1200" cap="none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354965" eaLnBrk="0">
                  <a:lnSpc>
                    <a:spcPct val="90000"/>
                  </a:lnSpc>
                  <a:spcBef>
                    <a:spcPts val="365"/>
                  </a:spcBef>
                  <a:tabLst>
                    <a:tab pos="428625" algn="l"/>
                  </a:tabLst>
                  <a:defRPr/>
                </a:pPr>
                <a:r>
                  <a:rPr lang="en" altLang="zh-CN" sz="9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</a:t>
                </a:r>
                <a:r>
                  <a:rPr kumimoji="0" lang="en" altLang="zh-CN" sz="900" b="0" i="0" u="none" strike="noStrike" kern="0" cap="none" normalizeH="0" baseline="0" noProof="0" dirty="0">
                    <a:ln>
                      <a:noFill/>
                    </a:ln>
                    <a:solidFill>
                      <a:srgbClr val="000000">
                        <a:alpha val="100000"/>
                      </a:srgb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variance: </a:t>
                </a:r>
                <a:r>
                  <a:rPr lang="zh-CN" altLang="zh-CN" sz="1000" dirty="0">
                    <a:latin typeface="Arial" panose="020B0604020202020204" pitchFamily="34" charset="0"/>
                    <a:ea typeface="Georgia" panose="02040502050405020303" pitchFamily="18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zh-CN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p>
                            <m:r>
                              <a:rPr lang="en-US" altLang="zh-CN" sz="10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(1)</m:t>
                        </m:r>
                      </m:num>
                      <m:den>
                        <m:sSub>
                          <m:sSubPr>
                            <m:ctrlPr>
                              <a:rPr lang="zh-CN" altLang="zh-CN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10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f>
                      <m:f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zh-CN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p>
                            <m:r>
                              <a:rPr lang="en-US" altLang="zh-CN" sz="10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(0)</m:t>
                        </m:r>
                      </m:num>
                      <m:den>
                        <m:sSub>
                          <m:sSubPr>
                            <m:ctrlPr>
                              <a:rPr lang="zh-CN" altLang="zh-CN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10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zh-CN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p>
                            <m:r>
                              <a:rPr lang="en-US" altLang="zh-CN" sz="10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𝜏</m:t>
                        </m:r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zh-CN" altLang="zh-CN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en" sz="1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167005" indent="-89535" eaLnBrk="0">
                  <a:tabLst>
                    <a:tab pos="151765" algn="l"/>
                  </a:tabLst>
                </a:pPr>
                <a:r>
                  <a:rPr lang="zh-CN" altLang="en-US"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</a:t>
                </a:r>
                <a:endParaRPr lang="en-US" altLang="zh-CN" sz="10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167005" indent="-89535" eaLnBrk="0">
                  <a:spcBef>
                    <a:spcPts val="302"/>
                  </a:spcBef>
                  <a:tabLst>
                    <a:tab pos="151765" algn="l"/>
                  </a:tabLst>
                </a:pPr>
                <a:r>
                  <a:rPr lang="en-US"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	</a:t>
                </a:r>
                <a:endParaRPr sz="10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980" name="textbox 980">
                <a:extLst>
                  <a:ext uri="{FF2B5EF4-FFF2-40B4-BE49-F238E27FC236}">
                    <a16:creationId xmlns:a16="http://schemas.microsoft.com/office/drawing/2014/main" id="{2F86E48F-2216-5757-017A-56BB16506A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388" y="607810"/>
                <a:ext cx="4206240" cy="2468245"/>
              </a:xfrm>
              <a:prstGeom prst="rect">
                <a:avLst/>
              </a:prstGeom>
              <a:blipFill>
                <a:blip r:embed="rId2"/>
                <a:stretch>
                  <a:fillRect t="-2051"/>
                </a:stretch>
              </a:blipFill>
              <a:ln w="0" cap="flat">
                <a:noFill/>
                <a:prstDash val="solid"/>
                <a:miter lim="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98" name="picture 998">
            <a:extLst>
              <a:ext uri="{FF2B5EF4-FFF2-40B4-BE49-F238E27FC236}">
                <a16:creationId xmlns:a16="http://schemas.microsoft.com/office/drawing/2014/main" id="{8CBFE7EF-23F5-D6F7-14BC-38A9D3607F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58418" y="1956602"/>
            <a:ext cx="52585" cy="49297"/>
          </a:xfrm>
          <a:prstGeom prst="rect">
            <a:avLst/>
          </a:prstGeom>
        </p:spPr>
      </p:pic>
      <p:pic>
        <p:nvPicPr>
          <p:cNvPr id="1000" name="picture 1000">
            <a:extLst>
              <a:ext uri="{FF2B5EF4-FFF2-40B4-BE49-F238E27FC236}">
                <a16:creationId xmlns:a16="http://schemas.microsoft.com/office/drawing/2014/main" id="{50B954F9-C3C8-B073-3EFA-772FC88242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65022" y="1714812"/>
            <a:ext cx="52585" cy="50283"/>
          </a:xfrm>
          <a:prstGeom prst="rect">
            <a:avLst/>
          </a:prstGeom>
        </p:spPr>
      </p:pic>
      <p:pic>
        <p:nvPicPr>
          <p:cNvPr id="1002" name="picture 1002">
            <a:extLst>
              <a:ext uri="{FF2B5EF4-FFF2-40B4-BE49-F238E27FC236}">
                <a16:creationId xmlns:a16="http://schemas.microsoft.com/office/drawing/2014/main" id="{85DBBC56-C8E3-C758-9261-DAC449D7F0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81087" y="1514825"/>
            <a:ext cx="65265" cy="62407"/>
          </a:xfrm>
          <a:prstGeom prst="rect">
            <a:avLst/>
          </a:prstGeom>
        </p:spPr>
      </p:pic>
      <p:pic>
        <p:nvPicPr>
          <p:cNvPr id="1006" name="picture 1006">
            <a:extLst>
              <a:ext uri="{FF2B5EF4-FFF2-40B4-BE49-F238E27FC236}">
                <a16:creationId xmlns:a16="http://schemas.microsoft.com/office/drawing/2014/main" id="{9597C4D7-AC70-41F6-4B06-6BDBC43131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70865" y="998148"/>
            <a:ext cx="52585" cy="50820"/>
          </a:xfrm>
          <a:prstGeom prst="rect">
            <a:avLst/>
          </a:prstGeom>
        </p:spPr>
      </p:pic>
      <p:pic>
        <p:nvPicPr>
          <p:cNvPr id="1008" name="picture 1008">
            <a:extLst>
              <a:ext uri="{FF2B5EF4-FFF2-40B4-BE49-F238E27FC236}">
                <a16:creationId xmlns:a16="http://schemas.microsoft.com/office/drawing/2014/main" id="{A6A25566-AE7D-9A52-C21A-2F5781CF291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281089" y="657873"/>
            <a:ext cx="65265" cy="65265"/>
          </a:xfrm>
          <a:prstGeom prst="rect">
            <a:avLst/>
          </a:prstGeom>
        </p:spPr>
      </p:pic>
      <p:sp>
        <p:nvSpPr>
          <p:cNvPr id="1010" name="textbox 1010">
            <a:extLst>
              <a:ext uri="{FF2B5EF4-FFF2-40B4-BE49-F238E27FC236}">
                <a16:creationId xmlns:a16="http://schemas.microsoft.com/office/drawing/2014/main" id="{21ABC8D2-3D06-6F93-FA9B-10106F7CC72B}"/>
              </a:ext>
            </a:extLst>
          </p:cNvPr>
          <p:cNvSpPr/>
          <p:nvPr/>
        </p:nvSpPr>
        <p:spPr>
          <a:xfrm>
            <a:off x="0" y="0"/>
            <a:ext cx="4608195" cy="350520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 anchor="ctr"/>
          <a:lstStyle/>
          <a:p>
            <a:pPr algn="l" rtl="0" eaLnBrk="0">
              <a:lnSpc>
                <a:spcPct val="109000"/>
              </a:lnSpc>
              <a:tabLst/>
            </a:pPr>
            <a:endParaRPr lang="zh-CN" altLang="en-US" sz="700" dirty="0">
              <a:latin typeface="Arial"/>
              <a:ea typeface="Arial"/>
              <a:cs typeface="Arial"/>
            </a:endParaRPr>
          </a:p>
          <a:p>
            <a:pPr marL="36000" algn="l" rtl="0" eaLnBrk="0">
              <a:lnSpc>
                <a:spcPct val="93000"/>
              </a:lnSpc>
              <a:tabLst/>
            </a:pPr>
            <a:r>
              <a:rPr sz="1400" kern="0" dirty="0">
                <a:solidFill>
                  <a:srgbClr val="CC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Finite population inference vs. super population inference</a:t>
            </a:r>
            <a:endParaRPr sz="1400" dirty="0">
              <a:latin typeface="Arial"/>
              <a:ea typeface="Arial"/>
              <a:cs typeface="Arial"/>
            </a:endParaRPr>
          </a:p>
        </p:txBody>
      </p:sp>
      <p:pic>
        <p:nvPicPr>
          <p:cNvPr id="3" name="picture 1006">
            <a:extLst>
              <a:ext uri="{FF2B5EF4-FFF2-40B4-BE49-F238E27FC236}">
                <a16:creationId xmlns:a16="http://schemas.microsoft.com/office/drawing/2014/main" id="{E293C5CF-9570-13C7-5121-A224E7B91B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71372" y="1227496"/>
            <a:ext cx="52585" cy="50820"/>
          </a:xfrm>
          <a:prstGeom prst="rect">
            <a:avLst/>
          </a:prstGeom>
        </p:spPr>
      </p:pic>
      <p:sp>
        <p:nvSpPr>
          <p:cNvPr id="2" name="textbox 548">
            <a:extLst>
              <a:ext uri="{FF2B5EF4-FFF2-40B4-BE49-F238E27FC236}">
                <a16:creationId xmlns:a16="http://schemas.microsoft.com/office/drawing/2014/main" id="{08CFB5FC-7F81-BDE3-870F-BDB7205DA5D1}"/>
              </a:ext>
            </a:extLst>
          </p:cNvPr>
          <p:cNvSpPr/>
          <p:nvPr/>
        </p:nvSpPr>
        <p:spPr>
          <a:xfrm>
            <a:off x="4293082" y="3341245"/>
            <a:ext cx="247015" cy="1022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604"/>
              </a:lnSpc>
              <a:tabLst/>
            </a:pPr>
            <a:r>
              <a:rPr sz="500" kern="0" spc="3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lang="en-US" sz="500" kern="0" spc="3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500" kern="0" spc="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500" kern="0" spc="3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 12</a:t>
            </a:r>
            <a:endParaRPr sz="500" dirty="0"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465462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980" name="textbox 980"/>
              <p:cNvSpPr/>
              <p:nvPr/>
            </p:nvSpPr>
            <p:spPr>
              <a:xfrm>
                <a:off x="268388" y="607810"/>
                <a:ext cx="4206240" cy="2468245"/>
              </a:xfrm>
              <a:prstGeom prst="rect">
                <a:avLst/>
              </a:prstGeom>
              <a:noFill/>
              <a:ln w="0" cap="flat">
                <a:noFill/>
                <a:prstDash val="solid"/>
                <a:miter lim="0"/>
              </a:ln>
            </p:spPr>
            <p:txBody>
              <a:bodyPr vert="horz" wrap="square" lIns="0" tIns="0" rIns="0" bIns="0"/>
              <a:lstStyle/>
              <a:p>
                <a:pPr algn="l" rtl="0" eaLnBrk="0">
                  <a:lnSpc>
                    <a:spcPct val="77047"/>
                  </a:lnSpc>
                  <a:tabLst/>
                </a:pPr>
                <a:endParaRPr sz="1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150495" indent="-73025" eaLnBrk="0">
                  <a:lnSpc>
                    <a:spcPct val="96000"/>
                  </a:lnSpc>
                  <a:tabLst>
                    <a:tab pos="153035" algn="l"/>
                  </a:tabLst>
                </a:pPr>
                <a:r>
                  <a:rPr lang="en-US"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 </a:t>
                </a:r>
                <a:r>
                  <a:rPr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Super population inference: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(1)</m:t>
                    </m:r>
                  </m:oMath>
                </a14:m>
                <a:r>
                  <a:rPr lang="en-US" altLang="zh-CN" sz="1000" dirty="0">
                    <a:latin typeface="Arial" panose="020B060402020202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 </a:t>
                </a:r>
                <a:r>
                  <a:rPr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and</a:t>
                </a:r>
                <a:r>
                  <a:rPr lang="en-US"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1000" b="0" i="0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0</m:t>
                    </m:r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CN" sz="1000" dirty="0">
                    <a:latin typeface="Arial" panose="020B060402020202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 </a:t>
                </a:r>
                <a:r>
                  <a:rPr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are </a:t>
                </a:r>
                <a:r>
                  <a:rPr sz="1000" kern="0" dirty="0" err="1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i.i.d.</a:t>
                </a:r>
                <a:r>
                  <a:rPr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sampled from a super</a:t>
                </a:r>
                <a:r>
                  <a:rPr lang="en-US"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</a:t>
                </a:r>
                <a:r>
                  <a:rPr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population</a:t>
                </a:r>
                <a:endParaRPr sz="1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354965" algn="l" rtl="0" eaLnBrk="0">
                  <a:lnSpc>
                    <a:spcPct val="90000"/>
                  </a:lnSpc>
                  <a:spcBef>
                    <a:spcPts val="365"/>
                  </a:spcBef>
                  <a:tabLst>
                    <a:tab pos="428625" algn="l"/>
                  </a:tabLst>
                </a:pPr>
                <a:r>
                  <a:rPr sz="9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d</a:t>
                </a:r>
                <a:r>
                  <a:rPr lang="en-US" sz="9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iff</a:t>
                </a:r>
                <a:r>
                  <a:rPr sz="9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erence in means estimator</a:t>
                </a:r>
                <a:endParaRPr sz="9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354965" eaLnBrk="0">
                  <a:lnSpc>
                    <a:spcPct val="90000"/>
                  </a:lnSpc>
                  <a:spcBef>
                    <a:spcPts val="365"/>
                  </a:spcBef>
                  <a:tabLst>
                    <a:tab pos="428625" algn="l"/>
                  </a:tabLst>
                  <a:defRPr/>
                </a:pPr>
                <a:r>
                  <a:rPr kumimoji="0" lang="en" altLang="zh-CN" sz="900" b="0" i="0" u="none" strike="noStrike" kern="0" cap="none" normalizeH="0" baseline="0" noProof="0" dirty="0">
                    <a:ln>
                      <a:noFill/>
                    </a:ln>
                    <a:solidFill>
                      <a:srgbClr val="000000">
                        <a:alpha val="100000"/>
                      </a:srgb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variance: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var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zh-CN" altLang="zh-CN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1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0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altLang="zh-CN" sz="10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sz="10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(1)</m:t>
                            </m:r>
                          </m:e>
                        </m:d>
                      </m:num>
                      <m:den>
                        <m:sSub>
                          <m:sSubPr>
                            <m:ctrlPr>
                              <a:rPr lang="zh-CN" altLang="zh-CN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10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f>
                      <m:f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var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zh-CN" altLang="zh-CN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1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0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altLang="zh-CN" sz="10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sz="10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(0)</m:t>
                            </m:r>
                          </m:e>
                        </m:d>
                      </m:num>
                      <m:den>
                        <m:sSub>
                          <m:sSubPr>
                            <m:ctrlPr>
                              <a:rPr lang="zh-CN" altLang="zh-CN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10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zh-CN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</a:t>
                </a:r>
                <a:endParaRPr sz="1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77470" eaLnBrk="0">
                  <a:lnSpc>
                    <a:spcPct val="95000"/>
                  </a:lnSpc>
                  <a:spcBef>
                    <a:spcPts val="1000"/>
                  </a:spcBef>
                  <a:tabLst>
                    <a:tab pos="160020" algn="l"/>
                  </a:tabLst>
                </a:pPr>
                <a:r>
                  <a:rPr lang="en-US"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 Fi</a:t>
                </a:r>
                <a:r>
                  <a:rPr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nite population inference: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ar-AE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ar-AE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(1)</m:t>
                    </m:r>
                  </m:oMath>
                </a14:m>
                <a:r>
                  <a:rPr lang="ar-AE" altLang="zh-CN" sz="1000" dirty="0">
                    <a:latin typeface="Arial" panose="020B060402020202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 </a:t>
                </a:r>
                <a:r>
                  <a:rPr lang="en" altLang="zh-CN"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ar-AE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ar-AE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(0)</m:t>
                    </m:r>
                  </m:oMath>
                </a14:m>
                <a:r>
                  <a:rPr lang="ar-AE" altLang="zh-CN" sz="1000" dirty="0">
                    <a:latin typeface="Arial" panose="020B060402020202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 </a:t>
                </a:r>
                <a:r>
                  <a:rPr lang="en" altLang="zh-CN"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are fixed</a:t>
                </a:r>
                <a:endParaRPr sz="10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354965" marR="0" lvl="0" indent="0" algn="l" defTabSz="914400" rtl="0" eaLnBrk="0" fontAlgn="auto" latinLnBrk="0" hangingPunct="1">
                  <a:lnSpc>
                    <a:spcPct val="90000"/>
                  </a:lnSpc>
                  <a:spcBef>
                    <a:spcPts val="365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428625" algn="l"/>
                  </a:tabLst>
                  <a:defRPr/>
                </a:pPr>
                <a:r>
                  <a:rPr kumimoji="0" lang="en" altLang="zh-CN" sz="900" b="0" i="0" u="none" strike="noStrike" kern="0" cap="none" normalizeH="0" baseline="0" noProof="0" dirty="0">
                    <a:ln>
                      <a:noFill/>
                    </a:ln>
                    <a:solidFill>
                      <a:srgbClr val="000000">
                        <a:alpha val="100000"/>
                      </a:srgb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difference in means estimator</a:t>
                </a:r>
                <a:endParaRPr kumimoji="0" lang="en" altLang="zh-CN" sz="900" b="0" i="0" u="none" strike="noStrike" kern="1200" cap="none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354965" eaLnBrk="0">
                  <a:lnSpc>
                    <a:spcPct val="90000"/>
                  </a:lnSpc>
                  <a:spcBef>
                    <a:spcPts val="365"/>
                  </a:spcBef>
                  <a:tabLst>
                    <a:tab pos="428625" algn="l"/>
                  </a:tabLst>
                  <a:defRPr/>
                </a:pPr>
                <a:r>
                  <a:rPr lang="en" altLang="zh-CN" sz="9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</a:t>
                </a:r>
                <a:r>
                  <a:rPr kumimoji="0" lang="en" altLang="zh-CN" sz="900" b="0" i="0" u="none" strike="noStrike" kern="0" cap="none" normalizeH="0" baseline="0" noProof="0" dirty="0">
                    <a:ln>
                      <a:noFill/>
                    </a:ln>
                    <a:solidFill>
                      <a:srgbClr val="000000">
                        <a:alpha val="100000"/>
                      </a:srgb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variance: </a:t>
                </a:r>
                <a:r>
                  <a:rPr lang="zh-CN" altLang="zh-CN" sz="1000" dirty="0">
                    <a:latin typeface="Arial" panose="020B0604020202020204" pitchFamily="34" charset="0"/>
                    <a:ea typeface="Georgia" panose="02040502050405020303" pitchFamily="18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zh-CN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p>
                            <m:r>
                              <a:rPr lang="en-US" altLang="zh-CN" sz="10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(1)</m:t>
                        </m:r>
                      </m:num>
                      <m:den>
                        <m:sSub>
                          <m:sSubPr>
                            <m:ctrlPr>
                              <a:rPr lang="zh-CN" altLang="zh-CN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10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f>
                      <m:f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zh-CN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p>
                            <m:r>
                              <a:rPr lang="en-US" altLang="zh-CN" sz="10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(0)</m:t>
                        </m:r>
                      </m:num>
                      <m:den>
                        <m:sSub>
                          <m:sSubPr>
                            <m:ctrlPr>
                              <a:rPr lang="zh-CN" altLang="zh-CN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10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zh-CN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zh-CN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p>
                            <m:r>
                              <a:rPr lang="en-US" altLang="zh-CN" sz="10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𝜏</m:t>
                        </m:r>
                        <m:r>
                          <a:rPr lang="en-US" altLang="zh-CN" sz="1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zh-CN" altLang="zh-CN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en" sz="1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167005" indent="-89535" eaLnBrk="0">
                  <a:tabLst>
                    <a:tab pos="151765" algn="l"/>
                  </a:tabLst>
                </a:pPr>
                <a:r>
                  <a:rPr lang="zh-CN" altLang="en-US"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</a:t>
                </a:r>
                <a:endParaRPr lang="en-US" altLang="zh-CN" sz="10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167005" indent="-89535" eaLnBrk="0">
                  <a:spcBef>
                    <a:spcPts val="302"/>
                  </a:spcBef>
                  <a:tabLst>
                    <a:tab pos="151765" algn="l"/>
                  </a:tabLst>
                </a:pPr>
                <a:r>
                  <a:rPr lang="en-US"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	</a:t>
                </a:r>
                <a:r>
                  <a:rPr lang="en"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Two steps for generating the observed data:  (a) sample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ar-AE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ar-AE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(1)</m:t>
                    </m:r>
                  </m:oMath>
                </a14:m>
                <a:r>
                  <a:rPr lang="ar-AE" altLang="zh-CN" sz="1000" dirty="0">
                    <a:latin typeface="Arial" panose="020B060402020202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 </a:t>
                </a:r>
                <a:r>
                  <a:rPr lang="en" altLang="zh-CN"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ar-AE" altLang="zh-CN" sz="1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ar-AE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(0)</m:t>
                    </m:r>
                  </m:oMath>
                </a14:m>
                <a:r>
                  <a:rPr lang="en"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for </a:t>
                </a:r>
                <a14:m>
                  <m:oMath xmlns:m="http://schemas.openxmlformats.org/officeDocument/2006/math">
                    <m:r>
                      <a:rPr lang="en-US" altLang="zh-CN" sz="1000" i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zh-CN" sz="1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=1,…,</m:t>
                    </m:r>
                    <m:r>
                      <a:rPr lang="en-US" altLang="zh-CN" sz="1000" i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US" altLang="zh-CN" sz="1000" dirty="0">
                    <a:latin typeface="Arial" panose="020B060402020202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 </a:t>
                </a:r>
                <a:r>
                  <a:rPr lang="en"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from a super population; (b) complete </a:t>
                </a:r>
                <a:r>
                  <a:rPr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randomization within the sampled poten</a:t>
                </a:r>
                <a:r>
                  <a:rPr lang="en-US"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ti</a:t>
                </a:r>
                <a:r>
                  <a:rPr sz="1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al outcomes</a:t>
                </a:r>
              </a:p>
              <a:p>
                <a:pPr marL="428625" indent="-73660" algn="l" rtl="0" eaLnBrk="0">
                  <a:lnSpc>
                    <a:spcPct val="104000"/>
                  </a:lnSpc>
                  <a:spcBef>
                    <a:spcPts val="347"/>
                  </a:spcBef>
                  <a:tabLst>
                    <a:tab pos="427355" algn="l"/>
                  </a:tabLst>
                </a:pPr>
                <a:r>
                  <a:rPr lang="en-US" sz="9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	fi</a:t>
                </a:r>
                <a:r>
                  <a:rPr sz="9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nite population inference considers (b); super population inference      considers (a)+(b)</a:t>
                </a:r>
              </a:p>
              <a:p>
                <a:pPr marL="354965" eaLnBrk="0">
                  <a:lnSpc>
                    <a:spcPts val="1106"/>
                  </a:lnSpc>
                  <a:spcBef>
                    <a:spcPts val="164"/>
                  </a:spcBef>
                  <a:tabLst>
                    <a:tab pos="426085" algn="l"/>
                  </a:tabLst>
                </a:pPr>
                <a:r>
                  <a:rPr lang="en-US" altLang="zh-CN" sz="9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9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var</m:t>
                        </m:r>
                      </m:e>
                      <m:sub>
                        <m:r>
                          <a:rPr lang="en-US" altLang="zh-CN" sz="9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𝑓</m:t>
                        </m:r>
                      </m:sub>
                    </m:sSub>
                    <m:r>
                      <a:rPr lang="en-US" altLang="zh-CN" sz="9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zh-CN" altLang="zh-CN" sz="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9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𝜏</m:t>
                        </m:r>
                      </m:e>
                    </m:acc>
                    <m:r>
                      <a:rPr lang="en-US" altLang="zh-CN" sz="9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)=</m:t>
                    </m:r>
                    <m:r>
                      <m:rPr>
                        <m:sty m:val="p"/>
                      </m:rPr>
                      <a:rPr lang="en-US" altLang="zh-CN" sz="9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var</m:t>
                    </m:r>
                    <m:r>
                      <a:rPr lang="en-US" altLang="zh-CN" sz="9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zh-CN" altLang="zh-CN" sz="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9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𝜏</m:t>
                        </m:r>
                      </m:e>
                    </m:acc>
                    <m:r>
                      <a:rPr lang="en-US" altLang="zh-CN" sz="9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∣</m:t>
                    </m:r>
                    <m:r>
                      <a:rPr lang="en-US" altLang="zh-CN" sz="900" b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𝐘</m:t>
                    </m:r>
                    <m:r>
                      <a:rPr lang="en-US" altLang="zh-CN" sz="9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(1),</m:t>
                    </m:r>
                    <m:r>
                      <a:rPr lang="en-US" altLang="zh-CN" sz="900" b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𝐘</m:t>
                    </m:r>
                    <m:r>
                      <a:rPr lang="en-US" altLang="zh-CN" sz="9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(0))</m:t>
                    </m:r>
                  </m:oMath>
                </a14:m>
                <a:r>
                  <a:rPr lang="en-US" altLang="zh-CN" sz="900" dirty="0">
                    <a:latin typeface="Arial" panose="020B060402020202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 </a:t>
                </a:r>
                <a:r>
                  <a:rPr sz="9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and</a:t>
                </a:r>
                <a:r>
                  <a:rPr lang="en-US" sz="9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9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var</m:t>
                        </m:r>
                      </m:e>
                      <m:sub>
                        <m:r>
                          <a:rPr lang="en-US" altLang="zh-CN" sz="9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𝑠</m:t>
                        </m:r>
                      </m:sub>
                    </m:sSub>
                    <m:r>
                      <a:rPr lang="en-US" altLang="zh-CN" sz="9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zh-CN" altLang="zh-CN" sz="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9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𝜏</m:t>
                        </m:r>
                      </m:e>
                    </m:acc>
                    <m:r>
                      <a:rPr lang="en-US" altLang="zh-CN" sz="9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)=</m:t>
                    </m:r>
                    <m:r>
                      <m:rPr>
                        <m:sty m:val="p"/>
                      </m:rPr>
                      <a:rPr lang="en-US" altLang="zh-CN" sz="9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var</m:t>
                    </m:r>
                    <m:r>
                      <a:rPr lang="en-US" altLang="zh-CN" sz="9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zh-CN" altLang="zh-CN" sz="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9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𝜏</m:t>
                        </m:r>
                      </m:e>
                    </m:acc>
                    <m:r>
                      <a:rPr lang="en-US" altLang="zh-CN" sz="9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zh-CN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sz="9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980" name="textbox 98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388" y="607810"/>
                <a:ext cx="4206240" cy="2468245"/>
              </a:xfrm>
              <a:prstGeom prst="rect">
                <a:avLst/>
              </a:prstGeom>
              <a:blipFill>
                <a:blip r:embed="rId2"/>
                <a:stretch>
                  <a:fillRect t="-2051" b="-8205"/>
                </a:stretch>
              </a:blipFill>
              <a:ln w="0" cap="flat">
                <a:noFill/>
                <a:prstDash val="solid"/>
                <a:miter lim="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90" name="picture 99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65023" y="3126855"/>
            <a:ext cx="52585" cy="52585"/>
          </a:xfrm>
          <a:prstGeom prst="rect">
            <a:avLst/>
          </a:prstGeom>
        </p:spPr>
      </p:pic>
      <p:pic>
        <p:nvPicPr>
          <p:cNvPr id="992" name="picture 99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65023" y="2814643"/>
            <a:ext cx="52585" cy="52585"/>
          </a:xfrm>
          <a:prstGeom prst="rect">
            <a:avLst/>
          </a:prstGeom>
        </p:spPr>
      </p:pic>
      <p:pic>
        <p:nvPicPr>
          <p:cNvPr id="994" name="picture 99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81087" y="2316752"/>
            <a:ext cx="65265" cy="65235"/>
          </a:xfrm>
          <a:prstGeom prst="rect">
            <a:avLst/>
          </a:prstGeom>
        </p:spPr>
      </p:pic>
      <p:pic>
        <p:nvPicPr>
          <p:cNvPr id="998" name="picture 99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58418" y="1956602"/>
            <a:ext cx="52585" cy="49297"/>
          </a:xfrm>
          <a:prstGeom prst="rect">
            <a:avLst/>
          </a:prstGeom>
        </p:spPr>
      </p:pic>
      <p:pic>
        <p:nvPicPr>
          <p:cNvPr id="1000" name="picture 100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565022" y="1714812"/>
            <a:ext cx="52585" cy="50283"/>
          </a:xfrm>
          <a:prstGeom prst="rect">
            <a:avLst/>
          </a:prstGeom>
        </p:spPr>
      </p:pic>
      <p:pic>
        <p:nvPicPr>
          <p:cNvPr id="1002" name="picture 100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281087" y="1514825"/>
            <a:ext cx="65265" cy="62407"/>
          </a:xfrm>
          <a:prstGeom prst="rect">
            <a:avLst/>
          </a:prstGeom>
        </p:spPr>
      </p:pic>
      <p:pic>
        <p:nvPicPr>
          <p:cNvPr id="1006" name="picture 100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570865" y="998148"/>
            <a:ext cx="52585" cy="50820"/>
          </a:xfrm>
          <a:prstGeom prst="rect">
            <a:avLst/>
          </a:prstGeom>
        </p:spPr>
      </p:pic>
      <p:pic>
        <p:nvPicPr>
          <p:cNvPr id="1008" name="picture 100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281089" y="657873"/>
            <a:ext cx="65265" cy="65265"/>
          </a:xfrm>
          <a:prstGeom prst="rect">
            <a:avLst/>
          </a:prstGeom>
        </p:spPr>
      </p:pic>
      <p:sp>
        <p:nvSpPr>
          <p:cNvPr id="1010" name="textbox 1010"/>
          <p:cNvSpPr/>
          <p:nvPr/>
        </p:nvSpPr>
        <p:spPr>
          <a:xfrm>
            <a:off x="0" y="0"/>
            <a:ext cx="4608195" cy="349200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 anchor="ctr"/>
          <a:lstStyle/>
          <a:p>
            <a:pPr algn="l" rtl="0" eaLnBrk="0">
              <a:lnSpc>
                <a:spcPct val="109000"/>
              </a:lnSpc>
              <a:tabLst/>
            </a:pPr>
            <a:endParaRPr lang="zh-CN" altLang="en-US" sz="700" dirty="0">
              <a:latin typeface="Arial"/>
              <a:ea typeface="Arial"/>
              <a:cs typeface="Arial"/>
            </a:endParaRPr>
          </a:p>
          <a:p>
            <a:pPr marL="36000" algn="l" rtl="0" eaLnBrk="0">
              <a:lnSpc>
                <a:spcPct val="93000"/>
              </a:lnSpc>
              <a:tabLst/>
            </a:pPr>
            <a:r>
              <a:rPr sz="1400" kern="0" dirty="0">
                <a:solidFill>
                  <a:srgbClr val="CC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Finite population inference vs. super population inference</a:t>
            </a:r>
            <a:endParaRPr sz="1400" dirty="0">
              <a:latin typeface="Arial"/>
              <a:ea typeface="Arial"/>
              <a:cs typeface="Arial"/>
            </a:endParaRPr>
          </a:p>
        </p:txBody>
      </p:sp>
      <p:pic>
        <p:nvPicPr>
          <p:cNvPr id="3" name="picture 1006">
            <a:extLst>
              <a:ext uri="{FF2B5EF4-FFF2-40B4-BE49-F238E27FC236}">
                <a16:creationId xmlns:a16="http://schemas.microsoft.com/office/drawing/2014/main" id="{B5B13590-8AF8-A8A4-09F4-1B2E47ECBC5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571372" y="1227496"/>
            <a:ext cx="52585" cy="50820"/>
          </a:xfrm>
          <a:prstGeom prst="rect">
            <a:avLst/>
          </a:prstGeom>
        </p:spPr>
      </p:pic>
      <p:sp>
        <p:nvSpPr>
          <p:cNvPr id="2" name="textbox 548">
            <a:extLst>
              <a:ext uri="{FF2B5EF4-FFF2-40B4-BE49-F238E27FC236}">
                <a16:creationId xmlns:a16="http://schemas.microsoft.com/office/drawing/2014/main" id="{AE96C70B-5267-4FE8-E071-3B00C9657409}"/>
              </a:ext>
            </a:extLst>
          </p:cNvPr>
          <p:cNvSpPr/>
          <p:nvPr/>
        </p:nvSpPr>
        <p:spPr>
          <a:xfrm>
            <a:off x="4293082" y="3341245"/>
            <a:ext cx="247015" cy="1022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604"/>
              </a:lnSpc>
              <a:tabLst/>
            </a:pPr>
            <a:r>
              <a:rPr sz="500" kern="0" spc="3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lang="en-US" sz="500" kern="0" spc="3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500" kern="0" spc="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500" kern="0" spc="3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 12</a:t>
            </a:r>
            <a:endParaRPr sz="5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4" name="picture 10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10108" y="2068180"/>
            <a:ext cx="114214" cy="114214"/>
          </a:xfrm>
          <a:prstGeom prst="rect">
            <a:avLst/>
          </a:prstGeom>
        </p:spPr>
      </p:pic>
      <p:pic>
        <p:nvPicPr>
          <p:cNvPr id="1016" name="picture 10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10108" y="1764522"/>
            <a:ext cx="114214" cy="114214"/>
          </a:xfrm>
          <a:prstGeom prst="rect">
            <a:avLst/>
          </a:prstGeom>
        </p:spPr>
      </p:pic>
      <p:pic>
        <p:nvPicPr>
          <p:cNvPr id="1018" name="picture 10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10108" y="1916351"/>
            <a:ext cx="114214" cy="114214"/>
          </a:xfrm>
          <a:prstGeom prst="rect">
            <a:avLst/>
          </a:prstGeom>
        </p:spPr>
      </p:pic>
      <p:sp>
        <p:nvSpPr>
          <p:cNvPr id="1020" name="textbox 1020"/>
          <p:cNvSpPr/>
          <p:nvPr/>
        </p:nvSpPr>
        <p:spPr>
          <a:xfrm>
            <a:off x="346354" y="938386"/>
            <a:ext cx="3695065" cy="2001663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701"/>
              </a:lnSpc>
              <a:tabLst/>
            </a:pPr>
            <a:endParaRPr sz="100" dirty="0">
              <a:latin typeface="Arial" panose="020B0604020202020204" pitchFamily="34" charset="0"/>
              <a:ea typeface="Arial"/>
              <a:cs typeface="Arial" panose="020B0604020202020204" pitchFamily="34" charset="0"/>
            </a:endParaRPr>
          </a:p>
          <a:p>
            <a:pPr marL="77470" algn="l" rtl="0" eaLnBrk="0">
              <a:lnSpc>
                <a:spcPct val="92000"/>
              </a:lnSpc>
              <a:tabLst>
                <a:tab pos="160020" algn="l"/>
              </a:tabLst>
            </a:pPr>
            <a:r>
              <a:rPr sz="1000" kern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	Like Fisher, Neyman proposed randomization-based inference</a:t>
            </a:r>
            <a:endParaRPr sz="1000" dirty="0">
              <a:latin typeface="Arial" panose="020B0604020202020204" pitchFamily="34" charset="0"/>
              <a:ea typeface="Arial"/>
              <a:cs typeface="Arial" panose="020B0604020202020204" pitchFamily="34" charset="0"/>
            </a:endParaRPr>
          </a:p>
          <a:p>
            <a:pPr algn="l" rtl="0" eaLnBrk="0">
              <a:lnSpc>
                <a:spcPct val="144000"/>
              </a:lnSpc>
              <a:tabLst/>
            </a:pPr>
            <a:endParaRPr sz="1000" dirty="0">
              <a:latin typeface="Arial" panose="020B0604020202020204" pitchFamily="34" charset="0"/>
              <a:ea typeface="Arial"/>
              <a:cs typeface="Arial" panose="020B0604020202020204" pitchFamily="34" charset="0"/>
            </a:endParaRPr>
          </a:p>
          <a:p>
            <a:pPr algn="l" rtl="0" eaLnBrk="0">
              <a:lnSpc>
                <a:spcPct val="145000"/>
              </a:lnSpc>
              <a:tabLst/>
            </a:pPr>
            <a:endParaRPr sz="1000" dirty="0">
              <a:latin typeface="Arial" panose="020B0604020202020204" pitchFamily="34" charset="0"/>
              <a:ea typeface="Arial"/>
              <a:cs typeface="Arial" panose="020B0604020202020204" pitchFamily="34" charset="0"/>
            </a:endParaRPr>
          </a:p>
          <a:p>
            <a:pPr marL="77470" algn="l" rtl="0" eaLnBrk="0">
              <a:lnSpc>
                <a:spcPct val="92000"/>
              </a:lnSpc>
              <a:spcBef>
                <a:spcPts val="303"/>
              </a:spcBef>
              <a:tabLst>
                <a:tab pos="160020" algn="l"/>
              </a:tabLst>
            </a:pPr>
            <a:r>
              <a:rPr sz="1000" kern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	Unlike Fisher,</a:t>
            </a:r>
            <a:endParaRPr lang="en" sz="1000" dirty="0">
              <a:latin typeface="Arial" panose="020B0604020202020204" pitchFamily="34" charset="0"/>
              <a:ea typeface="Arial"/>
              <a:cs typeface="Arial" panose="020B0604020202020204" pitchFamily="34" charset="0"/>
            </a:endParaRPr>
          </a:p>
          <a:p>
            <a:pPr marL="77470" algn="l" rtl="0" eaLnBrk="0">
              <a:lnSpc>
                <a:spcPct val="92000"/>
              </a:lnSpc>
              <a:spcBef>
                <a:spcPts val="200"/>
              </a:spcBef>
              <a:tabLst>
                <a:tab pos="160020" algn="l"/>
              </a:tabLst>
            </a:pPr>
            <a:r>
              <a:rPr lang="en" sz="900" kern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	         estimands are average causal effects</a:t>
            </a:r>
            <a:endParaRPr lang="en" sz="900" dirty="0">
              <a:latin typeface="Arial" panose="020B0604020202020204" pitchFamily="34" charset="0"/>
              <a:ea typeface="Arial"/>
              <a:cs typeface="Arial" panose="020B0604020202020204" pitchFamily="34" charset="0"/>
            </a:endParaRPr>
          </a:p>
          <a:p>
            <a:pPr marL="77470" algn="l" rtl="0" eaLnBrk="0">
              <a:lnSpc>
                <a:spcPct val="92000"/>
              </a:lnSpc>
              <a:spcBef>
                <a:spcPts val="200"/>
              </a:spcBef>
              <a:tabLst>
                <a:tab pos="160020" algn="l"/>
              </a:tabLst>
            </a:pPr>
            <a:r>
              <a:rPr lang="en" sz="900" kern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	         </a:t>
            </a:r>
            <a:r>
              <a:rPr sz="900" kern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heterogenous treatment efects are </a:t>
            </a:r>
            <a:r>
              <a:rPr sz="900" kern="0" dirty="0" err="1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allowe</a:t>
            </a:r>
            <a:r>
              <a:rPr lang="en" sz="900" kern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d</a:t>
            </a:r>
            <a:endParaRPr lang="en" sz="900" dirty="0">
              <a:latin typeface="Arial" panose="020B0604020202020204" pitchFamily="34" charset="0"/>
              <a:ea typeface="Arial"/>
              <a:cs typeface="Arial" panose="020B0604020202020204" pitchFamily="34" charset="0"/>
            </a:endParaRPr>
          </a:p>
          <a:p>
            <a:pPr marL="77470" algn="l" rtl="0" eaLnBrk="0">
              <a:lnSpc>
                <a:spcPct val="92000"/>
              </a:lnSpc>
              <a:spcBef>
                <a:spcPts val="200"/>
              </a:spcBef>
              <a:tabLst>
                <a:tab pos="160020" algn="l"/>
              </a:tabLst>
            </a:pPr>
            <a:r>
              <a:rPr lang="en" sz="900" kern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	         asymptotic approximation is required for inference</a:t>
            </a:r>
          </a:p>
          <a:p>
            <a:pPr marL="77470" eaLnBrk="0">
              <a:lnSpc>
                <a:spcPct val="92000"/>
              </a:lnSpc>
              <a:spcBef>
                <a:spcPts val="350"/>
              </a:spcBef>
              <a:tabLst>
                <a:tab pos="160020" algn="l"/>
              </a:tabLst>
            </a:pPr>
            <a:r>
              <a:rPr lang="en" sz="900" kern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	         conservative variance estimator </a:t>
            </a:r>
          </a:p>
          <a:p>
            <a:pPr marL="77470" eaLnBrk="0">
              <a:lnSpc>
                <a:spcPct val="92000"/>
              </a:lnSpc>
              <a:spcBef>
                <a:spcPts val="350"/>
              </a:spcBef>
              <a:tabLst>
                <a:tab pos="160020" algn="l"/>
              </a:tabLst>
            </a:pPr>
            <a:r>
              <a:rPr lang="en" sz="900" kern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	         CLT may fail with heavy-tailed outcome </a:t>
            </a:r>
            <a:endParaRPr lang="en" sz="900" dirty="0">
              <a:latin typeface="Arial" panose="020B0604020202020204" pitchFamily="34" charset="0"/>
              <a:ea typeface="Arial"/>
              <a:cs typeface="Arial" panose="020B0604020202020204" pitchFamily="34" charset="0"/>
            </a:endParaRPr>
          </a:p>
          <a:p>
            <a:pPr algn="l" rtl="0" eaLnBrk="0">
              <a:lnSpc>
                <a:spcPct val="139000"/>
              </a:lnSpc>
              <a:tabLst/>
            </a:pPr>
            <a:endParaRPr sz="1000" dirty="0">
              <a:latin typeface="Arial" panose="020B0604020202020204" pitchFamily="34" charset="0"/>
              <a:ea typeface="Arial"/>
              <a:cs typeface="Arial" panose="020B0604020202020204" pitchFamily="34" charset="0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200" dirty="0">
              <a:latin typeface="Arial" panose="020B0604020202020204" pitchFamily="34" charset="0"/>
              <a:ea typeface="Arial"/>
              <a:cs typeface="Arial" panose="020B0604020202020204" pitchFamily="34" charset="0"/>
            </a:endParaRPr>
          </a:p>
          <a:p>
            <a:pPr marL="77470" eaLnBrk="0">
              <a:lnSpc>
                <a:spcPct val="92000"/>
              </a:lnSpc>
              <a:spcBef>
                <a:spcPts val="1"/>
              </a:spcBef>
              <a:tabLst>
                <a:tab pos="160020" algn="l"/>
              </a:tabLst>
            </a:pPr>
            <a:r>
              <a:rPr sz="1000" kern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	</a:t>
            </a:r>
            <a:r>
              <a:rPr sz="1000" kern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Reading:</a:t>
            </a:r>
            <a:r>
              <a:rPr lang="en-US" sz="1000" kern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" altLang="zh-CN" sz="10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Imbens</a:t>
            </a:r>
            <a:r>
              <a:rPr lang="en" altLang="zh-CN" sz="1000" kern="0" spc="1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lang="en" altLang="zh-CN" sz="10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r>
              <a:rPr lang="en" altLang="zh-CN" sz="1000" kern="0" spc="1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lang="en" altLang="zh-CN" sz="10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Rubi</a:t>
            </a:r>
            <a:r>
              <a:rPr lang="en" altLang="zh-CN" sz="10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</a:t>
            </a:r>
            <a:r>
              <a:rPr sz="1000" kern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US" sz="1000" kern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000" kern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Chapter 6</a:t>
            </a:r>
          </a:p>
        </p:txBody>
      </p:sp>
      <p:pic>
        <p:nvPicPr>
          <p:cNvPr id="1022" name="picture 10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83660" y="2802277"/>
            <a:ext cx="65265" cy="65265"/>
          </a:xfrm>
          <a:prstGeom prst="rect">
            <a:avLst/>
          </a:prstGeom>
        </p:spPr>
      </p:pic>
      <p:pic>
        <p:nvPicPr>
          <p:cNvPr id="1024" name="picture 10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81089" y="1600542"/>
            <a:ext cx="65265" cy="65265"/>
          </a:xfrm>
          <a:prstGeom prst="rect">
            <a:avLst/>
          </a:prstGeom>
        </p:spPr>
      </p:pic>
      <p:pic>
        <p:nvPicPr>
          <p:cNvPr id="1026" name="picture 102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281089" y="981506"/>
            <a:ext cx="65265" cy="65265"/>
          </a:xfrm>
          <a:prstGeom prst="rect">
            <a:avLst/>
          </a:prstGeom>
        </p:spPr>
      </p:pic>
      <p:sp>
        <p:nvSpPr>
          <p:cNvPr id="1028" name="textbox 1028"/>
          <p:cNvSpPr/>
          <p:nvPr/>
        </p:nvSpPr>
        <p:spPr>
          <a:xfrm>
            <a:off x="0" y="0"/>
            <a:ext cx="4608195" cy="350520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15570" algn="l" rtl="0" eaLnBrk="0">
              <a:lnSpc>
                <a:spcPct val="93000"/>
              </a:lnSpc>
              <a:tabLst/>
            </a:pPr>
            <a:r>
              <a:rPr sz="1400" kern="0" dirty="0">
                <a:solidFill>
                  <a:srgbClr val="CC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Summary:  Fisher vs.  Neyman</a:t>
            </a:r>
            <a:endParaRPr sz="1400" dirty="0">
              <a:latin typeface="Arial"/>
              <a:ea typeface="Arial"/>
              <a:cs typeface="Arial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3DB6ECB-2323-7A3C-BE37-202C35850DDC}"/>
              </a:ext>
            </a:extLst>
          </p:cNvPr>
          <p:cNvSpPr txBox="1"/>
          <p:nvPr/>
        </p:nvSpPr>
        <p:spPr>
          <a:xfrm>
            <a:off x="454450" y="1727994"/>
            <a:ext cx="29535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600" dirty="0">
                <a:solidFill>
                  <a:schemeClr val="bg1"/>
                </a:solidFill>
              </a:rPr>
              <a:t>1</a:t>
            </a:r>
            <a:endParaRPr kumimoji="1" lang="zh-CN" altLang="en-US" sz="600" dirty="0">
              <a:solidFill>
                <a:schemeClr val="bg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D8CE0AA-B902-59F7-4BDB-A17135CCDF61}"/>
              </a:ext>
            </a:extLst>
          </p:cNvPr>
          <p:cNvSpPr txBox="1"/>
          <p:nvPr/>
        </p:nvSpPr>
        <p:spPr>
          <a:xfrm>
            <a:off x="454450" y="1880046"/>
            <a:ext cx="29535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600" dirty="0">
                <a:solidFill>
                  <a:schemeClr val="bg1"/>
                </a:solidFill>
              </a:rPr>
              <a:t>2</a:t>
            </a:r>
            <a:endParaRPr kumimoji="1" lang="zh-CN" altLang="en-US" sz="600" dirty="0">
              <a:solidFill>
                <a:schemeClr val="bg1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F8776D1-9698-8257-EBA0-BEED23712E7C}"/>
              </a:ext>
            </a:extLst>
          </p:cNvPr>
          <p:cNvSpPr txBox="1"/>
          <p:nvPr/>
        </p:nvSpPr>
        <p:spPr>
          <a:xfrm>
            <a:off x="454450" y="2029701"/>
            <a:ext cx="29535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600" dirty="0">
                <a:solidFill>
                  <a:schemeClr val="bg1"/>
                </a:solidFill>
              </a:rPr>
              <a:t>3</a:t>
            </a:r>
            <a:endParaRPr kumimoji="1" lang="zh-CN" altLang="en-US" sz="600" dirty="0">
              <a:solidFill>
                <a:schemeClr val="bg1"/>
              </a:solidFill>
            </a:endParaRPr>
          </a:p>
        </p:txBody>
      </p:sp>
      <p:sp>
        <p:nvSpPr>
          <p:cNvPr id="5" name="textbox 548">
            <a:extLst>
              <a:ext uri="{FF2B5EF4-FFF2-40B4-BE49-F238E27FC236}">
                <a16:creationId xmlns:a16="http://schemas.microsoft.com/office/drawing/2014/main" id="{A9EBE684-B913-8C4B-402E-42A7F7948DCF}"/>
              </a:ext>
            </a:extLst>
          </p:cNvPr>
          <p:cNvSpPr/>
          <p:nvPr/>
        </p:nvSpPr>
        <p:spPr>
          <a:xfrm>
            <a:off x="4293082" y="3341245"/>
            <a:ext cx="247015" cy="1022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604"/>
              </a:lnSpc>
              <a:tabLst/>
            </a:pPr>
            <a:r>
              <a:rPr sz="500" kern="0" spc="3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12</a:t>
            </a:r>
            <a:r>
              <a:rPr sz="500" kern="0" spc="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500" kern="0" spc="3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 12</a:t>
            </a:r>
            <a:endParaRPr sz="500" dirty="0">
              <a:latin typeface="Arial"/>
              <a:ea typeface="Arial"/>
              <a:cs typeface="Arial"/>
            </a:endParaRPr>
          </a:p>
        </p:txBody>
      </p:sp>
      <p:pic>
        <p:nvPicPr>
          <p:cNvPr id="6" name="picture 530">
            <a:extLst>
              <a:ext uri="{FF2B5EF4-FFF2-40B4-BE49-F238E27FC236}">
                <a16:creationId xmlns:a16="http://schemas.microsoft.com/office/drawing/2014/main" id="{D9A371D0-D494-A41A-4D4A-B9BF852F774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510107" y="2224841"/>
            <a:ext cx="114214" cy="114214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AEB8ABCF-DAB8-52E0-3CCD-73A9F6F919F7}"/>
              </a:ext>
            </a:extLst>
          </p:cNvPr>
          <p:cNvSpPr txBox="1"/>
          <p:nvPr/>
        </p:nvSpPr>
        <p:spPr>
          <a:xfrm>
            <a:off x="454450" y="2185651"/>
            <a:ext cx="29535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600" dirty="0">
                <a:solidFill>
                  <a:schemeClr val="bg1"/>
                </a:solidFill>
              </a:rPr>
              <a:t>4</a:t>
            </a:r>
            <a:endParaRPr kumimoji="1" lang="zh-CN" altLang="en-US" sz="600" dirty="0">
              <a:solidFill>
                <a:schemeClr val="bg1"/>
              </a:solidFill>
            </a:endParaRPr>
          </a:p>
        </p:txBody>
      </p:sp>
      <p:pic>
        <p:nvPicPr>
          <p:cNvPr id="8" name="picture 534">
            <a:extLst>
              <a:ext uri="{FF2B5EF4-FFF2-40B4-BE49-F238E27FC236}">
                <a16:creationId xmlns:a16="http://schemas.microsoft.com/office/drawing/2014/main" id="{6AF4F89C-AA71-D8FD-CDD7-2CB7F376D5E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513313" y="2397082"/>
            <a:ext cx="114214" cy="114214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D69B1047-AE98-7779-ED28-EED00E019F98}"/>
              </a:ext>
            </a:extLst>
          </p:cNvPr>
          <p:cNvSpPr txBox="1"/>
          <p:nvPr/>
        </p:nvSpPr>
        <p:spPr>
          <a:xfrm>
            <a:off x="460800" y="2364312"/>
            <a:ext cx="29535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600" dirty="0">
                <a:solidFill>
                  <a:schemeClr val="bg1"/>
                </a:solidFill>
              </a:rPr>
              <a:t>5</a:t>
            </a:r>
            <a:endParaRPr kumimoji="1" lang="zh-CN" altLang="en-US" sz="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1489</Words>
  <Application>Microsoft Macintosh PowerPoint</Application>
  <PresentationFormat>自定义</PresentationFormat>
  <Paragraphs>360</Paragraphs>
  <Slides>24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24</vt:i4>
      </vt:variant>
    </vt:vector>
  </HeadingPairs>
  <TitlesOfParts>
    <vt:vector size="30" baseType="lpstr">
      <vt:lpstr>Arial</vt:lpstr>
      <vt:lpstr>Cambria Math</vt:lpstr>
      <vt:lpstr>Georgia</vt:lpstr>
      <vt:lpstr>Office theme</vt:lpstr>
      <vt:lpstr>Microsoft Word 文档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芝浩 金</cp:lastModifiedBy>
  <cp:revision>6</cp:revision>
  <dcterms:created xsi:type="dcterms:W3CDTF">2024-09-26T15:08:11Z</dcterms:created>
  <dcterms:modified xsi:type="dcterms:W3CDTF">2026-02-22T22:51:21Z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wqlLaW5nc29mdCBQREYgdG8gV1BTIDExNQ</vt:lpwstr>
  </property>
  <property fmtid="{D5CDD505-2E9C-101B-9397-08002B2CF9AE}" pid="3" name="Created">
    <vt:filetime>2026-02-16T11:57:33Z</vt:filetime>
  </property>
</Properties>
</file>