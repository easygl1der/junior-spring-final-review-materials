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sldIdLst>
    <p:sldId id="256" r:id="rId2"/>
    <p:sldId id="257" r:id="rId3"/>
    <p:sldId id="258" r:id="rId4"/>
    <p:sldId id="259" r:id="rId5"/>
    <p:sldId id="290" r:id="rId6"/>
    <p:sldId id="261" r:id="rId7"/>
    <p:sldId id="262" r:id="rId8"/>
    <p:sldId id="263" r:id="rId9"/>
    <p:sldId id="264" r:id="rId10"/>
    <p:sldId id="265" r:id="rId11"/>
    <p:sldId id="295" r:id="rId12"/>
    <p:sldId id="811" r:id="rId13"/>
    <p:sldId id="294" r:id="rId14"/>
    <p:sldId id="293" r:id="rId15"/>
    <p:sldId id="292" r:id="rId16"/>
    <p:sldId id="291" r:id="rId17"/>
    <p:sldId id="288" r:id="rId18"/>
    <p:sldId id="273" r:id="rId19"/>
    <p:sldId id="274" r:id="rId20"/>
    <p:sldId id="289" r:id="rId21"/>
    <p:sldId id="812" r:id="rId22"/>
    <p:sldId id="296" r:id="rId23"/>
    <p:sldId id="277" r:id="rId24"/>
    <p:sldId id="278" r:id="rId25"/>
    <p:sldId id="279" r:id="rId26"/>
    <p:sldId id="281" r:id="rId27"/>
    <p:sldId id="282" r:id="rId28"/>
    <p:sldId id="283" r:id="rId29"/>
    <p:sldId id="284" r:id="rId30"/>
    <p:sldId id="285" r:id="rId31"/>
  </p:sldIdLst>
  <p:sldSz cx="13825538" cy="10369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32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916" y="1697054"/>
            <a:ext cx="11751707" cy="3610140"/>
          </a:xfrm>
        </p:spPr>
        <p:txBody>
          <a:bodyPr anchor="b"/>
          <a:lstStyle>
            <a:lvl1pPr algn="ctr">
              <a:defRPr sz="90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8192" y="5446415"/>
            <a:ext cx="10369154" cy="2503573"/>
          </a:xfrm>
        </p:spPr>
        <p:txBody>
          <a:bodyPr/>
          <a:lstStyle>
            <a:lvl1pPr marL="0" indent="0" algn="ctr">
              <a:buNone/>
              <a:defRPr sz="3629"/>
            </a:lvl1pPr>
            <a:lvl2pPr marL="691286" indent="0" algn="ctr">
              <a:buNone/>
              <a:defRPr sz="3024"/>
            </a:lvl2pPr>
            <a:lvl3pPr marL="1382573" indent="0" algn="ctr">
              <a:buNone/>
              <a:defRPr sz="2722"/>
            </a:lvl3pPr>
            <a:lvl4pPr marL="2073859" indent="0" algn="ctr">
              <a:buNone/>
              <a:defRPr sz="2419"/>
            </a:lvl4pPr>
            <a:lvl5pPr marL="2765146" indent="0" algn="ctr">
              <a:buNone/>
              <a:defRPr sz="2419"/>
            </a:lvl5pPr>
            <a:lvl6pPr marL="3456432" indent="0" algn="ctr">
              <a:buNone/>
              <a:defRPr sz="2419"/>
            </a:lvl6pPr>
            <a:lvl7pPr marL="4147718" indent="0" algn="ctr">
              <a:buNone/>
              <a:defRPr sz="2419"/>
            </a:lvl7pPr>
            <a:lvl8pPr marL="4839005" indent="0" algn="ctr">
              <a:buNone/>
              <a:defRPr sz="2419"/>
            </a:lvl8pPr>
            <a:lvl9pPr marL="5530291" indent="0" algn="ctr">
              <a:buNone/>
              <a:defRPr sz="241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303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8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305" y="2585189"/>
            <a:ext cx="11924527" cy="4313444"/>
          </a:xfrm>
        </p:spPr>
        <p:txBody>
          <a:bodyPr anchor="b"/>
          <a:lstStyle>
            <a:lvl1pPr>
              <a:defRPr sz="90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3305" y="6939440"/>
            <a:ext cx="11924527" cy="2268338"/>
          </a:xfrm>
        </p:spPr>
        <p:txBody>
          <a:bodyPr/>
          <a:lstStyle>
            <a:lvl1pPr marL="0" indent="0">
              <a:buNone/>
              <a:defRPr sz="3629">
                <a:solidFill>
                  <a:schemeClr val="tx1"/>
                </a:solidFill>
              </a:defRPr>
            </a:lvl1pPr>
            <a:lvl2pPr marL="691286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2pPr>
            <a:lvl3pPr marL="1382573" indent="0">
              <a:buNone/>
              <a:defRPr sz="2722">
                <a:solidFill>
                  <a:schemeClr val="tx1">
                    <a:tint val="75000"/>
                  </a:schemeClr>
                </a:solidFill>
              </a:defRPr>
            </a:lvl3pPr>
            <a:lvl4pPr marL="2073859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4pPr>
            <a:lvl5pPr marL="2765146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5pPr>
            <a:lvl6pPr marL="3456432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6pPr>
            <a:lvl7pPr marL="4147718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7pPr>
            <a:lvl8pPr marL="4839005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8pPr>
            <a:lvl9pPr marL="5530291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85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0506" y="2760413"/>
            <a:ext cx="5875854" cy="6579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9178" y="2760413"/>
            <a:ext cx="5875854" cy="6579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2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306" y="552085"/>
            <a:ext cx="11924527" cy="20043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308" y="2541981"/>
            <a:ext cx="5848850" cy="1245785"/>
          </a:xfrm>
        </p:spPr>
        <p:txBody>
          <a:bodyPr anchor="b"/>
          <a:lstStyle>
            <a:lvl1pPr marL="0" indent="0">
              <a:buNone/>
              <a:defRPr sz="3629" b="1"/>
            </a:lvl1pPr>
            <a:lvl2pPr marL="691286" indent="0">
              <a:buNone/>
              <a:defRPr sz="3024" b="1"/>
            </a:lvl2pPr>
            <a:lvl3pPr marL="1382573" indent="0">
              <a:buNone/>
              <a:defRPr sz="2722" b="1"/>
            </a:lvl3pPr>
            <a:lvl4pPr marL="2073859" indent="0">
              <a:buNone/>
              <a:defRPr sz="2419" b="1"/>
            </a:lvl4pPr>
            <a:lvl5pPr marL="2765146" indent="0">
              <a:buNone/>
              <a:defRPr sz="2419" b="1"/>
            </a:lvl5pPr>
            <a:lvl6pPr marL="3456432" indent="0">
              <a:buNone/>
              <a:defRPr sz="2419" b="1"/>
            </a:lvl6pPr>
            <a:lvl7pPr marL="4147718" indent="0">
              <a:buNone/>
              <a:defRPr sz="2419" b="1"/>
            </a:lvl7pPr>
            <a:lvl8pPr marL="4839005" indent="0">
              <a:buNone/>
              <a:defRPr sz="2419" b="1"/>
            </a:lvl8pPr>
            <a:lvl9pPr marL="5530291" indent="0">
              <a:buNone/>
              <a:defRPr sz="24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2308" y="3787766"/>
            <a:ext cx="5848850" cy="5571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99180" y="2541981"/>
            <a:ext cx="5877654" cy="1245785"/>
          </a:xfrm>
        </p:spPr>
        <p:txBody>
          <a:bodyPr anchor="b"/>
          <a:lstStyle>
            <a:lvl1pPr marL="0" indent="0">
              <a:buNone/>
              <a:defRPr sz="3629" b="1"/>
            </a:lvl1pPr>
            <a:lvl2pPr marL="691286" indent="0">
              <a:buNone/>
              <a:defRPr sz="3024" b="1"/>
            </a:lvl2pPr>
            <a:lvl3pPr marL="1382573" indent="0">
              <a:buNone/>
              <a:defRPr sz="2722" b="1"/>
            </a:lvl3pPr>
            <a:lvl4pPr marL="2073859" indent="0">
              <a:buNone/>
              <a:defRPr sz="2419" b="1"/>
            </a:lvl4pPr>
            <a:lvl5pPr marL="2765146" indent="0">
              <a:buNone/>
              <a:defRPr sz="2419" b="1"/>
            </a:lvl5pPr>
            <a:lvl6pPr marL="3456432" indent="0">
              <a:buNone/>
              <a:defRPr sz="2419" b="1"/>
            </a:lvl6pPr>
            <a:lvl7pPr marL="4147718" indent="0">
              <a:buNone/>
              <a:defRPr sz="2419" b="1"/>
            </a:lvl7pPr>
            <a:lvl8pPr marL="4839005" indent="0">
              <a:buNone/>
              <a:defRPr sz="2419" b="1"/>
            </a:lvl8pPr>
            <a:lvl9pPr marL="5530291" indent="0">
              <a:buNone/>
              <a:defRPr sz="24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99180" y="3787766"/>
            <a:ext cx="5877654" cy="5571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820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894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34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306" y="691303"/>
            <a:ext cx="4459096" cy="2419562"/>
          </a:xfrm>
        </p:spPr>
        <p:txBody>
          <a:bodyPr anchor="b"/>
          <a:lstStyle>
            <a:lvl1pPr>
              <a:defRPr sz="48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7654" y="1493025"/>
            <a:ext cx="6999179" cy="7369102"/>
          </a:xfrm>
        </p:spPr>
        <p:txBody>
          <a:bodyPr/>
          <a:lstStyle>
            <a:lvl1pPr>
              <a:defRPr sz="4838"/>
            </a:lvl1pPr>
            <a:lvl2pPr>
              <a:defRPr sz="4234"/>
            </a:lvl2pPr>
            <a:lvl3pPr>
              <a:defRPr sz="3629"/>
            </a:lvl3pPr>
            <a:lvl4pPr>
              <a:defRPr sz="3024"/>
            </a:lvl4pPr>
            <a:lvl5pPr>
              <a:defRPr sz="3024"/>
            </a:lvl5pPr>
            <a:lvl6pPr>
              <a:defRPr sz="3024"/>
            </a:lvl6pPr>
            <a:lvl7pPr>
              <a:defRPr sz="3024"/>
            </a:lvl7pPr>
            <a:lvl8pPr>
              <a:defRPr sz="3024"/>
            </a:lvl8pPr>
            <a:lvl9pPr>
              <a:defRPr sz="30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306" y="3110865"/>
            <a:ext cx="4459096" cy="5763262"/>
          </a:xfrm>
        </p:spPr>
        <p:txBody>
          <a:bodyPr/>
          <a:lstStyle>
            <a:lvl1pPr marL="0" indent="0">
              <a:buNone/>
              <a:defRPr sz="2419"/>
            </a:lvl1pPr>
            <a:lvl2pPr marL="691286" indent="0">
              <a:buNone/>
              <a:defRPr sz="2117"/>
            </a:lvl2pPr>
            <a:lvl3pPr marL="1382573" indent="0">
              <a:buNone/>
              <a:defRPr sz="1814"/>
            </a:lvl3pPr>
            <a:lvl4pPr marL="2073859" indent="0">
              <a:buNone/>
              <a:defRPr sz="1512"/>
            </a:lvl4pPr>
            <a:lvl5pPr marL="2765146" indent="0">
              <a:buNone/>
              <a:defRPr sz="1512"/>
            </a:lvl5pPr>
            <a:lvl6pPr marL="3456432" indent="0">
              <a:buNone/>
              <a:defRPr sz="1512"/>
            </a:lvl6pPr>
            <a:lvl7pPr marL="4147718" indent="0">
              <a:buNone/>
              <a:defRPr sz="1512"/>
            </a:lvl7pPr>
            <a:lvl8pPr marL="4839005" indent="0">
              <a:buNone/>
              <a:defRPr sz="1512"/>
            </a:lvl8pPr>
            <a:lvl9pPr marL="5530291" indent="0">
              <a:buNone/>
              <a:defRPr sz="15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26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306" y="691303"/>
            <a:ext cx="4459096" cy="2419562"/>
          </a:xfrm>
        </p:spPr>
        <p:txBody>
          <a:bodyPr anchor="b"/>
          <a:lstStyle>
            <a:lvl1pPr>
              <a:defRPr sz="48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77654" y="1493025"/>
            <a:ext cx="6999179" cy="7369102"/>
          </a:xfrm>
        </p:spPr>
        <p:txBody>
          <a:bodyPr anchor="t"/>
          <a:lstStyle>
            <a:lvl1pPr marL="0" indent="0">
              <a:buNone/>
              <a:defRPr sz="4838"/>
            </a:lvl1pPr>
            <a:lvl2pPr marL="691286" indent="0">
              <a:buNone/>
              <a:defRPr sz="4234"/>
            </a:lvl2pPr>
            <a:lvl3pPr marL="1382573" indent="0">
              <a:buNone/>
              <a:defRPr sz="3629"/>
            </a:lvl3pPr>
            <a:lvl4pPr marL="2073859" indent="0">
              <a:buNone/>
              <a:defRPr sz="3024"/>
            </a:lvl4pPr>
            <a:lvl5pPr marL="2765146" indent="0">
              <a:buNone/>
              <a:defRPr sz="3024"/>
            </a:lvl5pPr>
            <a:lvl6pPr marL="3456432" indent="0">
              <a:buNone/>
              <a:defRPr sz="3024"/>
            </a:lvl6pPr>
            <a:lvl7pPr marL="4147718" indent="0">
              <a:buNone/>
              <a:defRPr sz="3024"/>
            </a:lvl7pPr>
            <a:lvl8pPr marL="4839005" indent="0">
              <a:buNone/>
              <a:defRPr sz="3024"/>
            </a:lvl8pPr>
            <a:lvl9pPr marL="5530291" indent="0">
              <a:buNone/>
              <a:defRPr sz="30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306" y="3110865"/>
            <a:ext cx="4459096" cy="5763262"/>
          </a:xfrm>
        </p:spPr>
        <p:txBody>
          <a:bodyPr/>
          <a:lstStyle>
            <a:lvl1pPr marL="0" indent="0">
              <a:buNone/>
              <a:defRPr sz="2419"/>
            </a:lvl1pPr>
            <a:lvl2pPr marL="691286" indent="0">
              <a:buNone/>
              <a:defRPr sz="2117"/>
            </a:lvl2pPr>
            <a:lvl3pPr marL="1382573" indent="0">
              <a:buNone/>
              <a:defRPr sz="1814"/>
            </a:lvl3pPr>
            <a:lvl4pPr marL="2073859" indent="0">
              <a:buNone/>
              <a:defRPr sz="1512"/>
            </a:lvl4pPr>
            <a:lvl5pPr marL="2765146" indent="0">
              <a:buNone/>
              <a:defRPr sz="1512"/>
            </a:lvl5pPr>
            <a:lvl6pPr marL="3456432" indent="0">
              <a:buNone/>
              <a:defRPr sz="1512"/>
            </a:lvl6pPr>
            <a:lvl7pPr marL="4147718" indent="0">
              <a:buNone/>
              <a:defRPr sz="1512"/>
            </a:lvl7pPr>
            <a:lvl8pPr marL="4839005" indent="0">
              <a:buNone/>
              <a:defRPr sz="1512"/>
            </a:lvl8pPr>
            <a:lvl9pPr marL="5530291" indent="0">
              <a:buNone/>
              <a:defRPr sz="15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23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1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93901" y="552083"/>
            <a:ext cx="2981132" cy="8787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0506" y="552083"/>
            <a:ext cx="8770576" cy="8787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316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27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0506" y="552085"/>
            <a:ext cx="11924527" cy="2004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0506" y="2760413"/>
            <a:ext cx="11924527" cy="657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0506" y="9611039"/>
            <a:ext cx="3110746" cy="552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9710" y="9611039"/>
            <a:ext cx="4666119" cy="552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64286" y="9611039"/>
            <a:ext cx="3110746" cy="552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4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1382573" rtl="0" eaLnBrk="1" latinLnBrk="0" hangingPunct="1">
        <a:lnSpc>
          <a:spcPct val="90000"/>
        </a:lnSpc>
        <a:spcBef>
          <a:spcPct val="0"/>
        </a:spcBef>
        <a:buNone/>
        <a:defRPr sz="66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5643" indent="-345643" algn="l" defTabSz="1382573" rtl="0" eaLnBrk="1" latinLnBrk="0" hangingPunct="1">
        <a:lnSpc>
          <a:spcPct val="90000"/>
        </a:lnSpc>
        <a:spcBef>
          <a:spcPts val="1512"/>
        </a:spcBef>
        <a:buFont typeface="Arial" panose="020B0604020202020204" pitchFamily="34" charset="0"/>
        <a:buChar char="•"/>
        <a:defRPr sz="4234" kern="1200">
          <a:solidFill>
            <a:schemeClr val="tx1"/>
          </a:solidFill>
          <a:latin typeface="+mn-lt"/>
          <a:ea typeface="+mn-ea"/>
          <a:cs typeface="+mn-cs"/>
        </a:defRPr>
      </a:lvl1pPr>
      <a:lvl2pPr marL="1036930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3629" kern="1200">
          <a:solidFill>
            <a:schemeClr val="tx1"/>
          </a:solidFill>
          <a:latin typeface="+mn-lt"/>
          <a:ea typeface="+mn-ea"/>
          <a:cs typeface="+mn-cs"/>
        </a:defRPr>
      </a:lvl2pPr>
      <a:lvl3pPr marL="1728216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419502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4pPr>
      <a:lvl5pPr marL="3110789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5pPr>
      <a:lvl6pPr marL="3802075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6pPr>
      <a:lvl7pPr marL="4493362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7pPr>
      <a:lvl8pPr marL="5184648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8pPr>
      <a:lvl9pPr marL="5875934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1pPr>
      <a:lvl2pPr marL="691286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2pPr>
      <a:lvl3pPr marL="1382573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3pPr>
      <a:lvl4pPr marL="2073859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4pPr>
      <a:lvl5pPr marL="2765146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5pPr>
      <a:lvl6pPr marL="3456432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6pPr>
      <a:lvl7pPr marL="4147718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7pPr>
      <a:lvl8pPr marL="4839005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8pPr>
      <a:lvl9pPr marL="5530291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2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2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hyperlink" Target="https://arxiv.org/pdf/2305.18793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5" Type="http://schemas.openxmlformats.org/officeDocument/2006/relationships/image" Target="../media/image60.png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.png"/><Relationship Id="rId7" Type="http://schemas.openxmlformats.org/officeDocument/2006/relationships/image" Target="../media/image7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4594" y="2506064"/>
            <a:ext cx="13452007" cy="148201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4927227" y="4564085"/>
            <a:ext cx="3989681" cy="251117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8000"/>
              </a:lnSpc>
            </a:pPr>
            <a:r>
              <a:rPr sz="33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Zhichao</a:t>
            </a:r>
            <a:r>
              <a:rPr sz="33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3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Jiang</a:t>
            </a:r>
            <a:endParaRPr sz="33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rtl="0" eaLnBrk="0">
              <a:lnSpc>
                <a:spcPct val="104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algn="ctr" eaLnBrk="0">
              <a:lnSpc>
                <a:spcPct val="92000"/>
              </a:lnSpc>
              <a:spcBef>
                <a:spcPts val="915"/>
              </a:spcBef>
            </a:pP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Sun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Yat-sen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University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rtl="0" eaLnBrk="0">
              <a:lnSpc>
                <a:spcPct val="111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rtl="0" eaLnBrk="0">
              <a:lnSpc>
                <a:spcPct val="126000"/>
              </a:lnSpc>
            </a:pPr>
            <a:r>
              <a:rPr lang="en-US"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Spring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202</a:t>
            </a:r>
            <a:r>
              <a:rPr lang="en-US"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</a:p>
        </p:txBody>
      </p:sp>
      <p:sp>
        <p:nvSpPr>
          <p:cNvPr id="6" name="textbox 6"/>
          <p:cNvSpPr/>
          <p:nvPr/>
        </p:nvSpPr>
        <p:spPr>
          <a:xfrm>
            <a:off x="5562306" y="2946171"/>
            <a:ext cx="2751238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86000"/>
              </a:lnSpc>
            </a:pPr>
            <a:r>
              <a:rPr sz="42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Introduction</a:t>
            </a:r>
            <a:endParaRPr sz="42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3003529" y="10025265"/>
            <a:ext cx="621122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13564328" y="2600621"/>
            <a:ext cx="0" cy="1139766"/>
            <a:chOff x="0" y="0"/>
            <a:chExt cx="0" cy="379864"/>
          </a:xfrm>
        </p:grpSpPr>
        <p:sp>
          <p:nvSpPr>
            <p:cNvPr id="10" name="path 10"/>
            <p:cNvSpPr/>
            <p:nvPr/>
          </p:nvSpPr>
          <p:spPr>
            <a:xfrm>
              <a:off x="0" y="57150"/>
              <a:ext cx="0" cy="322714"/>
            </a:xfrm>
            <a:custGeom>
              <a:avLst/>
              <a:gdLst/>
              <a:ahLst/>
              <a:cxnLst/>
              <a:rect l="0" t="0" r="0" b="0"/>
              <a:pathLst>
                <a:path h="508">
                  <a:moveTo>
                    <a:pt x="0" y="508"/>
                  </a:moveTo>
                  <a:lnTo>
                    <a:pt x="0" y="0"/>
                  </a:lnTo>
                </a:path>
              </a:pathLst>
            </a:custGeom>
            <a:noFill/>
            <a:ln w="0" cap="flat">
              <a:solidFill>
                <a:srgbClr val="80808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 sz="16206"/>
            </a:p>
          </p:txBody>
        </p:sp>
        <p:sp>
          <p:nvSpPr>
            <p:cNvPr id="12" name="path 12"/>
            <p:cNvSpPr/>
            <p:nvPr/>
          </p:nvSpPr>
          <p:spPr>
            <a:xfrm>
              <a:off x="0" y="44450"/>
              <a:ext cx="0" cy="12700"/>
            </a:xfrm>
            <a:custGeom>
              <a:avLst/>
              <a:gdLst/>
              <a:ahLst/>
              <a:cxnLst/>
              <a:rect l="0" t="0" r="0" b="0"/>
              <a:pathLst>
                <a:path h="20">
                  <a:moveTo>
                    <a:pt x="0" y="20"/>
                  </a:moveTo>
                  <a:lnTo>
                    <a:pt x="0" y="0"/>
                  </a:lnTo>
                </a:path>
              </a:pathLst>
            </a:custGeom>
            <a:noFill/>
            <a:ln w="0" cap="flat">
              <a:solidFill>
                <a:srgbClr val="B0B0B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 sz="16206"/>
            </a:p>
          </p:txBody>
        </p:sp>
        <p:sp>
          <p:nvSpPr>
            <p:cNvPr id="14" name="path 14"/>
            <p:cNvSpPr/>
            <p:nvPr/>
          </p:nvSpPr>
          <p:spPr>
            <a:xfrm>
              <a:off x="0" y="31750"/>
              <a:ext cx="0" cy="12700"/>
            </a:xfrm>
            <a:custGeom>
              <a:avLst/>
              <a:gdLst/>
              <a:ahLst/>
              <a:cxnLst/>
              <a:rect l="0" t="0" r="0" b="0"/>
              <a:pathLst>
                <a:path h="20">
                  <a:moveTo>
                    <a:pt x="0" y="20"/>
                  </a:moveTo>
                  <a:lnTo>
                    <a:pt x="0" y="0"/>
                  </a:lnTo>
                </a:path>
              </a:pathLst>
            </a:custGeom>
            <a:noFill/>
            <a:ln w="0" cap="flat">
              <a:solidFill>
                <a:srgbClr val="CFCFCF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 sz="16206"/>
            </a:p>
          </p:txBody>
        </p:sp>
        <p:sp>
          <p:nvSpPr>
            <p:cNvPr id="16" name="path 16"/>
            <p:cNvSpPr/>
            <p:nvPr/>
          </p:nvSpPr>
          <p:spPr>
            <a:xfrm>
              <a:off x="0" y="19050"/>
              <a:ext cx="0" cy="12700"/>
            </a:xfrm>
            <a:custGeom>
              <a:avLst/>
              <a:gdLst/>
              <a:ahLst/>
              <a:cxnLst/>
              <a:rect l="0" t="0" r="0" b="0"/>
              <a:pathLst>
                <a:path h="20">
                  <a:moveTo>
                    <a:pt x="0" y="20"/>
                  </a:moveTo>
                  <a:lnTo>
                    <a:pt x="0" y="0"/>
                  </a:lnTo>
                </a:path>
              </a:pathLst>
            </a:custGeom>
            <a:noFill/>
            <a:ln w="0" cap="flat">
              <a:solidFill>
                <a:srgbClr val="F0F0F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 sz="16206"/>
            </a:p>
          </p:txBody>
        </p:sp>
        <p:sp>
          <p:nvSpPr>
            <p:cNvPr id="18" name="path 18"/>
            <p:cNvSpPr/>
            <p:nvPr/>
          </p:nvSpPr>
          <p:spPr>
            <a:xfrm>
              <a:off x="0" y="0"/>
              <a:ext cx="0" cy="19050"/>
            </a:xfrm>
            <a:custGeom>
              <a:avLst/>
              <a:gdLst/>
              <a:ahLst/>
              <a:cxnLst/>
              <a:rect l="0" t="0" r="0" b="0"/>
              <a:pathLst>
                <a:path h="30">
                  <a:moveTo>
                    <a:pt x="0" y="30"/>
                  </a:moveTo>
                  <a:lnTo>
                    <a:pt x="0" y="0"/>
                  </a:lnTo>
                </a:path>
              </a:pathLst>
            </a:custGeom>
            <a:noFill/>
            <a:ln w="0" cap="flat">
              <a:solidFill>
                <a:srgbClr val="FFFFFF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 sz="16206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2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0105" eaLnBrk="0">
              <a:lnSpc>
                <a:spcPct val="75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0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901" kern="0" spc="4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806615" y="2540139"/>
            <a:ext cx="7491607" cy="49728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Causality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central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human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knowledge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2690351"/>
            <a:ext cx="195825" cy="195825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12992615" y="10025259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806615" y="2540139"/>
            <a:ext cx="12125276" cy="3038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Causality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central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human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knowledge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15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Statisticians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ave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focused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until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recently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095"/>
              </a:spcBef>
              <a:tabLst>
                <a:tab pos="128227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foundation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experimental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analysis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(R.</a:t>
            </a:r>
            <a:r>
              <a:rPr lang="en-US"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Fisher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lang="en-US"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Neyman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28608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causal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observational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studies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(J.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obins,</a:t>
            </a:r>
            <a:r>
              <a:rPr lang="en-US"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D.</a:t>
            </a:r>
            <a:r>
              <a:rPr lang="en-US"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Rubin</a:t>
            </a:r>
            <a:r>
              <a:rPr sz="2700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et</a:t>
            </a:r>
            <a:r>
              <a:rPr sz="2700" i="1" kern="0" spc="30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2700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al.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184" y="5280110"/>
            <a:ext cx="157779" cy="15777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4" y="4824559"/>
            <a:ext cx="157779" cy="157779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4255051"/>
            <a:ext cx="195825" cy="195825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2690351"/>
            <a:ext cx="195825" cy="195825"/>
          </a:xfrm>
          <a:prstGeom prst="rect">
            <a:avLst/>
          </a:prstGeom>
        </p:spPr>
      </p:pic>
      <p:sp>
        <p:nvSpPr>
          <p:cNvPr id="38" name="rect 38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40" name="textbox 40"/>
          <p:cNvSpPr/>
          <p:nvPr/>
        </p:nvSpPr>
        <p:spPr>
          <a:xfrm>
            <a:off x="323349" y="340929"/>
            <a:ext cx="6748543" cy="522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75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0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901" kern="0" spc="4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12992597" y="10025268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4"/>
          <p:cNvSpPr/>
          <p:nvPr/>
        </p:nvSpPr>
        <p:spPr>
          <a:xfrm>
            <a:off x="806612" y="2540137"/>
            <a:ext cx="12125276" cy="5677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Causality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central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human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knowledge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15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Statisticians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ave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focused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until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recently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095"/>
              </a:spcBef>
              <a:tabLst>
                <a:tab pos="128227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foundation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experimental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analysis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(R.</a:t>
            </a:r>
            <a:r>
              <a:rPr lang="en-US"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Fisher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lang="en-US"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Neyman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28608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causal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observational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studies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(J.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obins,</a:t>
            </a:r>
            <a:r>
              <a:rPr lang="en-US"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D.</a:t>
            </a:r>
            <a:r>
              <a:rPr lang="en-US"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Rubin</a:t>
            </a:r>
            <a:r>
              <a:rPr sz="2700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et</a:t>
            </a:r>
            <a:r>
              <a:rPr sz="2700" i="1" kern="0" spc="30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2700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al.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1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30"/>
              </a:spcBef>
              <a:tabLst>
                <a:tab pos="468708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001" kern="0" spc="51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revolution</a:t>
            </a:r>
            <a:r>
              <a:rPr sz="3001" kern="0" spc="36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ove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last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40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years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4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104000"/>
              </a:lnSpc>
              <a:tabLst>
                <a:tab pos="1301332" algn="l"/>
                <a:tab pos="130704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in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luences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scienti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ﬁ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disciplines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medical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social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sciences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		Holland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(1986)</a:t>
            </a:r>
            <a:r>
              <a:rPr lang="en-US"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“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lang="en-US"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”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181" y="7907804"/>
            <a:ext cx="157779" cy="1577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1" y="7452215"/>
            <a:ext cx="157779" cy="157779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0" y="6882712"/>
            <a:ext cx="195825" cy="195825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4184" y="5280110"/>
            <a:ext cx="157779" cy="157779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4184" y="4824559"/>
            <a:ext cx="157779" cy="157779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4723" y="4255051"/>
            <a:ext cx="195825" cy="195825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4723" y="2690351"/>
            <a:ext cx="195825" cy="195825"/>
          </a:xfrm>
          <a:prstGeom prst="rect">
            <a:avLst/>
          </a:prstGeom>
        </p:spPr>
      </p:pic>
      <p:sp>
        <p:nvSpPr>
          <p:cNvPr id="60" name="rect 60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62" name="textbox 62"/>
          <p:cNvSpPr/>
          <p:nvPr/>
        </p:nvSpPr>
        <p:spPr>
          <a:xfrm>
            <a:off x="323349" y="340929"/>
            <a:ext cx="6748543" cy="522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75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0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901" kern="0" spc="4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2992597" y="10025259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8A3C-DF70-2AFA-D632-6ABF8B17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80">
            <a:extLst>
              <a:ext uri="{FF2B5EF4-FFF2-40B4-BE49-F238E27FC236}">
                <a16:creationId xmlns:a16="http://schemas.microsoft.com/office/drawing/2014/main" id="{9B925A55-79B4-48C6-D16D-691C44A41FE7}"/>
              </a:ext>
            </a:extLst>
          </p:cNvPr>
          <p:cNvSpPr/>
          <p:nvPr/>
        </p:nvSpPr>
        <p:spPr>
          <a:xfrm>
            <a:off x="806615" y="2025281"/>
            <a:ext cx="12254836" cy="578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Health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luation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2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drugs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treatments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clinical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trials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Politics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6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polici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2045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Money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business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strategies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A/B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testing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Love</a:t>
            </a:r>
            <a:r>
              <a:rPr sz="3001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matching</a:t>
            </a:r>
            <a:r>
              <a:rPr sz="3001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algorithms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online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dating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sites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15"/>
              </a:spcBef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90" name="picture 90">
            <a:extLst>
              <a:ext uri="{FF2B5EF4-FFF2-40B4-BE49-F238E27FC236}">
                <a16:creationId xmlns:a16="http://schemas.microsoft.com/office/drawing/2014/main" id="{4471C6A8-D71E-2310-1E16-BAEC6482D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4066082"/>
            <a:ext cx="195825" cy="195825"/>
          </a:xfrm>
          <a:prstGeom prst="rect">
            <a:avLst/>
          </a:prstGeom>
        </p:spPr>
      </p:pic>
      <p:pic>
        <p:nvPicPr>
          <p:cNvPr id="92" name="picture 92">
            <a:extLst>
              <a:ext uri="{FF2B5EF4-FFF2-40B4-BE49-F238E27FC236}">
                <a16:creationId xmlns:a16="http://schemas.microsoft.com/office/drawing/2014/main" id="{3E3C69C2-6BF8-E50C-9F1F-5D60C5CF3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3435887"/>
            <a:ext cx="195825" cy="195825"/>
          </a:xfrm>
          <a:prstGeom prst="rect">
            <a:avLst/>
          </a:prstGeom>
        </p:spPr>
      </p:pic>
      <p:pic>
        <p:nvPicPr>
          <p:cNvPr id="94" name="picture 94">
            <a:extLst>
              <a:ext uri="{FF2B5EF4-FFF2-40B4-BE49-F238E27FC236}">
                <a16:creationId xmlns:a16="http://schemas.microsoft.com/office/drawing/2014/main" id="{4D1F642B-F4B5-44B3-D518-62F55EAC4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2805688"/>
            <a:ext cx="195825" cy="195825"/>
          </a:xfrm>
          <a:prstGeom prst="rect">
            <a:avLst/>
          </a:prstGeom>
        </p:spPr>
      </p:pic>
      <p:pic>
        <p:nvPicPr>
          <p:cNvPr id="96" name="picture 96">
            <a:extLst>
              <a:ext uri="{FF2B5EF4-FFF2-40B4-BE49-F238E27FC236}">
                <a16:creationId xmlns:a16="http://schemas.microsoft.com/office/drawing/2014/main" id="{67F2C68A-CD9D-82F0-BB57-D6F040537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2175496"/>
            <a:ext cx="195825" cy="195825"/>
          </a:xfrm>
          <a:prstGeom prst="rect">
            <a:avLst/>
          </a:prstGeom>
        </p:spPr>
      </p:pic>
      <p:sp>
        <p:nvSpPr>
          <p:cNvPr id="98" name="rect 98">
            <a:extLst>
              <a:ext uri="{FF2B5EF4-FFF2-40B4-BE49-F238E27FC236}">
                <a16:creationId xmlns:a16="http://schemas.microsoft.com/office/drawing/2014/main" id="{0F22445C-AC24-EE9E-2392-8376A3458B6F}"/>
              </a:ext>
            </a:extLst>
          </p:cNvPr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F5F5A4B9-8379-6E0F-1D98-AF9B398C3D20}"/>
              </a:ext>
            </a:extLst>
          </p:cNvPr>
          <p:cNvSpPr/>
          <p:nvPr/>
        </p:nvSpPr>
        <p:spPr>
          <a:xfrm>
            <a:off x="294924" y="311954"/>
            <a:ext cx="7901245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93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</a:t>
            </a:r>
            <a:r>
              <a:rPr sz="3901" kern="0" spc="6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important?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23CFECCD-5671-3A39-5556-34A0C7143855}"/>
              </a:ext>
            </a:extLst>
          </p:cNvPr>
          <p:cNvSpPr/>
          <p:nvPr/>
        </p:nvSpPr>
        <p:spPr>
          <a:xfrm>
            <a:off x="12992597" y="10025265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49066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80"/>
          <p:cNvSpPr/>
          <p:nvPr/>
        </p:nvSpPr>
        <p:spPr>
          <a:xfrm>
            <a:off x="806615" y="2025281"/>
            <a:ext cx="12254836" cy="578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Health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luation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2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drugs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treatments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clinical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trials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Politics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6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polici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2045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Money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business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strategies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A/B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testing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Love</a:t>
            </a:r>
            <a:r>
              <a:rPr sz="3001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matching</a:t>
            </a:r>
            <a:r>
              <a:rPr sz="3001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algorithms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online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dating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sites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15"/>
              </a:spcBef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Causal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asks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“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”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questions?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99427" indent="-234354" eaLnBrk="0">
              <a:lnSpc>
                <a:spcPct val="112000"/>
              </a:lnSpc>
              <a:spcBef>
                <a:spcPts val="1020"/>
              </a:spcBef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would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happen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 the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patient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received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treatme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nt</a:t>
            </a:r>
            <a:r>
              <a:rPr sz="2700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A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instead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2700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B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?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03237" indent="-238165" eaLnBrk="0">
              <a:lnSpc>
                <a:spcPct val="103000"/>
              </a:lnSpc>
              <a:spcBef>
                <a:spcPts val="15"/>
              </a:spcBef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</a:t>
            </a:r>
            <a:r>
              <a:rPr sz="27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would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happen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une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mployment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government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increased          minimum</a:t>
            </a:r>
            <a:r>
              <a:rPr sz="27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wage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s?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495"/>
              </a:spcBef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</a:t>
            </a:r>
            <a:r>
              <a:rPr sz="27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would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your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life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been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like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 you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went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</a:t>
            </a:r>
            <a:r>
              <a:rPr lang="en-US"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erent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University?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184" y="7507666"/>
            <a:ext cx="157779" cy="157779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4" y="6596559"/>
            <a:ext cx="157779" cy="157779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184" y="5685448"/>
            <a:ext cx="157779" cy="157779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5115901"/>
            <a:ext cx="195825" cy="195825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723" y="4066082"/>
            <a:ext cx="195825" cy="195825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4723" y="3435887"/>
            <a:ext cx="195825" cy="195825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4723" y="2805688"/>
            <a:ext cx="195825" cy="195825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44723" y="2175496"/>
            <a:ext cx="195825" cy="195825"/>
          </a:xfrm>
          <a:prstGeom prst="rect">
            <a:avLst/>
          </a:prstGeom>
        </p:spPr>
      </p:pic>
      <p:sp>
        <p:nvSpPr>
          <p:cNvPr id="98" name="rect 98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100" name="textbox 100"/>
          <p:cNvSpPr/>
          <p:nvPr/>
        </p:nvSpPr>
        <p:spPr>
          <a:xfrm>
            <a:off x="294924" y="311954"/>
            <a:ext cx="7901245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93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</a:t>
            </a:r>
            <a:r>
              <a:rPr sz="3901" kern="0" spc="6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important?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12992597" y="10025265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04"/>
          <p:cNvSpPr/>
          <p:nvPr/>
        </p:nvSpPr>
        <p:spPr>
          <a:xfrm>
            <a:off x="806615" y="2025279"/>
            <a:ext cx="12254836" cy="697717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Health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luation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2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drugs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treatments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clinical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trials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Politics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6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polici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2045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Money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business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strategies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A/B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testing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Love</a:t>
            </a:r>
            <a:r>
              <a:rPr sz="3001" kern="0" spc="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matching</a:t>
            </a:r>
            <a:r>
              <a:rPr sz="3001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algorithms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online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dating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sites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15"/>
              </a:spcBef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Causal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asks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“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”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questions?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99427" indent="-234354" eaLnBrk="0">
              <a:lnSpc>
                <a:spcPct val="112000"/>
              </a:lnSpc>
              <a:spcBef>
                <a:spcPts val="1020"/>
              </a:spcBef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would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happen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 the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patient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received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treatme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nt</a:t>
            </a:r>
            <a:r>
              <a:rPr sz="2700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A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instead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2700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B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?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303237" indent="-238165" eaLnBrk="0">
              <a:lnSpc>
                <a:spcPct val="103000"/>
              </a:lnSpc>
              <a:spcBef>
                <a:spcPts val="15"/>
              </a:spcBef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</a:t>
            </a:r>
            <a:r>
              <a:rPr sz="27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would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happen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une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mployment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government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increased          minimum</a:t>
            </a:r>
            <a:r>
              <a:rPr sz="27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wage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s?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495"/>
              </a:spcBef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</a:t>
            </a:r>
            <a:r>
              <a:rPr sz="27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would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your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life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been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like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if you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went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</a:t>
            </a:r>
            <a:r>
              <a:rPr lang="en-US"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ferent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University?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4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essential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making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cisions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taking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action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9" y="8656122"/>
            <a:ext cx="195825" cy="195825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4" y="7507666"/>
            <a:ext cx="157779" cy="157779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184" y="6596559"/>
            <a:ext cx="157779" cy="157779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4184" y="5685448"/>
            <a:ext cx="157779" cy="157779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723" y="5115901"/>
            <a:ext cx="195825" cy="195825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4723" y="4066082"/>
            <a:ext cx="195825" cy="195825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4723" y="3435887"/>
            <a:ext cx="195825" cy="195825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44723" y="2805688"/>
            <a:ext cx="195825" cy="195825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44723" y="2175496"/>
            <a:ext cx="195825" cy="195825"/>
          </a:xfrm>
          <a:prstGeom prst="rect">
            <a:avLst/>
          </a:prstGeom>
        </p:spPr>
      </p:pic>
      <p:sp>
        <p:nvSpPr>
          <p:cNvPr id="124" name="rect 124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126" name="textbox 126"/>
          <p:cNvSpPr/>
          <p:nvPr/>
        </p:nvSpPr>
        <p:spPr>
          <a:xfrm>
            <a:off x="294924" y="311954"/>
            <a:ext cx="7901245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93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</a:t>
            </a:r>
            <a:r>
              <a:rPr sz="3901" kern="0" spc="6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important?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2992597" y="10025268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30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2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0105" eaLnBrk="0">
              <a:lnSpc>
                <a:spcPct val="75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0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901" kern="0" spc="4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806617" y="2812061"/>
            <a:ext cx="10713455" cy="99646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5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Classic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about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sociation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rather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causation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two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sample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test,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Chi-squared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test,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linear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regressio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n...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184" y="3509335"/>
            <a:ext cx="157779" cy="157779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2939827"/>
            <a:ext cx="195825" cy="195825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12989412" y="10025262"/>
            <a:ext cx="634462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 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40"/>
          <p:cNvSpPr/>
          <p:nvPr/>
        </p:nvSpPr>
        <p:spPr>
          <a:xfrm>
            <a:off x="806617" y="2812061"/>
            <a:ext cx="11936652" cy="3017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5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Classic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about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sociation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rather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causation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530"/>
              </a:spcBef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two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sample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test,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Chi-squared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test,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linear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regressio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n...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9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Traditional</a:t>
            </a:r>
            <a:r>
              <a:rPr sz="3001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ew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correlation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does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not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imply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causation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9" y="5482860"/>
            <a:ext cx="195825" cy="195825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4" y="3509335"/>
            <a:ext cx="157779" cy="157779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2939827"/>
            <a:ext cx="195825" cy="195825"/>
          </a:xfrm>
          <a:prstGeom prst="rect">
            <a:avLst/>
          </a:prstGeom>
        </p:spPr>
      </p:pic>
      <p:sp>
        <p:nvSpPr>
          <p:cNvPr id="148" name="rect 148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150" name="textbox 150"/>
          <p:cNvSpPr/>
          <p:nvPr/>
        </p:nvSpPr>
        <p:spPr>
          <a:xfrm>
            <a:off x="323349" y="340929"/>
            <a:ext cx="6748543" cy="522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75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0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901" kern="0" spc="4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12989412" y="10025262"/>
            <a:ext cx="634462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 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54"/>
          <p:cNvSpPr/>
          <p:nvPr/>
        </p:nvSpPr>
        <p:spPr>
          <a:xfrm>
            <a:off x="806617" y="2812060"/>
            <a:ext cx="11936652" cy="495375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5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Classic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about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sociation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rather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causation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530"/>
              </a:spcBef>
              <a:tabLst>
                <a:tab pos="127846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two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sample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test,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Chi-squared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test,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linear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regressio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n...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30"/>
              </a:spcBef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Traditional</a:t>
            </a:r>
            <a:r>
              <a:rPr sz="3001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ew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correlation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does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not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imply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causation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6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Results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methods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necessitate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careful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terpretation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9" y="7418519"/>
            <a:ext cx="195825" cy="195825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9" y="5482860"/>
            <a:ext cx="195825" cy="195825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184" y="3509335"/>
            <a:ext cx="157779" cy="157779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2939827"/>
            <a:ext cx="195825" cy="195825"/>
          </a:xfrm>
          <a:prstGeom prst="rect">
            <a:avLst/>
          </a:prstGeom>
        </p:spPr>
      </p:pic>
      <p:sp>
        <p:nvSpPr>
          <p:cNvPr id="164" name="rect 164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166" name="textbox 166"/>
          <p:cNvSpPr/>
          <p:nvPr/>
        </p:nvSpPr>
        <p:spPr>
          <a:xfrm>
            <a:off x="323349" y="340929"/>
            <a:ext cx="6748543" cy="522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75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901" kern="0" spc="60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901" kern="0" spc="4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2989412" y="10025262"/>
            <a:ext cx="634462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 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3B1E7-3164-0C9E-3081-E252247AD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>
            <a:extLst>
              <a:ext uri="{FF2B5EF4-FFF2-40B4-BE49-F238E27FC236}">
                <a16:creationId xmlns:a16="http://schemas.microsoft.com/office/drawing/2014/main" id="{13C3868F-A7B3-C8C7-024B-6531C10A9C34}"/>
              </a:ext>
            </a:extLst>
          </p:cNvPr>
          <p:cNvSpPr/>
          <p:nvPr/>
        </p:nvSpPr>
        <p:spPr>
          <a:xfrm>
            <a:off x="806617" y="4731680"/>
            <a:ext cx="11608942" cy="4498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A: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surgical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B: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minimally-invas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ive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1575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64897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ts val="6661"/>
              </a:lnSpc>
              <a:tabLst>
                <a:tab pos="445844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68" name="picture 268">
            <a:extLst>
              <a:ext uri="{FF2B5EF4-FFF2-40B4-BE49-F238E27FC236}">
                <a16:creationId xmlns:a16="http://schemas.microsoft.com/office/drawing/2014/main" id="{A6CFDF52-5BC1-7826-321B-975221171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5512085"/>
            <a:ext cx="195825" cy="195825"/>
          </a:xfrm>
          <a:prstGeom prst="rect">
            <a:avLst/>
          </a:prstGeom>
        </p:spPr>
      </p:pic>
      <p:pic>
        <p:nvPicPr>
          <p:cNvPr id="270" name="picture 270">
            <a:extLst>
              <a:ext uri="{FF2B5EF4-FFF2-40B4-BE49-F238E27FC236}">
                <a16:creationId xmlns:a16="http://schemas.microsoft.com/office/drawing/2014/main" id="{EA5C4E0B-07B0-82B4-50EA-B8169115F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4881895"/>
            <a:ext cx="195825" cy="195825"/>
          </a:xfrm>
          <a:prstGeom prst="rect">
            <a:avLst/>
          </a:prstGeom>
        </p:spPr>
      </p:pic>
      <p:graphicFrame>
        <p:nvGraphicFramePr>
          <p:cNvPr id="272" name="table 272">
            <a:extLst>
              <a:ext uri="{FF2B5EF4-FFF2-40B4-BE49-F238E27FC236}">
                <a16:creationId xmlns:a16="http://schemas.microsoft.com/office/drawing/2014/main" id="{56AAEBB2-BB9A-7113-3D58-73C4001B37A5}"/>
              </a:ext>
            </a:extLst>
          </p:cNvPr>
          <p:cNvGraphicFramePr>
            <a:graphicFrameLocks noGrp="1"/>
          </p:cNvGraphicFramePr>
          <p:nvPr/>
        </p:nvGraphicFramePr>
        <p:xfrm>
          <a:off x="2892719" y="1964584"/>
          <a:ext cx="8042231" cy="2109159"/>
        </p:xfrm>
        <a:graphic>
          <a:graphicData uri="http://schemas.openxmlformats.org/drawingml/2006/table">
            <a:tbl>
              <a:tblPr/>
              <a:tblGrid>
                <a:gridCol w="267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198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small</a:t>
                      </a:r>
                      <a:r>
                        <a:rPr sz="3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144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large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8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010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2075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70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9710" algn="l" rtl="0" eaLnBrk="0">
                        <a:lnSpc>
                          <a:spcPct val="90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81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04470" algn="l" rtl="0" eaLnBrk="0">
                        <a:lnSpc>
                          <a:spcPct val="90000"/>
                        </a:lnSpc>
                      </a:pP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192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71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777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8478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234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3241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25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4" name="rect 274">
            <a:extLst>
              <a:ext uri="{FF2B5EF4-FFF2-40B4-BE49-F238E27FC236}">
                <a16:creationId xmlns:a16="http://schemas.microsoft.com/office/drawing/2014/main" id="{491FB7F9-7369-B573-C6D6-1B594390777E}"/>
              </a:ext>
            </a:extLst>
          </p:cNvPr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276" name="textbox 276">
            <a:extLst>
              <a:ext uri="{FF2B5EF4-FFF2-40B4-BE49-F238E27FC236}">
                <a16:creationId xmlns:a16="http://schemas.microsoft.com/office/drawing/2014/main" id="{25147351-4DC0-2CEE-4359-DE6DE48AC2B4}"/>
              </a:ext>
            </a:extLst>
          </p:cNvPr>
          <p:cNvSpPr/>
          <p:nvPr/>
        </p:nvSpPr>
        <p:spPr>
          <a:xfrm>
            <a:off x="311324" y="311954"/>
            <a:ext cx="4176399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3901" kern="0" spc="-1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impson's</a:t>
            </a:r>
            <a:r>
              <a:rPr sz="3901" kern="0" spc="8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parado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8" name="textbox 278">
            <a:extLst>
              <a:ext uri="{FF2B5EF4-FFF2-40B4-BE49-F238E27FC236}">
                <a16:creationId xmlns:a16="http://schemas.microsoft.com/office/drawing/2014/main" id="{E398E6C8-648E-14BE-7DCD-2CDFF00AD838}"/>
              </a:ext>
            </a:extLst>
          </p:cNvPr>
          <p:cNvSpPr/>
          <p:nvPr/>
        </p:nvSpPr>
        <p:spPr>
          <a:xfrm>
            <a:off x="12991703" y="10025277"/>
            <a:ext cx="632557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768640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3A9F21B-27C8-B723-2D9C-4FBBFB6C153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802737" y="4638091"/>
            <a:ext cx="7256741" cy="54668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380" dirty="0"/>
              <a:t>A</a:t>
            </a:r>
            <a:endParaRPr lang="en-CN" sz="238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2CA242-0B22-AF4C-B13D-F7DBFA209B1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802737" y="5367006"/>
            <a:ext cx="7256741" cy="54668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380" dirty="0"/>
              <a:t>B</a:t>
            </a:r>
            <a:endParaRPr lang="en-US" sz="2212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858E18-EA7D-2D86-C45E-7EC3FD8A544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802737" y="6095919"/>
            <a:ext cx="7256741" cy="54668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38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Not sure</a:t>
            </a:r>
            <a:endParaRPr lang="en-US" sz="2212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C0FBAC-71AF-9191-AD89-BAF581F3092D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065727" y="4692760"/>
            <a:ext cx="437349" cy="437349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362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D1AFD4-DAE5-9FFA-6D11-1DF4DD2AF0F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065727" y="5421673"/>
            <a:ext cx="437349" cy="437349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362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2AC63FD-53A3-6EEB-C289-321613C967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065727" y="6150588"/>
            <a:ext cx="437349" cy="437349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362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E0E767D-85B8-8828-B3E1-FCB2A68E06E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310083" y="7553743"/>
            <a:ext cx="1312045" cy="3498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362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362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4" name="table 272">
            <a:extLst>
              <a:ext uri="{FF2B5EF4-FFF2-40B4-BE49-F238E27FC236}">
                <a16:creationId xmlns:a16="http://schemas.microsoft.com/office/drawing/2014/main" id="{A7BF1EBD-851D-6866-4304-5DBC972628CA}"/>
              </a:ext>
            </a:extLst>
          </p:cNvPr>
          <p:cNvGraphicFramePr>
            <a:graphicFrameLocks noGrp="1"/>
          </p:cNvGraphicFramePr>
          <p:nvPr/>
        </p:nvGraphicFramePr>
        <p:xfrm>
          <a:off x="3747013" y="1985176"/>
          <a:ext cx="6031442" cy="1581807"/>
        </p:xfrm>
        <a:graphic>
          <a:graphicData uri="http://schemas.openxmlformats.org/drawingml/2006/table">
            <a:tbl>
              <a:tblPr/>
              <a:tblGrid>
                <a:gridCol w="2006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1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38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2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small</a:t>
                      </a:r>
                      <a:r>
                        <a:rPr sz="23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144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large</a:t>
                      </a:r>
                      <a:r>
                        <a:rPr sz="23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96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010" algn="l" rtl="0" eaLnBrk="0">
                        <a:lnSpc>
                          <a:spcPct val="92000"/>
                        </a:lnSpc>
                      </a:pP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2075" algn="l" rtl="0" eaLnBrk="0">
                        <a:lnSpc>
                          <a:spcPct val="92000"/>
                        </a:lnSpc>
                      </a:pP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51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2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23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9710" algn="l" rtl="0" eaLnBrk="0">
                        <a:lnSpc>
                          <a:spcPct val="90000"/>
                        </a:lnSpc>
                      </a:pP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81</a:t>
                      </a:r>
                      <a:r>
                        <a:rPr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</a:t>
                      </a: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04470" algn="l" rtl="0" eaLnBrk="0">
                        <a:lnSpc>
                          <a:spcPct val="90000"/>
                        </a:lnSpc>
                      </a:pPr>
                      <a:r>
                        <a:rPr sz="2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192</a:t>
                      </a:r>
                      <a:r>
                        <a:rPr sz="2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2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71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817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2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23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2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8478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234</a:t>
                      </a:r>
                      <a:r>
                        <a:rPr sz="2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36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2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3241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</a:t>
                      </a:r>
                      <a:r>
                        <a:rPr sz="2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2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25</a:t>
                      </a:r>
                      <a:endParaRPr sz="2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E93D4F2-BA8D-BCF1-1832-FBD21FA7A754}"/>
              </a:ext>
            </a:extLst>
          </p:cNvPr>
          <p:cNvSpPr txBox="1"/>
          <p:nvPr/>
        </p:nvSpPr>
        <p:spPr>
          <a:xfrm>
            <a:off x="3622696" y="3796943"/>
            <a:ext cx="667302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50" dirty="0"/>
              <a:t>Which treatment is more effective?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7E4677-0716-B6F9-1D51-17B0A615CC20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1" y="-1"/>
            <a:ext cx="10366772" cy="539937"/>
            <a:chOff x="-768527" y="-576085"/>
            <a:chExt cx="4606925" cy="239944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4EF2002-5313-B754-BD7C-D27A632FBCF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768527" y="-576085"/>
              <a:ext cx="4606925" cy="239944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0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95532801-CC4C-C9C4-6F13-5D39C85D1EE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768527" y="-576085"/>
              <a:ext cx="71983" cy="239944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0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74B9292B-4241-F431-69CD-925A9129A326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-655652" y="-576085"/>
              <a:ext cx="719832" cy="239944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212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212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6" name="TipText">
              <a:extLst>
                <a:ext uri="{FF2B5EF4-FFF2-40B4-BE49-F238E27FC236}">
                  <a16:creationId xmlns:a16="http://schemas.microsoft.com/office/drawing/2014/main" id="{B9755FB3-792C-29AF-7CF4-1E86E68947EB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-163089" y="-527548"/>
              <a:ext cx="1330325" cy="115911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7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7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7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D54EA8D-C0AC-68A0-8638-D6B24A66A330}"/>
              </a:ext>
            </a:extLst>
          </p:cNvPr>
          <p:cNvPicPr preferRelativeResize="0">
            <a:picLocks/>
          </p:cNvPicPr>
          <p:nvPr>
            <p:custDataLst>
              <p:tags r:id="rId10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2276138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444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56A0-ECFE-F580-B205-CA5B2DD0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>
            <a:extLst>
              <a:ext uri="{FF2B5EF4-FFF2-40B4-BE49-F238E27FC236}">
                <a16:creationId xmlns:a16="http://schemas.microsoft.com/office/drawing/2014/main" id="{D16FA145-0427-C2DA-4584-3CAECC3CBE83}"/>
              </a:ext>
            </a:extLst>
          </p:cNvPr>
          <p:cNvSpPr/>
          <p:nvPr/>
        </p:nvSpPr>
        <p:spPr>
          <a:xfrm>
            <a:off x="806617" y="4731680"/>
            <a:ext cx="11608942" cy="4498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A: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surgical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B: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minimally-invas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ive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Success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small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1575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Success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large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64897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ts val="6661"/>
              </a:lnSpc>
              <a:tabLst>
                <a:tab pos="445844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64" name="picture 264">
            <a:extLst>
              <a:ext uri="{FF2B5EF4-FFF2-40B4-BE49-F238E27FC236}">
                <a16:creationId xmlns:a16="http://schemas.microsoft.com/office/drawing/2014/main" id="{53197788-286A-DCF1-3AE0-300CEBC3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9" y="7089066"/>
            <a:ext cx="195825" cy="195825"/>
          </a:xfrm>
          <a:prstGeom prst="rect">
            <a:avLst/>
          </a:prstGeom>
        </p:spPr>
      </p:pic>
      <p:pic>
        <p:nvPicPr>
          <p:cNvPr id="266" name="picture 266">
            <a:extLst>
              <a:ext uri="{FF2B5EF4-FFF2-40B4-BE49-F238E27FC236}">
                <a16:creationId xmlns:a16="http://schemas.microsoft.com/office/drawing/2014/main" id="{B98BA5B9-0561-C962-B78E-84C5DC72F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6458868"/>
            <a:ext cx="195825" cy="195825"/>
          </a:xfrm>
          <a:prstGeom prst="rect">
            <a:avLst/>
          </a:prstGeom>
        </p:spPr>
      </p:pic>
      <p:pic>
        <p:nvPicPr>
          <p:cNvPr id="268" name="picture 268">
            <a:extLst>
              <a:ext uri="{FF2B5EF4-FFF2-40B4-BE49-F238E27FC236}">
                <a16:creationId xmlns:a16="http://schemas.microsoft.com/office/drawing/2014/main" id="{4641A0E6-F6A8-A55E-BC0F-C6432FB51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5512085"/>
            <a:ext cx="195825" cy="195825"/>
          </a:xfrm>
          <a:prstGeom prst="rect">
            <a:avLst/>
          </a:prstGeom>
        </p:spPr>
      </p:pic>
      <p:pic>
        <p:nvPicPr>
          <p:cNvPr id="270" name="picture 270">
            <a:extLst>
              <a:ext uri="{FF2B5EF4-FFF2-40B4-BE49-F238E27FC236}">
                <a16:creationId xmlns:a16="http://schemas.microsoft.com/office/drawing/2014/main" id="{582F844F-C213-D715-A055-FEA480C24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4881895"/>
            <a:ext cx="195825" cy="195825"/>
          </a:xfrm>
          <a:prstGeom prst="rect">
            <a:avLst/>
          </a:prstGeom>
        </p:spPr>
      </p:pic>
      <p:graphicFrame>
        <p:nvGraphicFramePr>
          <p:cNvPr id="272" name="table 272">
            <a:extLst>
              <a:ext uri="{FF2B5EF4-FFF2-40B4-BE49-F238E27FC236}">
                <a16:creationId xmlns:a16="http://schemas.microsoft.com/office/drawing/2014/main" id="{EB168411-C571-2763-DED8-84D5896AB115}"/>
              </a:ext>
            </a:extLst>
          </p:cNvPr>
          <p:cNvGraphicFramePr>
            <a:graphicFrameLocks noGrp="1"/>
          </p:cNvGraphicFramePr>
          <p:nvPr/>
        </p:nvGraphicFramePr>
        <p:xfrm>
          <a:off x="2892719" y="1964584"/>
          <a:ext cx="8042231" cy="2109159"/>
        </p:xfrm>
        <a:graphic>
          <a:graphicData uri="http://schemas.openxmlformats.org/drawingml/2006/table">
            <a:tbl>
              <a:tblPr/>
              <a:tblGrid>
                <a:gridCol w="267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198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small</a:t>
                      </a:r>
                      <a:r>
                        <a:rPr sz="3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144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large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8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010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2075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70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9710" algn="l" rtl="0" eaLnBrk="0">
                        <a:lnSpc>
                          <a:spcPct val="90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81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04470" algn="l" rtl="0" eaLnBrk="0">
                        <a:lnSpc>
                          <a:spcPct val="90000"/>
                        </a:lnSpc>
                      </a:pP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192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71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777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8478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234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3241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25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4" name="rect 274">
            <a:extLst>
              <a:ext uri="{FF2B5EF4-FFF2-40B4-BE49-F238E27FC236}">
                <a16:creationId xmlns:a16="http://schemas.microsoft.com/office/drawing/2014/main" id="{1A0EA8D6-0C1D-44A9-09D8-804EF0E08EA4}"/>
              </a:ext>
            </a:extLst>
          </p:cNvPr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276" name="textbox 276">
            <a:extLst>
              <a:ext uri="{FF2B5EF4-FFF2-40B4-BE49-F238E27FC236}">
                <a16:creationId xmlns:a16="http://schemas.microsoft.com/office/drawing/2014/main" id="{491EB059-A64C-9205-7240-975201DE7A7E}"/>
              </a:ext>
            </a:extLst>
          </p:cNvPr>
          <p:cNvSpPr/>
          <p:nvPr/>
        </p:nvSpPr>
        <p:spPr>
          <a:xfrm>
            <a:off x="311324" y="311954"/>
            <a:ext cx="4176399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3901" kern="0" spc="-1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impson's</a:t>
            </a:r>
            <a:r>
              <a:rPr sz="3901" kern="0" spc="8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parado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8" name="textbox 278">
            <a:extLst>
              <a:ext uri="{FF2B5EF4-FFF2-40B4-BE49-F238E27FC236}">
                <a16:creationId xmlns:a16="http://schemas.microsoft.com/office/drawing/2014/main" id="{D4239633-015D-D225-95F3-91C5F7F754C3}"/>
              </a:ext>
            </a:extLst>
          </p:cNvPr>
          <p:cNvSpPr/>
          <p:nvPr/>
        </p:nvSpPr>
        <p:spPr>
          <a:xfrm>
            <a:off x="12991703" y="10025277"/>
            <a:ext cx="632557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3877297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4DD7-E35B-F942-EC87-001D50F6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>
            <a:extLst>
              <a:ext uri="{FF2B5EF4-FFF2-40B4-BE49-F238E27FC236}">
                <a16:creationId xmlns:a16="http://schemas.microsoft.com/office/drawing/2014/main" id="{9C9305B8-2FC4-F4F4-403B-A234E2F4DF9D}"/>
              </a:ext>
            </a:extLst>
          </p:cNvPr>
          <p:cNvSpPr/>
          <p:nvPr/>
        </p:nvSpPr>
        <p:spPr>
          <a:xfrm>
            <a:off x="806617" y="4731680"/>
            <a:ext cx="11608942" cy="4498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A: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surgical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B: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minimally-invas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ive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Success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small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r>
              <a:rPr sz="3001" b="1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93%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(8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1/87)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&gt;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87%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(234/270)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1575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Success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large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r>
              <a:rPr sz="3001" b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73%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(192/263)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&gt;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69%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(55/80)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64897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ts val="6661"/>
              </a:lnSpc>
              <a:tabLst>
                <a:tab pos="445844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64" name="picture 264">
            <a:extLst>
              <a:ext uri="{FF2B5EF4-FFF2-40B4-BE49-F238E27FC236}">
                <a16:creationId xmlns:a16="http://schemas.microsoft.com/office/drawing/2014/main" id="{36A55182-25A0-9C77-5EA6-578D4801D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9" y="7089066"/>
            <a:ext cx="195825" cy="195825"/>
          </a:xfrm>
          <a:prstGeom prst="rect">
            <a:avLst/>
          </a:prstGeom>
        </p:spPr>
      </p:pic>
      <p:pic>
        <p:nvPicPr>
          <p:cNvPr id="266" name="picture 266">
            <a:extLst>
              <a:ext uri="{FF2B5EF4-FFF2-40B4-BE49-F238E27FC236}">
                <a16:creationId xmlns:a16="http://schemas.microsoft.com/office/drawing/2014/main" id="{EE0059A3-80F2-F7F0-6412-171875A40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6458868"/>
            <a:ext cx="195825" cy="195825"/>
          </a:xfrm>
          <a:prstGeom prst="rect">
            <a:avLst/>
          </a:prstGeom>
        </p:spPr>
      </p:pic>
      <p:pic>
        <p:nvPicPr>
          <p:cNvPr id="268" name="picture 268">
            <a:extLst>
              <a:ext uri="{FF2B5EF4-FFF2-40B4-BE49-F238E27FC236}">
                <a16:creationId xmlns:a16="http://schemas.microsoft.com/office/drawing/2014/main" id="{475B376E-A718-B658-A0C9-ADC54CF60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5512085"/>
            <a:ext cx="195825" cy="195825"/>
          </a:xfrm>
          <a:prstGeom prst="rect">
            <a:avLst/>
          </a:prstGeom>
        </p:spPr>
      </p:pic>
      <p:pic>
        <p:nvPicPr>
          <p:cNvPr id="270" name="picture 270">
            <a:extLst>
              <a:ext uri="{FF2B5EF4-FFF2-40B4-BE49-F238E27FC236}">
                <a16:creationId xmlns:a16="http://schemas.microsoft.com/office/drawing/2014/main" id="{79EED2E5-FF54-EE44-3E02-4402FA1AB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4881895"/>
            <a:ext cx="195825" cy="195825"/>
          </a:xfrm>
          <a:prstGeom prst="rect">
            <a:avLst/>
          </a:prstGeom>
        </p:spPr>
      </p:pic>
      <p:graphicFrame>
        <p:nvGraphicFramePr>
          <p:cNvPr id="272" name="table 272">
            <a:extLst>
              <a:ext uri="{FF2B5EF4-FFF2-40B4-BE49-F238E27FC236}">
                <a16:creationId xmlns:a16="http://schemas.microsoft.com/office/drawing/2014/main" id="{5E872A0B-5F74-EC84-E2C5-6601A59F9C41}"/>
              </a:ext>
            </a:extLst>
          </p:cNvPr>
          <p:cNvGraphicFramePr>
            <a:graphicFrameLocks noGrp="1"/>
          </p:cNvGraphicFramePr>
          <p:nvPr/>
        </p:nvGraphicFramePr>
        <p:xfrm>
          <a:off x="2892719" y="1964584"/>
          <a:ext cx="8042231" cy="2109159"/>
        </p:xfrm>
        <a:graphic>
          <a:graphicData uri="http://schemas.openxmlformats.org/drawingml/2006/table">
            <a:tbl>
              <a:tblPr/>
              <a:tblGrid>
                <a:gridCol w="267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198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small</a:t>
                      </a:r>
                      <a:r>
                        <a:rPr sz="3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144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large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8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010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2075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70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9710" algn="l" rtl="0" eaLnBrk="0">
                        <a:lnSpc>
                          <a:spcPct val="90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81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04470" algn="l" rtl="0" eaLnBrk="0">
                        <a:lnSpc>
                          <a:spcPct val="90000"/>
                        </a:lnSpc>
                      </a:pP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192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71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777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8478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234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3241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25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4" name="rect 274">
            <a:extLst>
              <a:ext uri="{FF2B5EF4-FFF2-40B4-BE49-F238E27FC236}">
                <a16:creationId xmlns:a16="http://schemas.microsoft.com/office/drawing/2014/main" id="{8CB5507A-823B-ADAD-F47C-393C01274E04}"/>
              </a:ext>
            </a:extLst>
          </p:cNvPr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276" name="textbox 276">
            <a:extLst>
              <a:ext uri="{FF2B5EF4-FFF2-40B4-BE49-F238E27FC236}">
                <a16:creationId xmlns:a16="http://schemas.microsoft.com/office/drawing/2014/main" id="{94AF2419-7E0F-1204-36D2-7DED0C3C0EF2}"/>
              </a:ext>
            </a:extLst>
          </p:cNvPr>
          <p:cNvSpPr/>
          <p:nvPr/>
        </p:nvSpPr>
        <p:spPr>
          <a:xfrm>
            <a:off x="311324" y="311954"/>
            <a:ext cx="4176399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3901" kern="0" spc="-1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impson's</a:t>
            </a:r>
            <a:r>
              <a:rPr sz="3901" kern="0" spc="8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parado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8" name="textbox 278">
            <a:extLst>
              <a:ext uri="{FF2B5EF4-FFF2-40B4-BE49-F238E27FC236}">
                <a16:creationId xmlns:a16="http://schemas.microsoft.com/office/drawing/2014/main" id="{1FC03457-75B7-55F0-2DF4-2772A9282DA6}"/>
              </a:ext>
            </a:extLst>
          </p:cNvPr>
          <p:cNvSpPr/>
          <p:nvPr/>
        </p:nvSpPr>
        <p:spPr>
          <a:xfrm>
            <a:off x="12991703" y="10025277"/>
            <a:ext cx="632557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3201737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E0BE-1C92-FF1E-0BE3-E226533B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>
            <a:extLst>
              <a:ext uri="{FF2B5EF4-FFF2-40B4-BE49-F238E27FC236}">
                <a16:creationId xmlns:a16="http://schemas.microsoft.com/office/drawing/2014/main" id="{77B9C9E4-A48E-3ED7-07D7-69BAE1F3BF76}"/>
              </a:ext>
            </a:extLst>
          </p:cNvPr>
          <p:cNvSpPr/>
          <p:nvPr/>
        </p:nvSpPr>
        <p:spPr>
          <a:xfrm>
            <a:off x="806617" y="4731680"/>
            <a:ext cx="11608942" cy="4498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A: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surgical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B: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minimally-invas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ive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Success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small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r>
              <a:rPr sz="3001" b="1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93%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(8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1/87)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&gt;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87%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(234/270)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1575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Success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large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r>
              <a:rPr sz="3001" b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73%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(192/263)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&gt;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69%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(55/80)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64897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Overall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success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ts val="6661"/>
              </a:lnSpc>
              <a:tabLst>
                <a:tab pos="445844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62" name="picture 262">
            <a:extLst>
              <a:ext uri="{FF2B5EF4-FFF2-40B4-BE49-F238E27FC236}">
                <a16:creationId xmlns:a16="http://schemas.microsoft.com/office/drawing/2014/main" id="{6E585164-C4A1-AE57-B8FB-DA902566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38" y="8035846"/>
            <a:ext cx="195825" cy="195825"/>
          </a:xfrm>
          <a:prstGeom prst="rect">
            <a:avLst/>
          </a:prstGeom>
        </p:spPr>
      </p:pic>
      <p:pic>
        <p:nvPicPr>
          <p:cNvPr id="264" name="picture 264">
            <a:extLst>
              <a:ext uri="{FF2B5EF4-FFF2-40B4-BE49-F238E27FC236}">
                <a16:creationId xmlns:a16="http://schemas.microsoft.com/office/drawing/2014/main" id="{775D2B82-F02F-40D0-1677-D7090030B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9" y="7089066"/>
            <a:ext cx="195825" cy="195825"/>
          </a:xfrm>
          <a:prstGeom prst="rect">
            <a:avLst/>
          </a:prstGeom>
        </p:spPr>
      </p:pic>
      <p:pic>
        <p:nvPicPr>
          <p:cNvPr id="266" name="picture 266">
            <a:extLst>
              <a:ext uri="{FF2B5EF4-FFF2-40B4-BE49-F238E27FC236}">
                <a16:creationId xmlns:a16="http://schemas.microsoft.com/office/drawing/2014/main" id="{9A4FAF06-8C21-95BA-43FB-7EB1C8284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6458868"/>
            <a:ext cx="195825" cy="195825"/>
          </a:xfrm>
          <a:prstGeom prst="rect">
            <a:avLst/>
          </a:prstGeom>
        </p:spPr>
      </p:pic>
      <p:pic>
        <p:nvPicPr>
          <p:cNvPr id="268" name="picture 268">
            <a:extLst>
              <a:ext uri="{FF2B5EF4-FFF2-40B4-BE49-F238E27FC236}">
                <a16:creationId xmlns:a16="http://schemas.microsoft.com/office/drawing/2014/main" id="{7EBD0E4F-FD5D-E5E9-80B2-98845DF3F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5512085"/>
            <a:ext cx="195825" cy="195825"/>
          </a:xfrm>
          <a:prstGeom prst="rect">
            <a:avLst/>
          </a:prstGeom>
        </p:spPr>
      </p:pic>
      <p:pic>
        <p:nvPicPr>
          <p:cNvPr id="270" name="picture 270">
            <a:extLst>
              <a:ext uri="{FF2B5EF4-FFF2-40B4-BE49-F238E27FC236}">
                <a16:creationId xmlns:a16="http://schemas.microsoft.com/office/drawing/2014/main" id="{53AB43CD-FC31-57C1-291C-3CEA77E78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723" y="4881895"/>
            <a:ext cx="195825" cy="195825"/>
          </a:xfrm>
          <a:prstGeom prst="rect">
            <a:avLst/>
          </a:prstGeom>
        </p:spPr>
      </p:pic>
      <p:graphicFrame>
        <p:nvGraphicFramePr>
          <p:cNvPr id="272" name="table 272">
            <a:extLst>
              <a:ext uri="{FF2B5EF4-FFF2-40B4-BE49-F238E27FC236}">
                <a16:creationId xmlns:a16="http://schemas.microsoft.com/office/drawing/2014/main" id="{29F2674B-C45B-3602-C3BA-CF384D47CC9C}"/>
              </a:ext>
            </a:extLst>
          </p:cNvPr>
          <p:cNvGraphicFramePr>
            <a:graphicFrameLocks noGrp="1"/>
          </p:cNvGraphicFramePr>
          <p:nvPr/>
        </p:nvGraphicFramePr>
        <p:xfrm>
          <a:off x="2892719" y="1964584"/>
          <a:ext cx="8042231" cy="2109159"/>
        </p:xfrm>
        <a:graphic>
          <a:graphicData uri="http://schemas.openxmlformats.org/drawingml/2006/table">
            <a:tbl>
              <a:tblPr/>
              <a:tblGrid>
                <a:gridCol w="267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198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small</a:t>
                      </a:r>
                      <a:r>
                        <a:rPr sz="3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144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large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8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010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2075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70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9710" algn="l" rtl="0" eaLnBrk="0">
                        <a:lnSpc>
                          <a:spcPct val="90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81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04470" algn="l" rtl="0" eaLnBrk="0">
                        <a:lnSpc>
                          <a:spcPct val="90000"/>
                        </a:lnSpc>
                      </a:pP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192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71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777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8478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234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3241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25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4" name="rect 274">
            <a:extLst>
              <a:ext uri="{FF2B5EF4-FFF2-40B4-BE49-F238E27FC236}">
                <a16:creationId xmlns:a16="http://schemas.microsoft.com/office/drawing/2014/main" id="{B2518F2B-2C02-D3F9-010F-A1A16C4701BC}"/>
              </a:ext>
            </a:extLst>
          </p:cNvPr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276" name="textbox 276">
            <a:extLst>
              <a:ext uri="{FF2B5EF4-FFF2-40B4-BE49-F238E27FC236}">
                <a16:creationId xmlns:a16="http://schemas.microsoft.com/office/drawing/2014/main" id="{1BB490ED-2924-E770-F2B6-B14C59E110B7}"/>
              </a:ext>
            </a:extLst>
          </p:cNvPr>
          <p:cNvSpPr/>
          <p:nvPr/>
        </p:nvSpPr>
        <p:spPr>
          <a:xfrm>
            <a:off x="311324" y="311954"/>
            <a:ext cx="4176399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3901" kern="0" spc="-1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impson's</a:t>
            </a:r>
            <a:r>
              <a:rPr sz="3901" kern="0" spc="8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parado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8" name="textbox 278">
            <a:extLst>
              <a:ext uri="{FF2B5EF4-FFF2-40B4-BE49-F238E27FC236}">
                <a16:creationId xmlns:a16="http://schemas.microsoft.com/office/drawing/2014/main" id="{5920FC00-EB75-6D18-9816-7FCD2B3DCBDA}"/>
              </a:ext>
            </a:extLst>
          </p:cNvPr>
          <p:cNvSpPr/>
          <p:nvPr/>
        </p:nvSpPr>
        <p:spPr>
          <a:xfrm>
            <a:off x="12991703" y="10025277"/>
            <a:ext cx="632557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4178072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C352-298F-9EC5-9A95-F4E8B21EC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58">
            <a:extLst>
              <a:ext uri="{FF2B5EF4-FFF2-40B4-BE49-F238E27FC236}">
                <a16:creationId xmlns:a16="http://schemas.microsoft.com/office/drawing/2014/main" id="{8E88C9A5-022B-CC73-0930-FBB5551FE502}"/>
              </a:ext>
            </a:extLst>
          </p:cNvPr>
          <p:cNvSpPr/>
          <p:nvPr/>
        </p:nvSpPr>
        <p:spPr>
          <a:xfrm>
            <a:off x="806617" y="4731680"/>
            <a:ext cx="11608942" cy="4498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A: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surgical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650"/>
              </a:spcBef>
              <a:tabLst>
                <a:tab pos="455371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Treatment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B: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minimally-invas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ive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procedure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Success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small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r>
              <a:rPr sz="3001" b="1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93%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(8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1/87)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&gt;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87%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(234/270)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1575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Success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large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stones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</a:t>
            </a:r>
            <a:r>
              <a:rPr sz="3001" b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73%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(192/263)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&gt;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69%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(55/80)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4000"/>
              </a:lnSpc>
              <a:spcBef>
                <a:spcPts val="4066"/>
              </a:spcBef>
              <a:tabLst>
                <a:tab pos="464897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Overall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success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rate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  78%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(273/350)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&lt;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b="1" kern="0" spc="6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</a:t>
            </a:r>
            <a:r>
              <a:rPr sz="3001" b="1" kern="0" spc="3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3%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(289/350)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ts val="6661"/>
              </a:lnSpc>
              <a:tabLst>
                <a:tab pos="445844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62" name="picture 262">
            <a:extLst>
              <a:ext uri="{FF2B5EF4-FFF2-40B4-BE49-F238E27FC236}">
                <a16:creationId xmlns:a16="http://schemas.microsoft.com/office/drawing/2014/main" id="{5C598B9A-CD6C-DE50-4365-9ED92F1E5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38" y="8035846"/>
            <a:ext cx="195825" cy="195825"/>
          </a:xfrm>
          <a:prstGeom prst="rect">
            <a:avLst/>
          </a:prstGeom>
        </p:spPr>
      </p:pic>
      <p:pic>
        <p:nvPicPr>
          <p:cNvPr id="264" name="picture 264">
            <a:extLst>
              <a:ext uri="{FF2B5EF4-FFF2-40B4-BE49-F238E27FC236}">
                <a16:creationId xmlns:a16="http://schemas.microsoft.com/office/drawing/2014/main" id="{086C05F4-B494-47A4-4551-ED7826EFE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9" y="7089066"/>
            <a:ext cx="195825" cy="195825"/>
          </a:xfrm>
          <a:prstGeom prst="rect">
            <a:avLst/>
          </a:prstGeom>
        </p:spPr>
      </p:pic>
      <p:pic>
        <p:nvPicPr>
          <p:cNvPr id="266" name="picture 266">
            <a:extLst>
              <a:ext uri="{FF2B5EF4-FFF2-40B4-BE49-F238E27FC236}">
                <a16:creationId xmlns:a16="http://schemas.microsoft.com/office/drawing/2014/main" id="{38DEB91C-271A-0595-6C8E-182B703D1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6458868"/>
            <a:ext cx="195825" cy="195825"/>
          </a:xfrm>
          <a:prstGeom prst="rect">
            <a:avLst/>
          </a:prstGeom>
        </p:spPr>
      </p:pic>
      <p:pic>
        <p:nvPicPr>
          <p:cNvPr id="268" name="picture 268">
            <a:extLst>
              <a:ext uri="{FF2B5EF4-FFF2-40B4-BE49-F238E27FC236}">
                <a16:creationId xmlns:a16="http://schemas.microsoft.com/office/drawing/2014/main" id="{6ADFBA44-1EDC-AB25-E5A9-12149A980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5512085"/>
            <a:ext cx="195825" cy="195825"/>
          </a:xfrm>
          <a:prstGeom prst="rect">
            <a:avLst/>
          </a:prstGeom>
        </p:spPr>
      </p:pic>
      <p:pic>
        <p:nvPicPr>
          <p:cNvPr id="270" name="picture 270">
            <a:extLst>
              <a:ext uri="{FF2B5EF4-FFF2-40B4-BE49-F238E27FC236}">
                <a16:creationId xmlns:a16="http://schemas.microsoft.com/office/drawing/2014/main" id="{A3855744-9D3D-C75F-35D0-641C41080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723" y="4881895"/>
            <a:ext cx="195825" cy="195825"/>
          </a:xfrm>
          <a:prstGeom prst="rect">
            <a:avLst/>
          </a:prstGeom>
        </p:spPr>
      </p:pic>
      <p:graphicFrame>
        <p:nvGraphicFramePr>
          <p:cNvPr id="272" name="table 272">
            <a:extLst>
              <a:ext uri="{FF2B5EF4-FFF2-40B4-BE49-F238E27FC236}">
                <a16:creationId xmlns:a16="http://schemas.microsoft.com/office/drawing/2014/main" id="{A9BF3BB4-FBFA-9B2E-21FE-4DB6C18BFF35}"/>
              </a:ext>
            </a:extLst>
          </p:cNvPr>
          <p:cNvGraphicFramePr>
            <a:graphicFrameLocks noGrp="1"/>
          </p:cNvGraphicFramePr>
          <p:nvPr/>
        </p:nvGraphicFramePr>
        <p:xfrm>
          <a:off x="2892719" y="1964584"/>
          <a:ext cx="8042231" cy="2109159"/>
        </p:xfrm>
        <a:graphic>
          <a:graphicData uri="http://schemas.openxmlformats.org/drawingml/2006/table">
            <a:tbl>
              <a:tblPr/>
              <a:tblGrid>
                <a:gridCol w="267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198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009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small</a:t>
                      </a:r>
                      <a:r>
                        <a:rPr sz="3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3144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large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stones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8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010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92075" algn="l" rtl="0" eaLnBrk="0">
                        <a:lnSpc>
                          <a:spcPct val="92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success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702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19710" algn="l" rtl="0" eaLnBrk="0">
                        <a:lnSpc>
                          <a:spcPct val="90000"/>
                        </a:lnSpc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81</a:t>
                      </a:r>
                      <a:r>
                        <a:rPr sz="3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04470" algn="l" rtl="0" eaLnBrk="0">
                        <a:lnSpc>
                          <a:spcPct val="90000"/>
                        </a:lnSpc>
                      </a:pP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192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71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777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6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8064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Treatment</a:t>
                      </a:r>
                      <a:r>
                        <a:rPr sz="30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3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18478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234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36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endParaRPr sz="3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marL="23241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</a:t>
                      </a:r>
                      <a:r>
                        <a:rPr sz="3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     </a:t>
                      </a: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25</a:t>
                      </a:r>
                      <a:endParaRPr sz="3000" dirty="0"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4" name="rect 274">
            <a:extLst>
              <a:ext uri="{FF2B5EF4-FFF2-40B4-BE49-F238E27FC236}">
                <a16:creationId xmlns:a16="http://schemas.microsoft.com/office/drawing/2014/main" id="{797E9D9C-A3CC-E3A9-AD17-EC947606D7AC}"/>
              </a:ext>
            </a:extLst>
          </p:cNvPr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276" name="textbox 276">
            <a:extLst>
              <a:ext uri="{FF2B5EF4-FFF2-40B4-BE49-F238E27FC236}">
                <a16:creationId xmlns:a16="http://schemas.microsoft.com/office/drawing/2014/main" id="{8EF950C4-186B-D514-7BC3-1CEAC7C2B700}"/>
              </a:ext>
            </a:extLst>
          </p:cNvPr>
          <p:cNvSpPr/>
          <p:nvPr/>
        </p:nvSpPr>
        <p:spPr>
          <a:xfrm>
            <a:off x="311324" y="311954"/>
            <a:ext cx="4176399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3901" kern="0" spc="-1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impson's</a:t>
            </a:r>
            <a:r>
              <a:rPr sz="3901" kern="0" spc="8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parado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8" name="textbox 278">
            <a:extLst>
              <a:ext uri="{FF2B5EF4-FFF2-40B4-BE49-F238E27FC236}">
                <a16:creationId xmlns:a16="http://schemas.microsoft.com/office/drawing/2014/main" id="{BAA9FD92-7563-2768-B18F-81C6FF70597F}"/>
              </a:ext>
            </a:extLst>
          </p:cNvPr>
          <p:cNvSpPr/>
          <p:nvPr/>
        </p:nvSpPr>
        <p:spPr>
          <a:xfrm>
            <a:off x="12991703" y="10025277"/>
            <a:ext cx="632557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2464477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288"/>
          <p:cNvSpPr/>
          <p:nvPr/>
        </p:nvSpPr>
        <p:spPr>
          <a:xfrm>
            <a:off x="806617" y="3296913"/>
            <a:ext cx="12567301" cy="379534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156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Aggregated</a:t>
            </a:r>
            <a:r>
              <a:rPr sz="3001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data:  large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positive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diference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between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males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females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0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0000"/>
              </a:lnSpc>
            </a:pPr>
            <a:endParaRPr lang="en-US"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3447126"/>
            <a:ext cx="195825" cy="195825"/>
          </a:xfrm>
          <a:prstGeom prst="rect">
            <a:avLst/>
          </a:prstGeom>
        </p:spPr>
      </p:pic>
      <p:sp>
        <p:nvSpPr>
          <p:cNvPr id="298" name="rect 298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300" name="textbox 300"/>
          <p:cNvSpPr/>
          <p:nvPr/>
        </p:nvSpPr>
        <p:spPr>
          <a:xfrm>
            <a:off x="338112" y="311954"/>
            <a:ext cx="5384354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93000"/>
              </a:lnSpc>
            </a:pP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Berkeley</a:t>
            </a:r>
            <a:r>
              <a:rPr sz="3901" kern="0" spc="7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admission</a:t>
            </a:r>
            <a:r>
              <a:rPr sz="3901" kern="0" spc="48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12992591" y="10025259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288"/>
          <p:cNvSpPr/>
          <p:nvPr/>
        </p:nvSpPr>
        <p:spPr>
          <a:xfrm>
            <a:off x="806617" y="3296913"/>
            <a:ext cx="12567301" cy="379534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156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Aggregated</a:t>
            </a:r>
            <a:r>
              <a:rPr sz="3001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data:  large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positive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diference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between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males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females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0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0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0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30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Stratifying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depart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ments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ts val="4111"/>
              </a:lnSpc>
              <a:tabLst>
                <a:tab pos="1301332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insigniﬁcant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</a:t>
            </a:r>
            <a:r>
              <a:rPr lang="en-US"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erences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28227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signiﬁcant</a:t>
            </a:r>
            <a:r>
              <a:rPr sz="2700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negative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</a:t>
            </a:r>
            <a:r>
              <a:rPr lang="en-US"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erence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department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90" name="picture 2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184" y="6793701"/>
            <a:ext cx="157779" cy="157779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4" y="6338150"/>
            <a:ext cx="157779" cy="157779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5768609"/>
            <a:ext cx="195825" cy="195825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3447126"/>
            <a:ext cx="195825" cy="195825"/>
          </a:xfrm>
          <a:prstGeom prst="rect">
            <a:avLst/>
          </a:prstGeom>
        </p:spPr>
      </p:pic>
      <p:sp>
        <p:nvSpPr>
          <p:cNvPr id="298" name="rect 298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300" name="textbox 300"/>
          <p:cNvSpPr/>
          <p:nvPr/>
        </p:nvSpPr>
        <p:spPr>
          <a:xfrm>
            <a:off x="338112" y="311954"/>
            <a:ext cx="5384354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ct val="93000"/>
              </a:lnSpc>
            </a:pP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Berkeley</a:t>
            </a:r>
            <a:r>
              <a:rPr sz="3901" kern="0" spc="7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admission</a:t>
            </a:r>
            <a:r>
              <a:rPr sz="3901" kern="0" spc="48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12992591" y="10025259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304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2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0105" eaLnBrk="0">
              <a:lnSpc>
                <a:spcPct val="75000"/>
              </a:lnSpc>
            </a:pP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Causation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versus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association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806617" y="3787715"/>
            <a:ext cx="11936652" cy="112602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156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Association:  non-di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rectional,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based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passive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observation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2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5"/>
              </a:spcBef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Causation: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directional,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based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active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intervention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08" name="picture 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4568119"/>
            <a:ext cx="195825" cy="195825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3937930"/>
            <a:ext cx="195825" cy="195825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12992600" y="10025256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304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2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0105" eaLnBrk="0">
              <a:lnSpc>
                <a:spcPct val="75000"/>
              </a:lnSpc>
            </a:pP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Causation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versus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association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806617" y="3787715"/>
            <a:ext cx="11936652" cy="112602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5156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Association:  non-di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rectional,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based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passive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observation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2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15"/>
              </a:spcBef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Causation:</a:t>
            </a:r>
            <a:r>
              <a:rPr sz="3001" kern="0" spc="7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directional,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based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active</a:t>
            </a:r>
            <a:r>
              <a:rPr sz="3001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intervention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001" kern="0" spc="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08" name="picture 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4568119"/>
            <a:ext cx="195825" cy="195825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3937930"/>
            <a:ext cx="195825" cy="195825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12992600" y="10025256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7263" y="5955943"/>
            <a:ext cx="10174258" cy="19696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32449" eaLnBrk="0">
              <a:lnSpc>
                <a:spcPct val="92000"/>
              </a:lnSpc>
              <a:spcBef>
                <a:spcPts val="915"/>
              </a:spcBef>
              <a:tabLst>
                <a:tab pos="480140" algn="l"/>
              </a:tabLst>
            </a:pP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Possible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reasons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for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association</a:t>
            </a:r>
            <a:r>
              <a:rPr lang="en-US"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betwe</a:t>
            </a:r>
            <a:r>
              <a:rPr sz="3001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en</a:t>
            </a:r>
            <a:r>
              <a:rPr lang="en-US" sz="3001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3001" i="1" kern="0" spc="-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A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3001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and</a:t>
            </a:r>
            <a:r>
              <a:rPr lang="en-US" sz="3001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3001" i="1" kern="0" spc="-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B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ts val="4111"/>
              </a:lnSpc>
              <a:tabLst>
                <a:tab pos="128227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	</a:t>
            </a:r>
            <a:r>
              <a:rPr sz="2700" i="1" kern="0" spc="-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A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causes</a:t>
            </a:r>
            <a:r>
              <a:rPr sz="2700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i="1" kern="0" spc="-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B</a:t>
            </a:r>
            <a:endParaRPr sz="2700" i="1" dirty="0">
              <a:latin typeface="Arial Italic" panose="020B0604020202090204" charset="0"/>
              <a:ea typeface="Arial" panose="020B0604020202090204"/>
              <a:cs typeface="Arial Italic" panose="020B0604020202090204" charset="0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30704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	</a:t>
            </a:r>
            <a:r>
              <a:rPr sz="2700" i="1" kern="0" spc="-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B</a:t>
            </a:r>
            <a:r>
              <a:rPr sz="2700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causes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i="1" kern="0" spc="-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A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28227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	</a:t>
            </a:r>
            <a:r>
              <a:rPr sz="2700" i="1" kern="0" spc="-6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A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and</a:t>
            </a:r>
            <a:r>
              <a:rPr sz="2700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i="1" kern="0" spc="-6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B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are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cause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d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by</a:t>
            </a:r>
            <a:r>
              <a:rPr sz="2700" kern="0" spc="6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+mn-ea"/>
              </a:rPr>
              <a:t> </a:t>
            </a:r>
            <a:r>
              <a:rPr sz="2700" i="1" kern="0" spc="-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  <a:sym typeface="+mn-ea"/>
              </a:rPr>
              <a:t>C</a:t>
            </a:r>
            <a:endParaRPr lang="zh-CN" altLang="en-US" sz="2700" i="1" kern="0" spc="-90" dirty="0">
              <a:solidFill>
                <a:srgbClr val="000000">
                  <a:alpha val="100000"/>
                </a:srgbClr>
              </a:solidFill>
              <a:latin typeface="Arial Italic" panose="020B0604020202090204" charset="0"/>
              <a:ea typeface="Arial" panose="020B0604020202090204"/>
              <a:cs typeface="Arial Italic" panose="020B0604020202090204" charset="0"/>
              <a:sym typeface="+mn-ea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6258953"/>
            <a:ext cx="195825" cy="195825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72323" y="6670358"/>
            <a:ext cx="157779" cy="157779"/>
          </a:xfrm>
          <a:prstGeom prst="rect">
            <a:avLst/>
          </a:prstGeom>
        </p:spPr>
      </p:pic>
      <p:pic>
        <p:nvPicPr>
          <p:cNvPr id="3" name="picture 3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72323" y="7160018"/>
            <a:ext cx="157779" cy="157779"/>
          </a:xfrm>
          <a:prstGeom prst="rect">
            <a:avLst/>
          </a:prstGeom>
        </p:spPr>
      </p:pic>
      <p:pic>
        <p:nvPicPr>
          <p:cNvPr id="4" name="picture 3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72323" y="7649678"/>
            <a:ext cx="157779" cy="1577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08B84C-55C5-44E0-86A1-325FB964B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962" y="99008"/>
            <a:ext cx="10772623" cy="97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33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0092-7F94-61E4-BB6C-3B43CB0D2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342">
            <a:extLst>
              <a:ext uri="{FF2B5EF4-FFF2-40B4-BE49-F238E27FC236}">
                <a16:creationId xmlns:a16="http://schemas.microsoft.com/office/drawing/2014/main" id="{BE66865C-9972-D728-3B33-2ED30A76A197}"/>
              </a:ext>
            </a:extLst>
          </p:cNvPr>
          <p:cNvSpPr/>
          <p:nvPr/>
        </p:nvSpPr>
        <p:spPr>
          <a:xfrm>
            <a:off x="806617" y="3559579"/>
            <a:ext cx="9425478" cy="314182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Can</a:t>
            </a:r>
            <a:r>
              <a:rPr sz="3001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learn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relationsh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ip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data?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46" name="picture 346">
            <a:extLst>
              <a:ext uri="{FF2B5EF4-FFF2-40B4-BE49-F238E27FC236}">
                <a16:creationId xmlns:a16="http://schemas.microsoft.com/office/drawing/2014/main" id="{4AA54C17-9A94-03EF-7BA6-B27DFE95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3709796"/>
            <a:ext cx="195825" cy="195825"/>
          </a:xfrm>
          <a:prstGeom prst="rect">
            <a:avLst/>
          </a:prstGeom>
        </p:spPr>
      </p:pic>
      <p:sp>
        <p:nvSpPr>
          <p:cNvPr id="348" name="rect 348">
            <a:extLst>
              <a:ext uri="{FF2B5EF4-FFF2-40B4-BE49-F238E27FC236}">
                <a16:creationId xmlns:a16="http://schemas.microsoft.com/office/drawing/2014/main" id="{826342AA-2FCB-E5CE-0672-89B48B4D54AD}"/>
              </a:ext>
            </a:extLst>
          </p:cNvPr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350" name="textbox 350">
            <a:extLst>
              <a:ext uri="{FF2B5EF4-FFF2-40B4-BE49-F238E27FC236}">
                <a16:creationId xmlns:a16="http://schemas.microsoft.com/office/drawing/2014/main" id="{77EBC3CF-4A46-521F-DE5D-50BC37C3CFA2}"/>
              </a:ext>
            </a:extLst>
          </p:cNvPr>
          <p:cNvSpPr/>
          <p:nvPr/>
        </p:nvSpPr>
        <p:spPr>
          <a:xfrm>
            <a:off x="316790" y="311954"/>
            <a:ext cx="7682136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Questions</a:t>
            </a:r>
            <a:r>
              <a:rPr sz="3901" kern="0" spc="3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answer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3901" kern="0" spc="3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</a:t>
            </a:r>
            <a:r>
              <a:rPr sz="3901" kern="0" spc="48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2" name="textbox 352">
            <a:extLst>
              <a:ext uri="{FF2B5EF4-FFF2-40B4-BE49-F238E27FC236}">
                <a16:creationId xmlns:a16="http://schemas.microsoft.com/office/drawing/2014/main" id="{764DBDC0-51F7-EBA9-5A27-785D126B1502}"/>
              </a:ext>
            </a:extLst>
          </p:cNvPr>
          <p:cNvSpPr/>
          <p:nvPr/>
        </p:nvSpPr>
        <p:spPr>
          <a:xfrm>
            <a:off x="12992597" y="10025262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235786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342"/>
          <p:cNvSpPr/>
          <p:nvPr/>
        </p:nvSpPr>
        <p:spPr>
          <a:xfrm>
            <a:off x="806617" y="3559579"/>
            <a:ext cx="9425478" cy="314182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Can</a:t>
            </a:r>
            <a:r>
              <a:rPr sz="3001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learn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relationsh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ip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data?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should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learn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relationship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om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data?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6354683"/>
            <a:ext cx="195825" cy="195825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3709796"/>
            <a:ext cx="195825" cy="195825"/>
          </a:xfrm>
          <a:prstGeom prst="rect">
            <a:avLst/>
          </a:prstGeom>
        </p:spPr>
      </p:pic>
      <p:sp>
        <p:nvSpPr>
          <p:cNvPr id="348" name="rect 348"/>
          <p:cNvSpPr/>
          <p:nvPr/>
        </p:nvSpPr>
        <p:spPr>
          <a:xfrm>
            <a:off x="1325" y="1"/>
            <a:ext cx="13826129" cy="1050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6"/>
          </a:p>
        </p:txBody>
      </p:sp>
      <p:sp>
        <p:nvSpPr>
          <p:cNvPr id="350" name="textbox 350"/>
          <p:cNvSpPr/>
          <p:nvPr/>
        </p:nvSpPr>
        <p:spPr>
          <a:xfrm>
            <a:off x="316790" y="311954"/>
            <a:ext cx="7682136" cy="62874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3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Questions</a:t>
            </a:r>
            <a:r>
              <a:rPr sz="3901" kern="0" spc="3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</a:t>
            </a:r>
            <a:r>
              <a:rPr sz="3901" kern="0" spc="51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answer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3901" kern="0" spc="3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</a:t>
            </a:r>
            <a:r>
              <a:rPr sz="3901" kern="0" spc="48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12992597" y="10025262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box 354"/>
          <p:cNvSpPr/>
          <p:nvPr/>
        </p:nvSpPr>
        <p:spPr>
          <a:xfrm>
            <a:off x="806615" y="2085913"/>
            <a:ext cx="11984285" cy="678664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4000"/>
              </a:lnSpc>
              <a:tabLst>
                <a:tab pos="45156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A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statistics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urse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530"/>
              </a:spcBef>
              <a:tabLst>
                <a:tab pos="1301332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introduction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 statistical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methods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301332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implementation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using</a:t>
            </a:r>
            <a:r>
              <a:rPr sz="2700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51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3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Focus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usal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relationship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104000"/>
              </a:lnSpc>
              <a:spcBef>
                <a:spcPts val="1035"/>
              </a:spcBef>
              <a:tabLst>
                <a:tab pos="1301332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relationship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rather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association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observed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both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statistical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theor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practice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2700" kern="0" spc="2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54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5000"/>
              </a:lnSpc>
              <a:spcBef>
                <a:spcPts val="930"/>
              </a:spcBef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Content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530"/>
              </a:spcBef>
              <a:tabLst>
                <a:tab pos="128608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frameworks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303237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methodological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tools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86089" indent="-221017" eaLnBrk="0">
              <a:lnSpc>
                <a:spcPct val="105000"/>
              </a:lnSpc>
              <a:spcBef>
                <a:spcPts val="480"/>
              </a:spcBef>
              <a:tabLst>
                <a:tab pos="1303237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	real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examples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public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health,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political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science,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conomics,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education,</a:t>
            </a:r>
            <a:r>
              <a:rPr sz="2700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other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disciplines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56" name="picture 3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190" y="8104101"/>
            <a:ext cx="157779" cy="157779"/>
          </a:xfrm>
          <a:prstGeom prst="rect">
            <a:avLst/>
          </a:prstGeom>
        </p:spPr>
      </p:pic>
      <p:pic>
        <p:nvPicPr>
          <p:cNvPr id="358" name="picture 3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90" y="7648544"/>
            <a:ext cx="157779" cy="157779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190" y="7192951"/>
            <a:ext cx="157779" cy="157779"/>
          </a:xfrm>
          <a:prstGeom prst="rect">
            <a:avLst/>
          </a:prstGeom>
        </p:spPr>
      </p:pic>
      <p:pic>
        <p:nvPicPr>
          <p:cNvPr id="362" name="picture 3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9" y="6623440"/>
            <a:ext cx="195825" cy="195825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4190" y="5441373"/>
            <a:ext cx="157779" cy="157779"/>
          </a:xfrm>
          <a:prstGeom prst="rect">
            <a:avLst/>
          </a:prstGeom>
        </p:spPr>
      </p:pic>
      <p:pic>
        <p:nvPicPr>
          <p:cNvPr id="366" name="picture 3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4190" y="4985783"/>
            <a:ext cx="157779" cy="157779"/>
          </a:xfrm>
          <a:prstGeom prst="rect">
            <a:avLst/>
          </a:prstGeom>
        </p:spPr>
      </p:pic>
      <p:pic>
        <p:nvPicPr>
          <p:cNvPr id="368" name="picture 3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4729" y="4416278"/>
            <a:ext cx="195825" cy="195825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14184" y="3234211"/>
            <a:ext cx="157779" cy="157779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14184" y="2778618"/>
            <a:ext cx="157779" cy="157779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44723" y="2209107"/>
            <a:ext cx="195825" cy="195825"/>
          </a:xfrm>
          <a:prstGeom prst="rect">
            <a:avLst/>
          </a:prstGeom>
        </p:spPr>
      </p:pic>
      <p:sp>
        <p:nvSpPr>
          <p:cNvPr id="376" name="textbox 376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0105" eaLnBrk="0">
              <a:lnSpc>
                <a:spcPct val="93000"/>
              </a:lnSpc>
            </a:pP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</a:t>
            </a:r>
            <a:r>
              <a:rPr sz="3901" kern="0" spc="4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descripti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8" name="textbox 378"/>
          <p:cNvSpPr/>
          <p:nvPr/>
        </p:nvSpPr>
        <p:spPr>
          <a:xfrm>
            <a:off x="12992606" y="10025274"/>
            <a:ext cx="630649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box 380"/>
          <p:cNvSpPr/>
          <p:nvPr/>
        </p:nvSpPr>
        <p:spPr>
          <a:xfrm>
            <a:off x="806616" y="2347851"/>
            <a:ext cx="8972019" cy="61693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Randomized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ments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5000"/>
              </a:lnSpc>
              <a:spcBef>
                <a:spcPts val="930"/>
              </a:spcBef>
              <a:tabLst>
                <a:tab pos="464897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Observation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studies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without</a:t>
            </a:r>
            <a:r>
              <a:rPr sz="3001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latent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confounders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3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Instrumental</a:t>
            </a:r>
            <a:r>
              <a:rPr sz="3001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variable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83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spcBef>
                <a:spcPts val="900"/>
              </a:spcBef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Special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topics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095"/>
              </a:spcBef>
              <a:tabLst>
                <a:tab pos="128608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</a:t>
            </a:r>
            <a:r>
              <a:rPr lang="en-US"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erence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</a:t>
            </a:r>
            <a:r>
              <a:rPr lang="en-US"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eren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28608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2700" kern="0" spc="6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mechanisms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303237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longitudinal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184" y="8217350"/>
            <a:ext cx="157779" cy="157779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4" y="7761790"/>
            <a:ext cx="157779" cy="157779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184" y="7306239"/>
            <a:ext cx="157779" cy="157779"/>
          </a:xfrm>
          <a:prstGeom prst="rect">
            <a:avLst/>
          </a:prstGeom>
        </p:spPr>
      </p:pic>
      <p:pic>
        <p:nvPicPr>
          <p:cNvPr id="388" name="picture 3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6736695"/>
            <a:ext cx="195825" cy="195825"/>
          </a:xfrm>
          <a:prstGeom prst="rect">
            <a:avLst/>
          </a:prstGeom>
        </p:spPr>
      </p:pic>
      <p:pic>
        <p:nvPicPr>
          <p:cNvPr id="390" name="picture 3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723" y="5364309"/>
            <a:ext cx="195825" cy="195825"/>
          </a:xfrm>
          <a:prstGeom prst="rect">
            <a:avLst/>
          </a:prstGeom>
        </p:spPr>
      </p:pic>
      <p:pic>
        <p:nvPicPr>
          <p:cNvPr id="392" name="picture 3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4723" y="3931185"/>
            <a:ext cx="195825" cy="195825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4723" y="2498027"/>
            <a:ext cx="195825" cy="195825"/>
          </a:xfrm>
          <a:prstGeom prst="rect">
            <a:avLst/>
          </a:prstGeom>
        </p:spPr>
      </p:pic>
      <p:sp>
        <p:nvSpPr>
          <p:cNvPr id="396" name="textbox 396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2957" eaLnBrk="0">
              <a:lnSpc>
                <a:spcPct val="86000"/>
              </a:lnSpc>
              <a:spcBef>
                <a:spcPts val="15"/>
              </a:spcBef>
            </a:pPr>
            <a:r>
              <a:rPr sz="4201" kern="0" spc="-18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Topics</a:t>
            </a:r>
            <a:endParaRPr sz="42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12882548" y="10025271"/>
            <a:ext cx="741158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406"/>
          <p:cNvSpPr/>
          <p:nvPr/>
        </p:nvSpPr>
        <p:spPr>
          <a:xfrm>
            <a:off x="806615" y="2945581"/>
            <a:ext cx="11629900" cy="456317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Problem</a:t>
            </a:r>
            <a:r>
              <a:rPr sz="3001" kern="0" spc="3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sets</a:t>
            </a:r>
            <a:r>
              <a:rPr sz="3001" kern="0" spc="39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r>
              <a:rPr sz="3001" kern="0" spc="-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lass</a:t>
            </a:r>
            <a:r>
              <a:rPr sz="3001" kern="0" spc="51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participation</a:t>
            </a:r>
            <a:r>
              <a:rPr sz="3001" kern="0" spc="51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(40%)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ts val="4111"/>
              </a:lnSpc>
              <a:tabLst>
                <a:tab pos="1303237" algn="l"/>
              </a:tabLst>
            </a:pPr>
            <a:r>
              <a:rPr lang="en-US"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biweekly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problem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sets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87995" indent="-222922" eaLnBrk="0">
              <a:lnSpc>
                <a:spcPct val="112000"/>
              </a:lnSpc>
              <a:spcBef>
                <a:spcPts val="480"/>
              </a:spcBef>
              <a:tabLst>
                <a:tab pos="1278468" algn="l"/>
              </a:tabLst>
            </a:pPr>
            <a:r>
              <a:rPr lang="en-US"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you can collaborate with other students but must write your own</a:t>
            </a:r>
            <a:r>
              <a:rPr lang="en-US"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</a:p>
          <a:p>
            <a:pPr marL="1287995" indent="-222922" eaLnBrk="0">
              <a:lnSpc>
                <a:spcPct val="112000"/>
              </a:lnSpc>
              <a:spcBef>
                <a:spcPts val="480"/>
              </a:spcBef>
              <a:tabLst>
                <a:tab pos="1278468" algn="l"/>
              </a:tabLst>
            </a:pPr>
            <a:r>
              <a:rPr lang="en-US"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answer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tabLst>
                <a:tab pos="1282279" algn="l"/>
              </a:tabLst>
            </a:pPr>
            <a:r>
              <a:rPr lang="en-US"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submit</a:t>
            </a:r>
            <a:r>
              <a:rPr sz="2700" kern="0" spc="2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throu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gh</a:t>
            </a:r>
            <a:r>
              <a:rPr sz="2700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Rain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Classroom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9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0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0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5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Final</a:t>
            </a:r>
            <a:r>
              <a:rPr sz="3001" kern="0" spc="51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exam</a:t>
            </a:r>
            <a:r>
              <a:rPr sz="3001" kern="0" spc="510" dirty="0">
                <a:solidFill>
                  <a:srgbClr val="BD1A1A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(60%)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08" name="picture 4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9" y="7161488"/>
            <a:ext cx="195825" cy="195825"/>
          </a:xfrm>
          <a:prstGeom prst="rect">
            <a:avLst/>
          </a:prstGeom>
        </p:spPr>
      </p:pic>
      <p:pic>
        <p:nvPicPr>
          <p:cNvPr id="410" name="picture 4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4" y="5031996"/>
            <a:ext cx="157779" cy="157779"/>
          </a:xfrm>
          <a:prstGeom prst="rect">
            <a:avLst/>
          </a:prstGeom>
        </p:spPr>
      </p:pic>
      <p:pic>
        <p:nvPicPr>
          <p:cNvPr id="412" name="picture 4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184" y="4139903"/>
            <a:ext cx="157779" cy="157779"/>
          </a:xfrm>
          <a:prstGeom prst="rect">
            <a:avLst/>
          </a:prstGeom>
        </p:spPr>
      </p:pic>
      <p:pic>
        <p:nvPicPr>
          <p:cNvPr id="414" name="picture 4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4184" y="3665296"/>
            <a:ext cx="157779" cy="157779"/>
          </a:xfrm>
          <a:prstGeom prst="rect">
            <a:avLst/>
          </a:prstGeom>
        </p:spPr>
      </p:pic>
      <p:pic>
        <p:nvPicPr>
          <p:cNvPr id="416" name="picture 4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723" y="3095794"/>
            <a:ext cx="195825" cy="195825"/>
          </a:xfrm>
          <a:prstGeom prst="rect">
            <a:avLst/>
          </a:prstGeom>
        </p:spPr>
      </p:pic>
      <p:sp>
        <p:nvSpPr>
          <p:cNvPr id="418" name="textbox 418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0105" eaLnBrk="0">
              <a:lnSpc>
                <a:spcPct val="93000"/>
              </a:lnSpc>
            </a:pP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9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requirements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0" name="textbox 420"/>
          <p:cNvSpPr/>
          <p:nvPr/>
        </p:nvSpPr>
        <p:spPr>
          <a:xfrm>
            <a:off x="12882548" y="10025256"/>
            <a:ext cx="741158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box 422"/>
          <p:cNvSpPr/>
          <p:nvPr/>
        </p:nvSpPr>
        <p:spPr>
          <a:xfrm>
            <a:off x="806617" y="3584082"/>
            <a:ext cx="8289924" cy="457841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5000"/>
              </a:lnSpc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Course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</a:t>
            </a:r>
            <a:r>
              <a:rPr lang="en-US"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fs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530"/>
              </a:spcBef>
              <a:tabLst>
                <a:tab pos="130704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Instructor:</a:t>
            </a:r>
            <a:r>
              <a:rPr sz="2700" kern="0" spc="6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uestions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about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materials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28608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TA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questions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about</a:t>
            </a:r>
            <a:r>
              <a:rPr sz="2700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assignments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9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9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5000"/>
              </a:lnSpc>
              <a:spcBef>
                <a:spcPts val="915"/>
              </a:spcBef>
              <a:tabLst>
                <a:tab pos="468708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Check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Rain</a:t>
            </a:r>
            <a:r>
              <a:rPr sz="3001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Classroom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530"/>
              </a:spcBef>
              <a:tabLst>
                <a:tab pos="128227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slides,</a:t>
            </a:r>
            <a:r>
              <a:rPr sz="2700" kern="0" spc="5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286089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assig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nments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303237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reading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erials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24" name="picture 4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184" y="7863653"/>
            <a:ext cx="157779" cy="157779"/>
          </a:xfrm>
          <a:prstGeom prst="rect">
            <a:avLst/>
          </a:prstGeom>
        </p:spPr>
      </p:pic>
      <p:pic>
        <p:nvPicPr>
          <p:cNvPr id="426" name="picture 4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4184" y="7408099"/>
            <a:ext cx="157779" cy="157779"/>
          </a:xfrm>
          <a:prstGeom prst="rect">
            <a:avLst/>
          </a:prstGeom>
        </p:spPr>
      </p:pic>
      <p:pic>
        <p:nvPicPr>
          <p:cNvPr id="428" name="picture 4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184" y="6952539"/>
            <a:ext cx="157779" cy="157779"/>
          </a:xfrm>
          <a:prstGeom prst="rect">
            <a:avLst/>
          </a:prstGeom>
        </p:spPr>
      </p:pic>
      <p:pic>
        <p:nvPicPr>
          <p:cNvPr id="430" name="picture 4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6382989"/>
            <a:ext cx="195825" cy="195825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4184" y="4736907"/>
            <a:ext cx="157779" cy="157779"/>
          </a:xfrm>
          <a:prstGeom prst="rect">
            <a:avLst/>
          </a:prstGeom>
        </p:spPr>
      </p:pic>
      <p:pic>
        <p:nvPicPr>
          <p:cNvPr id="434" name="picture 4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4184" y="4281350"/>
            <a:ext cx="157779" cy="157779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4723" y="3711812"/>
            <a:ext cx="195825" cy="195825"/>
          </a:xfrm>
          <a:prstGeom prst="rect">
            <a:avLst/>
          </a:prstGeom>
        </p:spPr>
      </p:pic>
      <p:sp>
        <p:nvSpPr>
          <p:cNvPr id="438" name="textbox 438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2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73442" eaLnBrk="0">
              <a:lnSpc>
                <a:spcPct val="74000"/>
              </a:lnSpc>
              <a:spcBef>
                <a:spcPts val="15"/>
              </a:spcBef>
            </a:pPr>
            <a:r>
              <a:rPr sz="3901" kern="0" spc="-1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Rules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0" name="textbox 440"/>
          <p:cNvSpPr/>
          <p:nvPr/>
        </p:nvSpPr>
        <p:spPr>
          <a:xfrm>
            <a:off x="12882548" y="10025271"/>
            <a:ext cx="741158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box 442"/>
          <p:cNvSpPr/>
          <p:nvPr/>
        </p:nvSpPr>
        <p:spPr>
          <a:xfrm>
            <a:off x="806617" y="2622174"/>
            <a:ext cx="12439649" cy="722162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92000"/>
              </a:lnSpc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Ding,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Peng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(2024)</a:t>
            </a:r>
            <a:r>
              <a:rPr sz="3001" kern="0" spc="7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A</a:t>
            </a:r>
            <a:r>
              <a:rPr sz="3001" i="1" kern="0" spc="54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First</a:t>
            </a:r>
            <a:r>
              <a:rPr sz="3001" i="1" kern="0" spc="54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Course</a:t>
            </a:r>
            <a:r>
              <a:rPr sz="3001" i="1" kern="0" spc="42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in</a:t>
            </a:r>
            <a:r>
              <a:rPr sz="3001" i="1" kern="0" spc="6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spc="-6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Causal</a:t>
            </a:r>
            <a:r>
              <a:rPr sz="3001" i="1" kern="0" spc="3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spc="-6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Inference</a:t>
            </a:r>
            <a:endParaRPr sz="3001" i="1" dirty="0">
              <a:latin typeface="Arial Italic" panose="020B0604020202090204" charset="0"/>
              <a:ea typeface="Arial" panose="020B0604020202090204"/>
              <a:cs typeface="Arial Italic" panose="020B0604020202090204" charset="0"/>
            </a:endParaRPr>
          </a:p>
          <a:p>
            <a:pPr marL="468708" eaLnBrk="0">
              <a:lnSpc>
                <a:spcPct val="92000"/>
              </a:lnSpc>
              <a:spcBef>
                <a:spcPts val="465"/>
              </a:spcBef>
            </a:pP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https://arxiv.org/pdf/2305.18793</a:t>
            </a:r>
            <a:endParaRPr sz="3001" kern="0" spc="-60" dirty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61087" indent="-228638" eaLnBrk="0">
              <a:lnSpc>
                <a:spcPct val="109000"/>
              </a:lnSpc>
              <a:spcBef>
                <a:spcPts val="1530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	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Imbens,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Guido</a:t>
            </a:r>
            <a:r>
              <a:rPr sz="3001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W.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Rubin,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Donald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B.</a:t>
            </a:r>
            <a:r>
              <a:rPr lang="en-US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(2015) 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Causal</a:t>
            </a:r>
            <a:r>
              <a:rPr sz="3001" i="1" kern="0" spc="36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Inference</a:t>
            </a:r>
            <a:r>
              <a:rPr sz="3001" i="1" kern="0" spc="42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in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Statistics</a:t>
            </a:r>
            <a:r>
              <a:rPr sz="3001" i="1" kern="0" spc="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,</a:t>
            </a:r>
            <a:r>
              <a:rPr sz="3001" i="1" kern="0" spc="54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Social</a:t>
            </a:r>
            <a:r>
              <a:rPr sz="3001" i="1" kern="0" spc="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,</a:t>
            </a:r>
            <a:r>
              <a:rPr sz="3001" i="1" kern="0" spc="48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and</a:t>
            </a:r>
            <a:r>
              <a:rPr sz="3001" i="1" kern="0" spc="3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Biomedical</a:t>
            </a:r>
            <a:r>
              <a:rPr sz="3001" i="1" kern="0" spc="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Sciences</a:t>
            </a:r>
            <a:r>
              <a:rPr sz="3001" i="1" kern="0" spc="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: 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An</a:t>
            </a:r>
            <a:r>
              <a:rPr sz="3001" i="1" kern="0" spc="57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Introduction</a:t>
            </a:r>
            <a:r>
              <a:rPr sz="3001" i="1" kern="0" spc="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.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68708" eaLnBrk="0">
              <a:lnSpc>
                <a:spcPct val="92000"/>
              </a:lnSpc>
              <a:spcBef>
                <a:spcPts val="465"/>
              </a:spcBef>
            </a:pP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Cambridge</a:t>
            </a:r>
            <a:r>
              <a:rPr sz="3001" kern="0" spc="7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University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Press.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78235" indent="-245786" eaLnBrk="0">
              <a:lnSpc>
                <a:spcPct val="107000"/>
              </a:lnSpc>
              <a:spcBef>
                <a:spcPts val="1440"/>
              </a:spcBef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lang="en-US" altLang="zh-CN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Hern</a:t>
            </a:r>
            <a:r>
              <a:rPr lang="en-US" altLang="zh-CN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á</a:t>
            </a:r>
            <a:r>
              <a:rPr lang="en-US" altLang="zh-CN"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n, Miguel and Robins, James.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(2020) 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Causal</a:t>
            </a:r>
            <a:r>
              <a:rPr sz="3001" i="1" kern="0" spc="3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Inference</a:t>
            </a:r>
            <a:r>
              <a:rPr sz="3001" i="1" kern="0" spc="-6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:  What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 If</a:t>
            </a:r>
            <a:r>
              <a:rPr sz="3001" i="1" kern="0" spc="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.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Boca</a:t>
            </a:r>
            <a:r>
              <a:rPr lang="en-US"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Raton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lang="en-US"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Chapman</a:t>
            </a:r>
            <a:r>
              <a:rPr lang="en-US"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lang="en-US"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Hall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CRC</a:t>
            </a:r>
            <a:r>
              <a:rPr sz="3001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8000"/>
              </a:lnSpc>
            </a:pP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78235" indent="-245786" eaLnBrk="0">
              <a:lnSpc>
                <a:spcPct val="109000"/>
              </a:lnSpc>
              <a:spcBef>
                <a:spcPts val="15"/>
              </a:spcBef>
              <a:tabLst>
                <a:tab pos="45156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Angrist,</a:t>
            </a:r>
            <a:r>
              <a:rPr sz="3001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Joshua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D.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3001" kern="0" spc="5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Pischke,</a:t>
            </a:r>
            <a:r>
              <a:rPr sz="3001" kern="0" spc="3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</a:t>
            </a:r>
            <a:r>
              <a:rPr sz="2100" b="1" kern="0" dirty="0">
                <a:solidFill>
                  <a:srgbClr val="000000">
                    <a:alpha val="100000"/>
                  </a:srgbClr>
                </a:solidFill>
                <a:latin typeface="Arial Bold" panose="020B0604020202090204" charset="0"/>
                <a:ea typeface="Arial" panose="020B0604020202090204"/>
                <a:cs typeface="Arial Bold" panose="020B0604020202090204" charset="0"/>
              </a:rPr>
              <a:t>Ö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rn-Ste</a:t>
            </a:r>
            <a:r>
              <a:rPr lang="en-US"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ff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en. (201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5)  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Mostly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       Harmless</a:t>
            </a:r>
            <a:r>
              <a:rPr sz="3001" i="1" kern="0" spc="3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Econometrics:</a:t>
            </a:r>
            <a:r>
              <a:rPr sz="3001" i="1" kern="0" spc="69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An</a:t>
            </a:r>
            <a:r>
              <a:rPr sz="3001" i="1" kern="0" spc="57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Empiricist’s</a:t>
            </a:r>
            <a:r>
              <a:rPr sz="3001" i="1" kern="0" spc="51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 </a:t>
            </a:r>
            <a:r>
              <a:rPr sz="3001" i="1" kern="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Compa</a:t>
            </a:r>
            <a:r>
              <a:rPr sz="3001" i="1" kern="0" spc="-30" dirty="0">
                <a:solidFill>
                  <a:srgbClr val="000000">
                    <a:alpha val="100000"/>
                  </a:srgbClr>
                </a:solidFill>
                <a:latin typeface="Arial Italic" panose="020B0604020202090204" charset="0"/>
                <a:ea typeface="Arial" panose="020B0604020202090204"/>
                <a:cs typeface="Arial Italic" panose="020B0604020202090204" charset="0"/>
              </a:rPr>
              <a:t>nion. </a:t>
            </a:r>
            <a:r>
              <a:rPr sz="3001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Princeton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University</a:t>
            </a:r>
            <a:r>
              <a:rPr sz="3001" kern="0" spc="6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Press.</a:t>
            </a:r>
            <a:endParaRPr lang="en-US" sz="3001" kern="0" spc="-60" dirty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78235" indent="-245786" eaLnBrk="0">
              <a:lnSpc>
                <a:spcPct val="109000"/>
              </a:lnSpc>
              <a:spcBef>
                <a:spcPts val="15"/>
              </a:spcBef>
              <a:tabLst>
                <a:tab pos="451560" algn="l"/>
              </a:tabLst>
            </a:pPr>
            <a:r>
              <a:rPr lang="zh-CN" altLang="en-US" sz="32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lang="en-US" sz="32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Cunningham, Scott. (2026) </a:t>
            </a:r>
            <a:r>
              <a:rPr lang="en-US" sz="3200" i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Causal Inference: The Mixtape.</a:t>
            </a:r>
            <a:r>
              <a:rPr lang="en-US" sz="32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sz="32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Yale</a:t>
            </a:r>
            <a:r>
              <a:rPr lang="en-US" sz="32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</a:t>
            </a:r>
            <a:r>
              <a:rPr lang="en-US" sz="32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University</a:t>
            </a:r>
            <a:r>
              <a:rPr lang="en-US" sz="3200" kern="0" spc="417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sz="32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Press.</a:t>
            </a:r>
          </a:p>
          <a:p>
            <a:pPr marL="478235" indent="-245786" eaLnBrk="0">
              <a:lnSpc>
                <a:spcPct val="109000"/>
              </a:lnSpc>
              <a:spcBef>
                <a:spcPts val="15"/>
              </a:spcBef>
              <a:tabLst>
                <a:tab pos="451560" algn="l"/>
              </a:tabLst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44" name="picture 4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6728159"/>
            <a:ext cx="195825" cy="195825"/>
          </a:xfrm>
          <a:prstGeom prst="rect">
            <a:avLst/>
          </a:prstGeom>
        </p:spPr>
      </p:pic>
      <p:pic>
        <p:nvPicPr>
          <p:cNvPr id="446" name="picture 4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4723" y="5581662"/>
            <a:ext cx="195825" cy="195825"/>
          </a:xfrm>
          <a:prstGeom prst="rect">
            <a:avLst/>
          </a:prstGeom>
        </p:spPr>
      </p:pic>
      <p:pic>
        <p:nvPicPr>
          <p:cNvPr id="448" name="picture 4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4723" y="3918877"/>
            <a:ext cx="195825" cy="195825"/>
          </a:xfrm>
          <a:prstGeom prst="rect">
            <a:avLst/>
          </a:prstGeom>
        </p:spPr>
      </p:pic>
      <p:pic>
        <p:nvPicPr>
          <p:cNvPr id="450" name="picture 4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723" y="2772386"/>
            <a:ext cx="195825" cy="195825"/>
          </a:xfrm>
          <a:prstGeom prst="rect">
            <a:avLst/>
          </a:prstGeom>
        </p:spPr>
      </p:pic>
      <p:sp>
        <p:nvSpPr>
          <p:cNvPr id="452" name="textbox 452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46768" eaLnBrk="0">
              <a:lnSpc>
                <a:spcPct val="93000"/>
              </a:lnSpc>
            </a:pPr>
            <a:r>
              <a:rPr sz="3901" kern="0" spc="-1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Suggested</a:t>
            </a:r>
            <a:r>
              <a:rPr sz="3901" kern="0" spc="6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12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refere</a:t>
            </a:r>
            <a:r>
              <a:rPr sz="3901" kern="0" spc="-1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nces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4" name="textbox 454"/>
          <p:cNvSpPr/>
          <p:nvPr/>
        </p:nvSpPr>
        <p:spPr>
          <a:xfrm>
            <a:off x="12882545" y="10025268"/>
            <a:ext cx="741158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" name="picture 444">
            <a:extLst>
              <a:ext uri="{FF2B5EF4-FFF2-40B4-BE49-F238E27FC236}">
                <a16:creationId xmlns:a16="http://schemas.microsoft.com/office/drawing/2014/main" id="{7F6DF3FA-7DFB-DA2D-4C1C-668C9AB48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8212001"/>
            <a:ext cx="195825" cy="1958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box 456"/>
          <p:cNvSpPr/>
          <p:nvPr/>
        </p:nvSpPr>
        <p:spPr>
          <a:xfrm>
            <a:off x="806615" y="2335815"/>
            <a:ext cx="10898268" cy="616171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5000"/>
              </a:lnSpc>
              <a:tabLst>
                <a:tab pos="459182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Statistical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inference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1560"/>
              </a:spcBef>
              <a:tabLst>
                <a:tab pos="130704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Frequentist</a:t>
            </a:r>
            <a:r>
              <a:rPr sz="2700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perspective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lang="en-US"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repeated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sampling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31085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MLE,</a:t>
            </a:r>
            <a:r>
              <a:rPr lang="en-US"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moment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estimation,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conﬁdence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interval,</a:t>
            </a:r>
            <a:r>
              <a:rPr sz="2700" kern="0" spc="3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testing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297521" algn="l"/>
              </a:tabLst>
            </a:pPr>
            <a:r>
              <a:rPr sz="2700" kern="0" dirty="0">
                <a:solidFill>
                  <a:srgbClr val="F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30" dirty="0">
                <a:solidFill>
                  <a:srgbClr val="F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Conditional</a:t>
            </a:r>
            <a:r>
              <a:rPr sz="2700" kern="0" spc="540" dirty="0">
                <a:solidFill>
                  <a:srgbClr val="F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30" dirty="0">
                <a:solidFill>
                  <a:srgbClr val="F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expectation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65072" eaLnBrk="0">
              <a:lnSpc>
                <a:spcPct val="93000"/>
              </a:lnSpc>
              <a:spcBef>
                <a:spcPts val="570"/>
              </a:spcBef>
              <a:tabLst>
                <a:tab pos="1307048" algn="l"/>
              </a:tabLst>
            </a:pPr>
            <a:r>
              <a:rPr sz="27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Unbiasedness,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consistency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2700" kern="0" spc="4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basic</a:t>
            </a:r>
            <a:r>
              <a:rPr sz="2700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LLN</a:t>
            </a:r>
            <a:r>
              <a:rPr sz="2700" kern="0" spc="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</a:t>
            </a:r>
            <a:r>
              <a:rPr sz="2700" kern="0" spc="4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CLT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2449" eaLnBrk="0">
              <a:lnSpc>
                <a:spcPct val="74000"/>
              </a:lnSpc>
              <a:spcBef>
                <a:spcPts val="915"/>
              </a:spcBef>
              <a:tabLst>
                <a:tab pos="480140" algn="l"/>
              </a:tabLst>
            </a:pPr>
            <a:r>
              <a:rPr sz="3001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Linear</a:t>
            </a:r>
            <a:r>
              <a:rPr sz="3001" kern="0" spc="5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model</a:t>
            </a: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30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723" y="8206821"/>
            <a:ext cx="195825" cy="195825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4723" y="5845514"/>
            <a:ext cx="195825" cy="195825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184" y="4404363"/>
            <a:ext cx="157779" cy="157779"/>
          </a:xfrm>
          <a:prstGeom prst="rect">
            <a:avLst/>
          </a:prstGeom>
        </p:spPr>
      </p:pic>
      <p:pic>
        <p:nvPicPr>
          <p:cNvPr id="464" name="picture 4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4184" y="3948806"/>
            <a:ext cx="157779" cy="157779"/>
          </a:xfrm>
          <a:prstGeom prst="rect">
            <a:avLst/>
          </a:prstGeom>
        </p:spPr>
      </p:pic>
      <p:pic>
        <p:nvPicPr>
          <p:cNvPr id="466" name="picture 4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4184" y="3493250"/>
            <a:ext cx="157779" cy="157779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4184" y="3037693"/>
            <a:ext cx="157779" cy="157779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4723" y="2468155"/>
            <a:ext cx="195825" cy="195825"/>
          </a:xfrm>
          <a:prstGeom prst="rect">
            <a:avLst/>
          </a:prstGeom>
        </p:spPr>
      </p:pic>
      <p:sp>
        <p:nvSpPr>
          <p:cNvPr id="472" name="textbox 472"/>
          <p:cNvSpPr/>
          <p:nvPr/>
        </p:nvSpPr>
        <p:spPr>
          <a:xfrm>
            <a:off x="1326" y="-1"/>
            <a:ext cx="13826702" cy="105172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73442" eaLnBrk="0">
              <a:lnSpc>
                <a:spcPct val="93000"/>
              </a:lnSpc>
            </a:pPr>
            <a:r>
              <a:rPr sz="3901" kern="0" spc="-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Brief</a:t>
            </a:r>
            <a:r>
              <a:rPr sz="3901" kern="0" spc="48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3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revi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ew</a:t>
            </a:r>
            <a:r>
              <a:rPr sz="3901" kern="0" spc="45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of</a:t>
            </a:r>
            <a:r>
              <a:rPr sz="3901" kern="0" spc="48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901" kern="0" spc="-6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pre-requisites</a:t>
            </a:r>
            <a:endParaRPr sz="3901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74" name="textbox 474"/>
          <p:cNvSpPr/>
          <p:nvPr/>
        </p:nvSpPr>
        <p:spPr>
          <a:xfrm>
            <a:off x="12882545" y="10025277"/>
            <a:ext cx="741158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0562" y="6687574"/>
            <a:ext cx="9044420" cy="6115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07265" y="8023184"/>
            <a:ext cx="4608901" cy="43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449" eaLnBrk="0">
              <a:lnSpc>
                <a:spcPct val="74000"/>
              </a:lnSpc>
              <a:spcBef>
                <a:spcPts val="915"/>
              </a:spcBef>
              <a:tabLst>
                <a:tab pos="480140" algn="l"/>
              </a:tabLst>
            </a:pPr>
            <a:r>
              <a:rPr sz="300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More details later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box 478"/>
          <p:cNvSpPr/>
          <p:nvPr/>
        </p:nvSpPr>
        <p:spPr>
          <a:xfrm>
            <a:off x="12882542" y="10025265"/>
            <a:ext cx="741158" cy="3067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6" eaLnBrk="0">
              <a:lnSpc>
                <a:spcPts val="1815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r>
              <a:rPr lang="en-US"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 15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" y="2276823"/>
            <a:ext cx="13822891" cy="58149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"/>
  <p:tag name="PROBLEMHASREMARK" val="False"/>
  <p:tag name="RAINPROBLEMTYPE" val="MultipleChoice"/>
  <p:tag name="RAINPROBLEM" val="MultipleChoice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</TotalTime>
  <Words>1481</Words>
  <Application>Microsoft Macintosh PowerPoint</Application>
  <PresentationFormat>Custom</PresentationFormat>
  <Paragraphs>458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 Bold</vt:lpstr>
      <vt:lpstr>Arial Italic</vt:lpstr>
      <vt:lpstr>Microsoft Yahei</vt:lpstr>
      <vt:lpstr>PingFang SC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Zhichao Jiang</cp:lastModifiedBy>
  <cp:revision>10</cp:revision>
  <dcterms:created xsi:type="dcterms:W3CDTF">2026-02-16T18:00:58Z</dcterms:created>
  <dcterms:modified xsi:type="dcterms:W3CDTF">2026-02-26T05:39:51Z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2026-02-17T11:57:32Z</vt:filetime>
  </property>
  <property fmtid="{D5CDD505-2E9C-101B-9397-08002B2CF9AE}" pid="4" name="KSOProductBuildVer">
    <vt:lpwstr>2052-12.1.25201.25201</vt:lpwstr>
  </property>
  <property fmtid="{D5CDD505-2E9C-101B-9397-08002B2CF9AE}" pid="5" name="ICV">
    <vt:lpwstr>2C1DF770F949D63B04B69269203FF227_42</vt:lpwstr>
  </property>
</Properties>
</file>